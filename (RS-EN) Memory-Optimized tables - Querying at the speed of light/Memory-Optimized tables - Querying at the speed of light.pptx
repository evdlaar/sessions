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9"/>
  </p:notesMasterIdLst>
  <p:sldIdLst>
    <p:sldId id="256" r:id="rId2"/>
    <p:sldId id="268" r:id="rId3"/>
    <p:sldId id="257" r:id="rId4"/>
    <p:sldId id="260" r:id="rId5"/>
    <p:sldId id="262" r:id="rId6"/>
    <p:sldId id="273" r:id="rId7"/>
    <p:sldId id="274" r:id="rId8"/>
    <p:sldId id="275" r:id="rId9"/>
    <p:sldId id="276" r:id="rId10"/>
    <p:sldId id="277" r:id="rId11"/>
    <p:sldId id="278" r:id="rId12"/>
    <p:sldId id="279" r:id="rId13"/>
    <p:sldId id="281" r:id="rId14"/>
    <p:sldId id="280" r:id="rId15"/>
    <p:sldId id="282" r:id="rId16"/>
    <p:sldId id="283" r:id="rId17"/>
    <p:sldId id="284" r:id="rId18"/>
    <p:sldId id="285" r:id="rId19"/>
    <p:sldId id="286" r:id="rId20"/>
    <p:sldId id="287" r:id="rId21"/>
    <p:sldId id="288" r:id="rId22"/>
    <p:sldId id="289" r:id="rId23"/>
    <p:sldId id="290" r:id="rId24"/>
    <p:sldId id="291" r:id="rId25"/>
    <p:sldId id="292" r:id="rId26"/>
    <p:sldId id="293" r:id="rId27"/>
    <p:sldId id="272" r:id="rId2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84764" autoAdjust="0"/>
  </p:normalViewPr>
  <p:slideViewPr>
    <p:cSldViewPr snapToGrid="0" snapToObjects="1">
      <p:cViewPr varScale="1">
        <p:scale>
          <a:sx n="73" d="100"/>
          <a:sy n="73" d="100"/>
        </p:scale>
        <p:origin x="91" y="48"/>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0305E6E-EFAD-40B8-B5CF-FE77AB0CD039}" type="datetimeFigureOut">
              <a:rPr lang="en-US" smtClean="0"/>
              <a:t>05/28/2015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07B17F9-3E82-4D06-BF03-62817CE2635F}" type="slidenum">
              <a:rPr lang="en-US" smtClean="0"/>
              <a:t>‹#›</a:t>
            </a:fld>
            <a:endParaRPr lang="en-US"/>
          </a:p>
        </p:txBody>
      </p:sp>
    </p:spTree>
    <p:extLst>
      <p:ext uri="{BB962C8B-B14F-4D97-AF65-F5344CB8AC3E}">
        <p14:creationId xmlns:p14="http://schemas.microsoft.com/office/powerpoint/2010/main" val="41940714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07B17F9-3E82-4D06-BF03-62817CE2635F}" type="slidenum">
              <a:rPr lang="en-US" smtClean="0"/>
              <a:t>2</a:t>
            </a:fld>
            <a:endParaRPr lang="en-US" dirty="0"/>
          </a:p>
        </p:txBody>
      </p:sp>
    </p:spTree>
    <p:extLst>
      <p:ext uri="{BB962C8B-B14F-4D97-AF65-F5344CB8AC3E}">
        <p14:creationId xmlns:p14="http://schemas.microsoft.com/office/powerpoint/2010/main" val="18582181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nl-NL" dirty="0" err="1" smtClean="0"/>
              <a:t>Hekaton</a:t>
            </a:r>
            <a:r>
              <a:rPr lang="nl-NL" dirty="0" smtClean="0"/>
              <a:t> is </a:t>
            </a:r>
            <a:r>
              <a:rPr lang="nl-NL" dirty="0" err="1" smtClean="0"/>
              <a:t>greek</a:t>
            </a:r>
            <a:r>
              <a:rPr lang="nl-NL" dirty="0" smtClean="0"/>
              <a:t> </a:t>
            </a:r>
            <a:r>
              <a:rPr lang="nl-NL" dirty="0" err="1" smtClean="0"/>
              <a:t>for</a:t>
            </a:r>
            <a:r>
              <a:rPr lang="nl-NL" dirty="0" smtClean="0"/>
              <a:t> 100 -&gt; performance</a:t>
            </a:r>
            <a:r>
              <a:rPr lang="nl-NL" baseline="0" dirty="0" smtClean="0"/>
              <a:t> </a:t>
            </a:r>
            <a:r>
              <a:rPr lang="nl-NL" baseline="0" dirty="0" err="1" smtClean="0"/>
              <a:t>improvement</a:t>
            </a:r>
            <a:r>
              <a:rPr lang="nl-NL" baseline="0" dirty="0" smtClean="0"/>
              <a:t> Microsoft wants </a:t>
            </a:r>
            <a:r>
              <a:rPr lang="nl-NL" baseline="0" dirty="0" err="1" smtClean="0"/>
              <a:t>from</a:t>
            </a:r>
            <a:r>
              <a:rPr lang="nl-NL" baseline="0" dirty="0" smtClean="0"/>
              <a:t> </a:t>
            </a:r>
            <a:r>
              <a:rPr lang="nl-NL" baseline="0" dirty="0" err="1" smtClean="0"/>
              <a:t>it</a:t>
            </a:r>
            <a:endParaRPr lang="en-US" dirty="0" smtClean="0"/>
          </a:p>
          <a:p>
            <a:endParaRPr lang="en-US" dirty="0"/>
          </a:p>
        </p:txBody>
      </p:sp>
      <p:sp>
        <p:nvSpPr>
          <p:cNvPr id="4" name="Slide Number Placeholder 3"/>
          <p:cNvSpPr>
            <a:spLocks noGrp="1"/>
          </p:cNvSpPr>
          <p:nvPr>
            <p:ph type="sldNum" sz="quarter" idx="10"/>
          </p:nvPr>
        </p:nvSpPr>
        <p:spPr/>
        <p:txBody>
          <a:bodyPr/>
          <a:lstStyle/>
          <a:p>
            <a:fld id="{307B17F9-3E82-4D06-BF03-62817CE2635F}" type="slidenum">
              <a:rPr lang="en-US" smtClean="0"/>
              <a:t>5</a:t>
            </a:fld>
            <a:endParaRPr lang="en-US"/>
          </a:p>
        </p:txBody>
      </p:sp>
    </p:spTree>
    <p:extLst>
      <p:ext uri="{BB962C8B-B14F-4D97-AF65-F5344CB8AC3E}">
        <p14:creationId xmlns:p14="http://schemas.microsoft.com/office/powerpoint/2010/main" val="9298942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nl-NL" dirty="0" smtClean="0"/>
              <a:t>The memory </a:t>
            </a:r>
            <a:r>
              <a:rPr lang="nl-NL" dirty="0" err="1" smtClean="0"/>
              <a:t>used</a:t>
            </a:r>
            <a:r>
              <a:rPr lang="nl-NL" dirty="0" smtClean="0"/>
              <a:t> </a:t>
            </a:r>
            <a:r>
              <a:rPr lang="nl-NL" dirty="0" err="1" smtClean="0"/>
              <a:t>for</a:t>
            </a:r>
            <a:r>
              <a:rPr lang="nl-NL" dirty="0" smtClean="0"/>
              <a:t> In-Memory</a:t>
            </a:r>
            <a:r>
              <a:rPr lang="nl-NL" baseline="0" dirty="0" smtClean="0"/>
              <a:t> </a:t>
            </a:r>
            <a:r>
              <a:rPr lang="nl-NL" baseline="0" dirty="0" err="1" smtClean="0"/>
              <a:t>tables</a:t>
            </a:r>
            <a:r>
              <a:rPr lang="nl-NL" baseline="0" dirty="0" smtClean="0"/>
              <a:t> </a:t>
            </a:r>
            <a:r>
              <a:rPr lang="nl-NL" baseline="0" dirty="0" err="1" smtClean="0"/>
              <a:t>cannot</a:t>
            </a:r>
            <a:r>
              <a:rPr lang="nl-NL" baseline="0" dirty="0" smtClean="0"/>
              <a:t> </a:t>
            </a:r>
            <a:r>
              <a:rPr lang="nl-NL" baseline="0" dirty="0" err="1" smtClean="0"/>
              <a:t>be</a:t>
            </a:r>
            <a:r>
              <a:rPr lang="nl-NL" baseline="0" dirty="0" smtClean="0"/>
              <a:t> </a:t>
            </a:r>
            <a:r>
              <a:rPr lang="nl-NL" baseline="0" dirty="0" err="1" smtClean="0"/>
              <a:t>swapped</a:t>
            </a:r>
            <a:r>
              <a:rPr lang="nl-NL" baseline="0" dirty="0" smtClean="0"/>
              <a:t> out</a:t>
            </a:r>
            <a:br>
              <a:rPr lang="nl-NL" baseline="0" dirty="0" smtClean="0"/>
            </a:br>
            <a:r>
              <a:rPr lang="nl-NL" baseline="0" dirty="0" err="1" smtClean="0"/>
              <a:t>When</a:t>
            </a:r>
            <a:r>
              <a:rPr lang="nl-NL" baseline="0" dirty="0" smtClean="0"/>
              <a:t> </a:t>
            </a:r>
            <a:r>
              <a:rPr lang="nl-NL" baseline="0" dirty="0" err="1" smtClean="0"/>
              <a:t>dealing</a:t>
            </a:r>
            <a:r>
              <a:rPr lang="nl-NL" baseline="0" dirty="0" smtClean="0"/>
              <a:t> </a:t>
            </a:r>
            <a:r>
              <a:rPr lang="nl-NL" baseline="0" dirty="0" err="1" smtClean="0"/>
              <a:t>with</a:t>
            </a:r>
            <a:r>
              <a:rPr lang="nl-NL" baseline="0" dirty="0" smtClean="0"/>
              <a:t> memory </a:t>
            </a:r>
            <a:r>
              <a:rPr lang="nl-NL" baseline="0" dirty="0" err="1" smtClean="0"/>
              <a:t>pressure</a:t>
            </a:r>
            <a:r>
              <a:rPr lang="nl-NL" baseline="0" dirty="0" smtClean="0"/>
              <a:t> </a:t>
            </a:r>
            <a:r>
              <a:rPr lang="nl-NL" baseline="0" dirty="0" err="1" smtClean="0"/>
              <a:t>problems</a:t>
            </a:r>
            <a:r>
              <a:rPr lang="nl-NL" baseline="0" dirty="0" smtClean="0"/>
              <a:t> </a:t>
            </a:r>
            <a:r>
              <a:rPr lang="nl-NL" baseline="0" dirty="0" err="1" smtClean="0"/>
              <a:t>can</a:t>
            </a:r>
            <a:r>
              <a:rPr lang="nl-NL" baseline="0" dirty="0" smtClean="0"/>
              <a:t> </a:t>
            </a:r>
            <a:r>
              <a:rPr lang="nl-NL" baseline="0" dirty="0" err="1" smtClean="0"/>
              <a:t>occur</a:t>
            </a:r>
            <a:r>
              <a:rPr lang="nl-NL" baseline="0" dirty="0" smtClean="0"/>
              <a:t>!</a:t>
            </a:r>
            <a:br>
              <a:rPr lang="nl-NL" baseline="0" dirty="0" smtClean="0"/>
            </a:br>
            <a:r>
              <a:rPr lang="nl-NL" baseline="0" dirty="0" smtClean="0"/>
              <a:t>In-Memory engine </a:t>
            </a:r>
            <a:r>
              <a:rPr lang="nl-NL" baseline="0" dirty="0" err="1" smtClean="0"/>
              <a:t>can</a:t>
            </a:r>
            <a:r>
              <a:rPr lang="nl-NL" baseline="0" dirty="0" smtClean="0"/>
              <a:t> </a:t>
            </a:r>
            <a:r>
              <a:rPr lang="nl-NL" baseline="0" dirty="0" err="1" smtClean="0"/>
              <a:t>starve</a:t>
            </a:r>
            <a:r>
              <a:rPr lang="nl-NL" baseline="0" dirty="0" smtClean="0"/>
              <a:t> Buffer Cache!</a:t>
            </a:r>
            <a:br>
              <a:rPr lang="nl-NL" baseline="0" dirty="0" smtClean="0"/>
            </a:br>
            <a:r>
              <a:rPr lang="nl-NL" baseline="0" dirty="0" err="1" smtClean="0"/>
              <a:t>Also</a:t>
            </a:r>
            <a:r>
              <a:rPr lang="nl-NL" baseline="0" dirty="0" smtClean="0"/>
              <a:t> no page/</a:t>
            </a:r>
            <a:r>
              <a:rPr lang="nl-NL" baseline="0" dirty="0" err="1" smtClean="0"/>
              <a:t>row</a:t>
            </a:r>
            <a:r>
              <a:rPr lang="nl-NL" baseline="0" dirty="0" smtClean="0"/>
              <a:t> </a:t>
            </a:r>
            <a:r>
              <a:rPr lang="nl-NL" baseline="0" dirty="0" err="1" smtClean="0"/>
              <a:t>compression</a:t>
            </a:r>
            <a:r>
              <a:rPr lang="nl-NL" baseline="0" dirty="0" smtClean="0"/>
              <a:t>!</a:t>
            </a:r>
            <a:endParaRPr lang="en-US" dirty="0" smtClean="0"/>
          </a:p>
          <a:p>
            <a:endParaRPr lang="en-US" dirty="0"/>
          </a:p>
        </p:txBody>
      </p:sp>
      <p:sp>
        <p:nvSpPr>
          <p:cNvPr id="4" name="Slide Number Placeholder 3"/>
          <p:cNvSpPr>
            <a:spLocks noGrp="1"/>
          </p:cNvSpPr>
          <p:nvPr>
            <p:ph type="sldNum" sz="quarter" idx="10"/>
          </p:nvPr>
        </p:nvSpPr>
        <p:spPr/>
        <p:txBody>
          <a:bodyPr/>
          <a:lstStyle/>
          <a:p>
            <a:fld id="{307B17F9-3E82-4D06-BF03-62817CE2635F}" type="slidenum">
              <a:rPr lang="en-US" smtClean="0"/>
              <a:t>6</a:t>
            </a:fld>
            <a:endParaRPr lang="en-US"/>
          </a:p>
        </p:txBody>
      </p:sp>
    </p:spTree>
    <p:extLst>
      <p:ext uri="{BB962C8B-B14F-4D97-AF65-F5344CB8AC3E}">
        <p14:creationId xmlns:p14="http://schemas.microsoft.com/office/powerpoint/2010/main" val="274575020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nl-NL" dirty="0" err="1" smtClean="0"/>
              <a:t>Integrated</a:t>
            </a:r>
            <a:r>
              <a:rPr lang="nl-NL" dirty="0" smtClean="0"/>
              <a:t> in SQL Server 2014, no</a:t>
            </a:r>
            <a:r>
              <a:rPr lang="nl-NL" baseline="0" dirty="0" smtClean="0"/>
              <a:t> feature </a:t>
            </a:r>
            <a:r>
              <a:rPr lang="nl-NL" baseline="0" dirty="0" err="1" smtClean="0"/>
              <a:t>to</a:t>
            </a:r>
            <a:r>
              <a:rPr lang="nl-NL" baseline="0" dirty="0" smtClean="0"/>
              <a:t> </a:t>
            </a:r>
            <a:r>
              <a:rPr lang="nl-NL" baseline="0" dirty="0" err="1" smtClean="0"/>
              <a:t>install</a:t>
            </a:r>
            <a:endParaRPr lang="en-US" dirty="0" smtClean="0"/>
          </a:p>
          <a:p>
            <a:endParaRPr lang="en-US" dirty="0"/>
          </a:p>
        </p:txBody>
      </p:sp>
      <p:sp>
        <p:nvSpPr>
          <p:cNvPr id="4" name="Slide Number Placeholder 3"/>
          <p:cNvSpPr>
            <a:spLocks noGrp="1"/>
          </p:cNvSpPr>
          <p:nvPr>
            <p:ph type="sldNum" sz="quarter" idx="10"/>
          </p:nvPr>
        </p:nvSpPr>
        <p:spPr/>
        <p:txBody>
          <a:bodyPr/>
          <a:lstStyle/>
          <a:p>
            <a:fld id="{307B17F9-3E82-4D06-BF03-62817CE2635F}" type="slidenum">
              <a:rPr lang="en-US" smtClean="0"/>
              <a:t>7</a:t>
            </a:fld>
            <a:endParaRPr lang="en-US"/>
          </a:p>
        </p:txBody>
      </p:sp>
    </p:spTree>
    <p:extLst>
      <p:ext uri="{BB962C8B-B14F-4D97-AF65-F5344CB8AC3E}">
        <p14:creationId xmlns:p14="http://schemas.microsoft.com/office/powerpoint/2010/main" val="880869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NL" dirty="0" err="1" smtClean="0"/>
              <a:t>Main</a:t>
            </a:r>
            <a:r>
              <a:rPr lang="nl-NL" dirty="0" smtClean="0"/>
              <a:t> focus of transaction log</a:t>
            </a:r>
            <a:r>
              <a:rPr lang="nl-NL" baseline="0" dirty="0" smtClean="0"/>
              <a:t> changes is </a:t>
            </a:r>
            <a:r>
              <a:rPr lang="nl-NL" baseline="0" dirty="0" err="1" smtClean="0"/>
              <a:t>optimizing</a:t>
            </a:r>
            <a:r>
              <a:rPr lang="nl-NL" baseline="0" dirty="0" smtClean="0"/>
              <a:t> </a:t>
            </a:r>
            <a:r>
              <a:rPr lang="nl-NL" baseline="0" dirty="0" err="1" smtClean="0"/>
              <a:t>throughput</a:t>
            </a:r>
            <a:endParaRPr lang="nl-NL" baseline="0" dirty="0" smtClean="0"/>
          </a:p>
          <a:p>
            <a:r>
              <a:rPr lang="en-GB" sz="1200" b="0" i="0" kern="1200" dirty="0" smtClean="0">
                <a:solidFill>
                  <a:schemeClr val="tx1"/>
                </a:solidFill>
                <a:effectLst/>
                <a:latin typeface="+mn-lt"/>
                <a:ea typeface="+mn-ea"/>
                <a:cs typeface="+mn-cs"/>
              </a:rPr>
              <a:t>For example, if the transaction has inserted 1000 rows and 50 rows can fit into a large log record, there will be total of 20 log records generated for memory-optimized tables instead of (at least) 1000</a:t>
            </a:r>
            <a:endParaRPr lang="en-US" dirty="0" smtClean="0"/>
          </a:p>
          <a:p>
            <a:endParaRPr lang="en-US" dirty="0"/>
          </a:p>
        </p:txBody>
      </p:sp>
      <p:sp>
        <p:nvSpPr>
          <p:cNvPr id="4" name="Slide Number Placeholder 3"/>
          <p:cNvSpPr>
            <a:spLocks noGrp="1"/>
          </p:cNvSpPr>
          <p:nvPr>
            <p:ph type="sldNum" sz="quarter" idx="10"/>
          </p:nvPr>
        </p:nvSpPr>
        <p:spPr/>
        <p:txBody>
          <a:bodyPr/>
          <a:lstStyle/>
          <a:p>
            <a:fld id="{307B17F9-3E82-4D06-BF03-62817CE2635F}" type="slidenum">
              <a:rPr lang="en-US" smtClean="0"/>
              <a:t>11</a:t>
            </a:fld>
            <a:endParaRPr lang="en-US"/>
          </a:p>
        </p:txBody>
      </p:sp>
    </p:spTree>
    <p:extLst>
      <p:ext uri="{BB962C8B-B14F-4D97-AF65-F5344CB8AC3E}">
        <p14:creationId xmlns:p14="http://schemas.microsoft.com/office/powerpoint/2010/main" val="293396770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nl-NL" dirty="0" smtClean="0"/>
              <a:t>CFP -&gt; Checkpoint File Pair</a:t>
            </a:r>
            <a:endParaRPr lang="en-US" dirty="0" smtClean="0"/>
          </a:p>
        </p:txBody>
      </p:sp>
      <p:sp>
        <p:nvSpPr>
          <p:cNvPr id="4" name="Slide Number Placeholder 3"/>
          <p:cNvSpPr>
            <a:spLocks noGrp="1"/>
          </p:cNvSpPr>
          <p:nvPr>
            <p:ph type="sldNum" sz="quarter" idx="10"/>
          </p:nvPr>
        </p:nvSpPr>
        <p:spPr/>
        <p:txBody>
          <a:bodyPr/>
          <a:lstStyle/>
          <a:p>
            <a:fld id="{307B17F9-3E82-4D06-BF03-62817CE2635F}" type="slidenum">
              <a:rPr lang="en-US" smtClean="0"/>
              <a:t>12</a:t>
            </a:fld>
            <a:endParaRPr lang="en-US"/>
          </a:p>
        </p:txBody>
      </p:sp>
    </p:spTree>
    <p:extLst>
      <p:ext uri="{BB962C8B-B14F-4D97-AF65-F5344CB8AC3E}">
        <p14:creationId xmlns:p14="http://schemas.microsoft.com/office/powerpoint/2010/main" val="32133969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nl-NL" dirty="0" err="1" smtClean="0"/>
              <a:t>Rows</a:t>
            </a:r>
            <a:r>
              <a:rPr lang="nl-NL" baseline="0" dirty="0" smtClean="0"/>
              <a:t> are </a:t>
            </a:r>
            <a:r>
              <a:rPr lang="nl-NL" baseline="0" dirty="0" err="1" smtClean="0"/>
              <a:t>appended</a:t>
            </a:r>
            <a:r>
              <a:rPr lang="nl-NL" baseline="0" dirty="0" smtClean="0"/>
              <a:t> </a:t>
            </a:r>
            <a:r>
              <a:rPr lang="nl-NL" baseline="0" dirty="0" err="1" smtClean="0"/>
              <a:t>to</a:t>
            </a:r>
            <a:r>
              <a:rPr lang="nl-NL" baseline="0" dirty="0" smtClean="0"/>
              <a:t> the Data file in the order of transactions</a:t>
            </a:r>
            <a:endParaRPr lang="en-US" dirty="0" smtClean="0"/>
          </a:p>
        </p:txBody>
      </p:sp>
      <p:sp>
        <p:nvSpPr>
          <p:cNvPr id="4" name="Slide Number Placeholder 3"/>
          <p:cNvSpPr>
            <a:spLocks noGrp="1"/>
          </p:cNvSpPr>
          <p:nvPr>
            <p:ph type="sldNum" sz="quarter" idx="10"/>
          </p:nvPr>
        </p:nvSpPr>
        <p:spPr/>
        <p:txBody>
          <a:bodyPr/>
          <a:lstStyle/>
          <a:p>
            <a:fld id="{307B17F9-3E82-4D06-BF03-62817CE2635F}" type="slidenum">
              <a:rPr lang="en-US" smtClean="0"/>
              <a:t>13</a:t>
            </a:fld>
            <a:endParaRPr lang="en-US"/>
          </a:p>
        </p:txBody>
      </p:sp>
    </p:spTree>
    <p:extLst>
      <p:ext uri="{BB962C8B-B14F-4D97-AF65-F5344CB8AC3E}">
        <p14:creationId xmlns:p14="http://schemas.microsoft.com/office/powerpoint/2010/main" val="204888796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NL" dirty="0" smtClean="0"/>
              <a:t>A new Data/Delta</a:t>
            </a:r>
            <a:r>
              <a:rPr lang="nl-NL" baseline="0" dirty="0" smtClean="0"/>
              <a:t> file </a:t>
            </a:r>
            <a:r>
              <a:rPr lang="nl-NL" baseline="0" dirty="0" err="1" smtClean="0"/>
              <a:t>will</a:t>
            </a:r>
            <a:r>
              <a:rPr lang="nl-NL" baseline="0" dirty="0" smtClean="0"/>
              <a:t> </a:t>
            </a:r>
            <a:r>
              <a:rPr lang="nl-NL" baseline="0" dirty="0" err="1" smtClean="0"/>
              <a:t>also</a:t>
            </a:r>
            <a:r>
              <a:rPr lang="nl-NL" baseline="0" dirty="0" smtClean="0"/>
              <a:t> </a:t>
            </a:r>
            <a:r>
              <a:rPr lang="nl-NL" baseline="0" dirty="0" err="1" smtClean="0"/>
              <a:t>be</a:t>
            </a:r>
            <a:r>
              <a:rPr lang="nl-NL" baseline="0" dirty="0" smtClean="0"/>
              <a:t> </a:t>
            </a:r>
            <a:r>
              <a:rPr lang="nl-NL" baseline="0" dirty="0" err="1" smtClean="0"/>
              <a:t>created</a:t>
            </a:r>
            <a:r>
              <a:rPr lang="nl-NL" baseline="0" dirty="0" smtClean="0"/>
              <a:t> </a:t>
            </a:r>
            <a:r>
              <a:rPr lang="nl-NL" baseline="0" dirty="0" err="1" smtClean="0"/>
              <a:t>after</a:t>
            </a:r>
            <a:r>
              <a:rPr lang="nl-NL" baseline="0" dirty="0" smtClean="0"/>
              <a:t> a CHECKPOINT</a:t>
            </a:r>
            <a:endParaRPr lang="en-US" dirty="0"/>
          </a:p>
        </p:txBody>
      </p:sp>
      <p:sp>
        <p:nvSpPr>
          <p:cNvPr id="4" name="Slide Number Placeholder 3"/>
          <p:cNvSpPr>
            <a:spLocks noGrp="1"/>
          </p:cNvSpPr>
          <p:nvPr>
            <p:ph type="sldNum" sz="quarter" idx="10"/>
          </p:nvPr>
        </p:nvSpPr>
        <p:spPr/>
        <p:txBody>
          <a:bodyPr/>
          <a:lstStyle/>
          <a:p>
            <a:fld id="{307B17F9-3E82-4D06-BF03-62817CE2635F}" type="slidenum">
              <a:rPr lang="en-US" smtClean="0"/>
              <a:t>14</a:t>
            </a:fld>
            <a:endParaRPr lang="en-US"/>
          </a:p>
        </p:txBody>
      </p:sp>
    </p:spTree>
    <p:extLst>
      <p:ext uri="{BB962C8B-B14F-4D97-AF65-F5344CB8AC3E}">
        <p14:creationId xmlns:p14="http://schemas.microsoft.com/office/powerpoint/2010/main" val="10215128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nl-NL" dirty="0" err="1" smtClean="0"/>
              <a:t>Merge</a:t>
            </a:r>
            <a:r>
              <a:rPr lang="nl-NL" dirty="0" smtClean="0"/>
              <a:t> is </a:t>
            </a:r>
            <a:r>
              <a:rPr lang="nl-NL" dirty="0" err="1" smtClean="0"/>
              <a:t>scheduled</a:t>
            </a:r>
            <a:r>
              <a:rPr lang="nl-NL" dirty="0" smtClean="0"/>
              <a:t> </a:t>
            </a:r>
            <a:r>
              <a:rPr lang="nl-NL" dirty="0" err="1" smtClean="0"/>
              <a:t>when</a:t>
            </a:r>
            <a:r>
              <a:rPr lang="nl-NL" dirty="0" smtClean="0"/>
              <a:t> 2 </a:t>
            </a:r>
            <a:r>
              <a:rPr lang="nl-NL" dirty="0" err="1" smtClean="0"/>
              <a:t>CFP’s</a:t>
            </a:r>
            <a:r>
              <a:rPr lang="nl-NL" dirty="0" smtClean="0"/>
              <a:t> </a:t>
            </a:r>
            <a:r>
              <a:rPr lang="nl-NL" dirty="0" err="1" smtClean="0"/>
              <a:t>can</a:t>
            </a:r>
            <a:r>
              <a:rPr lang="nl-NL" dirty="0" smtClean="0"/>
              <a:t> </a:t>
            </a:r>
            <a:r>
              <a:rPr lang="nl-NL" dirty="0" err="1" smtClean="0"/>
              <a:t>be</a:t>
            </a:r>
            <a:r>
              <a:rPr lang="nl-NL" dirty="0" smtClean="0"/>
              <a:t> </a:t>
            </a:r>
            <a:r>
              <a:rPr lang="nl-NL" dirty="0" err="1" smtClean="0"/>
              <a:t>consolidated</a:t>
            </a:r>
            <a:r>
              <a:rPr lang="nl-NL" baseline="0" dirty="0" smtClean="0"/>
              <a:t> </a:t>
            </a:r>
            <a:r>
              <a:rPr lang="nl-NL" baseline="0" dirty="0" err="1" smtClean="0"/>
              <a:t>so</a:t>
            </a:r>
            <a:r>
              <a:rPr lang="nl-NL" baseline="0" dirty="0" smtClean="0"/>
              <a:t> </a:t>
            </a:r>
            <a:r>
              <a:rPr lang="nl-NL" baseline="0" dirty="0" err="1" smtClean="0"/>
              <a:t>that</a:t>
            </a:r>
            <a:r>
              <a:rPr lang="nl-NL" baseline="0" dirty="0" smtClean="0"/>
              <a:t> 1 CFP </a:t>
            </a:r>
            <a:r>
              <a:rPr lang="nl-NL" baseline="0" dirty="0" err="1" smtClean="0"/>
              <a:t>can</a:t>
            </a:r>
            <a:r>
              <a:rPr lang="nl-NL" baseline="0" dirty="0" smtClean="0"/>
              <a:t> </a:t>
            </a:r>
            <a:r>
              <a:rPr lang="nl-NL" baseline="0" dirty="0" err="1" smtClean="0"/>
              <a:t>hold</a:t>
            </a:r>
            <a:r>
              <a:rPr lang="nl-NL" baseline="0" dirty="0" smtClean="0"/>
              <a:t> </a:t>
            </a:r>
            <a:r>
              <a:rPr lang="nl-NL" baseline="0" dirty="0" err="1" smtClean="0"/>
              <a:t>both</a:t>
            </a:r>
            <a:endParaRPr lang="en-US" dirty="0" smtClean="0"/>
          </a:p>
        </p:txBody>
      </p:sp>
      <p:sp>
        <p:nvSpPr>
          <p:cNvPr id="4" name="Slide Number Placeholder 3"/>
          <p:cNvSpPr>
            <a:spLocks noGrp="1"/>
          </p:cNvSpPr>
          <p:nvPr>
            <p:ph type="sldNum" sz="quarter" idx="10"/>
          </p:nvPr>
        </p:nvSpPr>
        <p:spPr/>
        <p:txBody>
          <a:bodyPr/>
          <a:lstStyle/>
          <a:p>
            <a:fld id="{307B17F9-3E82-4D06-BF03-62817CE2635F}" type="slidenum">
              <a:rPr lang="en-US" smtClean="0"/>
              <a:t>16</a:t>
            </a:fld>
            <a:endParaRPr lang="en-US"/>
          </a:p>
        </p:txBody>
      </p:sp>
    </p:spTree>
    <p:extLst>
      <p:ext uri="{BB962C8B-B14F-4D97-AF65-F5344CB8AC3E}">
        <p14:creationId xmlns:p14="http://schemas.microsoft.com/office/powerpoint/2010/main" val="66124849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nl-NL" dirty="0" err="1" smtClean="0"/>
              <a:t>Optimistic</a:t>
            </a:r>
            <a:r>
              <a:rPr lang="nl-NL" dirty="0" smtClean="0"/>
              <a:t> (</a:t>
            </a:r>
            <a:r>
              <a:rPr lang="nl-NL" dirty="0" err="1" smtClean="0"/>
              <a:t>assumes</a:t>
            </a:r>
            <a:r>
              <a:rPr lang="nl-NL" dirty="0" smtClean="0"/>
              <a:t> </a:t>
            </a:r>
            <a:r>
              <a:rPr lang="nl-NL" dirty="0" err="1" smtClean="0"/>
              <a:t>there</a:t>
            </a:r>
            <a:r>
              <a:rPr lang="nl-NL" dirty="0" smtClean="0"/>
              <a:t> are no </a:t>
            </a:r>
            <a:r>
              <a:rPr lang="nl-NL" dirty="0" err="1" smtClean="0"/>
              <a:t>conflicts</a:t>
            </a:r>
            <a:r>
              <a:rPr lang="nl-NL" dirty="0" smtClean="0"/>
              <a:t>)</a:t>
            </a:r>
            <a:r>
              <a:rPr lang="nl-NL" baseline="0" dirty="0" smtClean="0"/>
              <a:t> Snapshot </a:t>
            </a:r>
            <a:r>
              <a:rPr lang="nl-NL" baseline="0" dirty="0" err="1" smtClean="0"/>
              <a:t>Based</a:t>
            </a:r>
            <a:r>
              <a:rPr lang="nl-NL" baseline="0" dirty="0" smtClean="0"/>
              <a:t> </a:t>
            </a:r>
            <a:r>
              <a:rPr lang="nl-NL" baseline="0" dirty="0" err="1" smtClean="0"/>
              <a:t>Isolation</a:t>
            </a:r>
            <a:r>
              <a:rPr lang="nl-NL" baseline="0" dirty="0" smtClean="0"/>
              <a:t> </a:t>
            </a:r>
            <a:br>
              <a:rPr lang="nl-NL" baseline="0" dirty="0" smtClean="0"/>
            </a:br>
            <a:r>
              <a:rPr lang="nl-NL" baseline="0" dirty="0" err="1" smtClean="0"/>
              <a:t>There</a:t>
            </a:r>
            <a:r>
              <a:rPr lang="nl-NL" baseline="0" dirty="0" smtClean="0"/>
              <a:t> is a form of conflict </a:t>
            </a:r>
            <a:r>
              <a:rPr lang="nl-NL" baseline="0" dirty="0" err="1" smtClean="0"/>
              <a:t>detection</a:t>
            </a:r>
            <a:r>
              <a:rPr lang="nl-NL" baseline="0" dirty="0" smtClean="0"/>
              <a:t> </a:t>
            </a:r>
            <a:r>
              <a:rPr lang="nl-NL" baseline="0" dirty="0" err="1" smtClean="0"/>
              <a:t>active</a:t>
            </a:r>
            <a:r>
              <a:rPr lang="nl-NL" baseline="0" dirty="0" smtClean="0"/>
              <a:t>, </a:t>
            </a:r>
            <a:r>
              <a:rPr lang="nl-NL" baseline="0" dirty="0" err="1" smtClean="0"/>
              <a:t>if</a:t>
            </a:r>
            <a:r>
              <a:rPr lang="nl-NL" baseline="0" dirty="0" smtClean="0"/>
              <a:t> a conflict is </a:t>
            </a:r>
            <a:r>
              <a:rPr lang="nl-NL" baseline="0" dirty="0" err="1" smtClean="0"/>
              <a:t>detected</a:t>
            </a:r>
            <a:r>
              <a:rPr lang="nl-NL" baseline="0" dirty="0" smtClean="0"/>
              <a:t> the transaction </a:t>
            </a:r>
            <a:r>
              <a:rPr lang="nl-NL" baseline="0" dirty="0" err="1" smtClean="0"/>
              <a:t>will</a:t>
            </a:r>
            <a:r>
              <a:rPr lang="nl-NL" baseline="0" dirty="0" smtClean="0"/>
              <a:t> </a:t>
            </a:r>
            <a:r>
              <a:rPr lang="nl-NL" baseline="0" dirty="0" err="1" smtClean="0"/>
              <a:t>be</a:t>
            </a:r>
            <a:r>
              <a:rPr lang="nl-NL" baseline="0" dirty="0" smtClean="0"/>
              <a:t> </a:t>
            </a:r>
            <a:r>
              <a:rPr lang="nl-NL" baseline="0" dirty="0" err="1" smtClean="0"/>
              <a:t>terminated</a:t>
            </a:r>
            <a:r>
              <a:rPr lang="nl-NL" baseline="0" dirty="0" smtClean="0"/>
              <a:t> (</a:t>
            </a:r>
            <a:r>
              <a:rPr lang="nl-NL" baseline="0" dirty="0" err="1" smtClean="0"/>
              <a:t>rollback</a:t>
            </a:r>
            <a:r>
              <a:rPr lang="nl-NL" baseline="0" dirty="0" smtClean="0"/>
              <a:t>)</a:t>
            </a:r>
            <a:endParaRPr lang="en-US" dirty="0" smtClean="0"/>
          </a:p>
          <a:p>
            <a:endParaRPr lang="en-US" dirty="0"/>
          </a:p>
        </p:txBody>
      </p:sp>
      <p:sp>
        <p:nvSpPr>
          <p:cNvPr id="4" name="Slide Number Placeholder 3"/>
          <p:cNvSpPr>
            <a:spLocks noGrp="1"/>
          </p:cNvSpPr>
          <p:nvPr>
            <p:ph type="sldNum" sz="quarter" idx="10"/>
          </p:nvPr>
        </p:nvSpPr>
        <p:spPr/>
        <p:txBody>
          <a:bodyPr/>
          <a:lstStyle/>
          <a:p>
            <a:fld id="{307B17F9-3E82-4D06-BF03-62817CE2635F}" type="slidenum">
              <a:rPr lang="en-US" smtClean="0"/>
              <a:t>18</a:t>
            </a:fld>
            <a:endParaRPr lang="en-US"/>
          </a:p>
        </p:txBody>
      </p:sp>
    </p:spTree>
    <p:extLst>
      <p:ext uri="{BB962C8B-B14F-4D97-AF65-F5344CB8AC3E}">
        <p14:creationId xmlns:p14="http://schemas.microsoft.com/office/powerpoint/2010/main" val="308163325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07B17F9-3E82-4D06-BF03-62817CE2635F}" type="slidenum">
              <a:rPr lang="en-US" smtClean="0"/>
              <a:t>21</a:t>
            </a:fld>
            <a:endParaRPr lang="en-US"/>
          </a:p>
        </p:txBody>
      </p:sp>
    </p:spTree>
    <p:extLst>
      <p:ext uri="{BB962C8B-B14F-4D97-AF65-F5344CB8AC3E}">
        <p14:creationId xmlns:p14="http://schemas.microsoft.com/office/powerpoint/2010/main" val="197573988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07B17F9-3E82-4D06-BF03-62817CE2635F}" type="slidenum">
              <a:rPr lang="en-US" smtClean="0"/>
              <a:t>22</a:t>
            </a:fld>
            <a:endParaRPr lang="en-US"/>
          </a:p>
        </p:txBody>
      </p:sp>
    </p:spTree>
    <p:extLst>
      <p:ext uri="{BB962C8B-B14F-4D97-AF65-F5344CB8AC3E}">
        <p14:creationId xmlns:p14="http://schemas.microsoft.com/office/powerpoint/2010/main" val="336334397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07B17F9-3E82-4D06-BF03-62817CE2635F}" type="slidenum">
              <a:rPr lang="en-US" smtClean="0"/>
              <a:t>23</a:t>
            </a:fld>
            <a:endParaRPr lang="en-US"/>
          </a:p>
        </p:txBody>
      </p:sp>
    </p:spTree>
    <p:extLst>
      <p:ext uri="{BB962C8B-B14F-4D97-AF65-F5344CB8AC3E}">
        <p14:creationId xmlns:p14="http://schemas.microsoft.com/office/powerpoint/2010/main" val="422282589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NL" dirty="0" smtClean="0"/>
              <a:t>For </a:t>
            </a:r>
            <a:r>
              <a:rPr lang="nl-NL" dirty="0" err="1" smtClean="0"/>
              <a:t>this</a:t>
            </a:r>
            <a:r>
              <a:rPr lang="nl-NL" dirty="0" smtClean="0"/>
              <a:t> </a:t>
            </a:r>
            <a:r>
              <a:rPr lang="nl-NL" dirty="0" err="1" smtClean="0"/>
              <a:t>example</a:t>
            </a:r>
            <a:r>
              <a:rPr lang="nl-NL" dirty="0" smtClean="0"/>
              <a:t>,</a:t>
            </a:r>
            <a:r>
              <a:rPr lang="nl-NL" baseline="0" dirty="0" smtClean="0"/>
              <a:t> </a:t>
            </a:r>
            <a:r>
              <a:rPr lang="nl-NL" baseline="0" dirty="0" err="1" smtClean="0"/>
              <a:t>to</a:t>
            </a:r>
            <a:r>
              <a:rPr lang="nl-NL" baseline="0" dirty="0" smtClean="0"/>
              <a:t> keep </a:t>
            </a:r>
            <a:r>
              <a:rPr lang="nl-NL" baseline="0" dirty="0" err="1" smtClean="0"/>
              <a:t>things</a:t>
            </a:r>
            <a:r>
              <a:rPr lang="nl-NL" baseline="0" dirty="0" smtClean="0"/>
              <a:t> </a:t>
            </a:r>
            <a:r>
              <a:rPr lang="nl-NL" baseline="0" dirty="0" err="1" smtClean="0"/>
              <a:t>simple</a:t>
            </a:r>
            <a:r>
              <a:rPr lang="nl-NL" baseline="0" dirty="0" smtClean="0"/>
              <a:t>, </a:t>
            </a:r>
            <a:r>
              <a:rPr lang="nl-NL" baseline="0" dirty="0" err="1" smtClean="0"/>
              <a:t>let’s</a:t>
            </a:r>
            <a:r>
              <a:rPr lang="nl-NL" baseline="0" dirty="0" smtClean="0"/>
              <a:t> </a:t>
            </a:r>
            <a:r>
              <a:rPr lang="nl-NL" baseline="0" dirty="0" err="1" smtClean="0"/>
              <a:t>pretend</a:t>
            </a:r>
            <a:r>
              <a:rPr lang="nl-NL" baseline="0" dirty="0" smtClean="0"/>
              <a:t> the </a:t>
            </a:r>
            <a:r>
              <a:rPr lang="nl-NL" baseline="0" dirty="0" err="1" smtClean="0"/>
              <a:t>hash</a:t>
            </a:r>
            <a:r>
              <a:rPr lang="nl-NL" baseline="0" dirty="0" smtClean="0"/>
              <a:t> is the </a:t>
            </a:r>
            <a:r>
              <a:rPr lang="nl-NL" baseline="0" dirty="0" err="1" smtClean="0"/>
              <a:t>lenght</a:t>
            </a:r>
            <a:r>
              <a:rPr lang="nl-NL" baseline="0" dirty="0" smtClean="0"/>
              <a:t> of the name</a:t>
            </a:r>
            <a:br>
              <a:rPr lang="nl-NL" baseline="0" dirty="0" smtClean="0"/>
            </a:br>
            <a:r>
              <a:rPr lang="nl-NL" baseline="0" dirty="0" err="1" smtClean="0"/>
              <a:t>Whenever</a:t>
            </a:r>
            <a:r>
              <a:rPr lang="nl-NL" baseline="0" dirty="0" smtClean="0"/>
              <a:t> a </a:t>
            </a:r>
            <a:r>
              <a:rPr lang="nl-NL" baseline="0" dirty="0" err="1" smtClean="0"/>
              <a:t>two</a:t>
            </a:r>
            <a:r>
              <a:rPr lang="nl-NL" baseline="0" dirty="0" smtClean="0"/>
              <a:t> </a:t>
            </a:r>
            <a:r>
              <a:rPr lang="nl-NL" baseline="0" dirty="0" err="1" smtClean="0"/>
              <a:t>hashes</a:t>
            </a:r>
            <a:r>
              <a:rPr lang="nl-NL" baseline="0" dirty="0" smtClean="0"/>
              <a:t> have the </a:t>
            </a:r>
            <a:r>
              <a:rPr lang="nl-NL" baseline="0" dirty="0" err="1" smtClean="0"/>
              <a:t>same</a:t>
            </a:r>
            <a:r>
              <a:rPr lang="nl-NL" baseline="0" dirty="0" smtClean="0"/>
              <a:t> </a:t>
            </a:r>
            <a:r>
              <a:rPr lang="nl-NL" baseline="0" dirty="0" err="1" smtClean="0"/>
              <a:t>value</a:t>
            </a:r>
            <a:r>
              <a:rPr lang="nl-NL" baseline="0" dirty="0" smtClean="0"/>
              <a:t> a </a:t>
            </a:r>
            <a:r>
              <a:rPr lang="nl-NL" baseline="0" dirty="0" err="1" smtClean="0"/>
              <a:t>Hash</a:t>
            </a:r>
            <a:r>
              <a:rPr lang="nl-NL" baseline="0" dirty="0" smtClean="0"/>
              <a:t> </a:t>
            </a:r>
            <a:r>
              <a:rPr lang="nl-NL" baseline="0" dirty="0" err="1" smtClean="0"/>
              <a:t>Collision</a:t>
            </a:r>
            <a:r>
              <a:rPr lang="nl-NL" baseline="0" dirty="0" smtClean="0"/>
              <a:t> </a:t>
            </a:r>
            <a:r>
              <a:rPr lang="nl-NL" baseline="0" dirty="0" err="1" smtClean="0"/>
              <a:t>occurs</a:t>
            </a:r>
            <a:r>
              <a:rPr lang="nl-NL" baseline="0" dirty="0" smtClean="0"/>
              <a:t>. </a:t>
            </a:r>
            <a:r>
              <a:rPr lang="nl-NL" baseline="0" dirty="0" err="1" smtClean="0"/>
              <a:t>When</a:t>
            </a:r>
            <a:r>
              <a:rPr lang="nl-NL" baseline="0" dirty="0" smtClean="0"/>
              <a:t> </a:t>
            </a:r>
            <a:r>
              <a:rPr lang="nl-NL" baseline="0" dirty="0" err="1" smtClean="0"/>
              <a:t>this</a:t>
            </a:r>
            <a:r>
              <a:rPr lang="nl-NL" baseline="0" dirty="0" smtClean="0"/>
              <a:t> </a:t>
            </a:r>
            <a:r>
              <a:rPr lang="nl-NL" baseline="0" dirty="0" err="1" smtClean="0"/>
              <a:t>occurs</a:t>
            </a:r>
            <a:r>
              <a:rPr lang="nl-NL" baseline="0" dirty="0" smtClean="0"/>
              <a:t> SQL Server </a:t>
            </a:r>
            <a:r>
              <a:rPr lang="nl-NL" baseline="0" dirty="0" err="1" smtClean="0"/>
              <a:t>will</a:t>
            </a:r>
            <a:r>
              <a:rPr lang="nl-NL" baseline="0" dirty="0" smtClean="0"/>
              <a:t> chain the </a:t>
            </a:r>
            <a:r>
              <a:rPr lang="nl-NL" baseline="0" dirty="0" err="1" smtClean="0"/>
              <a:t>rows</a:t>
            </a:r>
            <a:r>
              <a:rPr lang="nl-NL" baseline="0" dirty="0" smtClean="0"/>
              <a:t> </a:t>
            </a:r>
            <a:r>
              <a:rPr lang="nl-NL" baseline="0" dirty="0" err="1" smtClean="0"/>
              <a:t>together</a:t>
            </a:r>
            <a:endParaRPr lang="en-US" dirty="0"/>
          </a:p>
        </p:txBody>
      </p:sp>
      <p:sp>
        <p:nvSpPr>
          <p:cNvPr id="4" name="Slide Number Placeholder 3"/>
          <p:cNvSpPr>
            <a:spLocks noGrp="1"/>
          </p:cNvSpPr>
          <p:nvPr>
            <p:ph type="sldNum" sz="quarter" idx="10"/>
          </p:nvPr>
        </p:nvSpPr>
        <p:spPr/>
        <p:txBody>
          <a:bodyPr/>
          <a:lstStyle/>
          <a:p>
            <a:fld id="{307B17F9-3E82-4D06-BF03-62817CE2635F}" type="slidenum">
              <a:rPr lang="en-US" smtClean="0"/>
              <a:t>24</a:t>
            </a:fld>
            <a:endParaRPr lang="en-US"/>
          </a:p>
        </p:txBody>
      </p:sp>
    </p:spTree>
    <p:extLst>
      <p:ext uri="{BB962C8B-B14F-4D97-AF65-F5344CB8AC3E}">
        <p14:creationId xmlns:p14="http://schemas.microsoft.com/office/powerpoint/2010/main" val="284155252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kern="1200" dirty="0" smtClean="0">
                <a:solidFill>
                  <a:schemeClr val="tx1"/>
                </a:solidFill>
                <a:effectLst/>
                <a:latin typeface="+mn-lt"/>
                <a:ea typeface="+mn-ea"/>
                <a:cs typeface="+mn-cs"/>
              </a:rPr>
              <a:t>A large average chain length indicates that many rows are hashed to the same bucket. This could happen because:</a:t>
            </a:r>
          </a:p>
          <a:p>
            <a:r>
              <a:rPr lang="en-GB" sz="1200" b="0" i="0" kern="1200" dirty="0" smtClean="0">
                <a:solidFill>
                  <a:schemeClr val="tx1"/>
                </a:solidFill>
                <a:effectLst/>
                <a:latin typeface="+mn-lt"/>
                <a:ea typeface="+mn-ea"/>
                <a:cs typeface="+mn-cs"/>
              </a:rPr>
              <a:t>If the number of empty buckets is low or the average and maximum chain lengths are similar, it is likely that the total bucket count is too low. This causes many different index keys to hash to the same bucket.</a:t>
            </a:r>
          </a:p>
          <a:p>
            <a:r>
              <a:rPr lang="en-GB" sz="1200" b="0" i="0" kern="1200" dirty="0" smtClean="0">
                <a:solidFill>
                  <a:schemeClr val="tx1"/>
                </a:solidFill>
                <a:effectLst/>
                <a:latin typeface="+mn-lt"/>
                <a:ea typeface="+mn-ea"/>
                <a:cs typeface="+mn-cs"/>
              </a:rPr>
              <a:t>If the number of empty buckets is high or the maximum chain length is high relative to the average chain length, it is likely that there are many rows with duplicate index key values or there is a skew in the key values. All rows with the same index key value hash to the same bucket, hence there is a long chain length in that bucket</a:t>
            </a:r>
          </a:p>
          <a:p>
            <a:endParaRPr lang="en-US" dirty="0"/>
          </a:p>
        </p:txBody>
      </p:sp>
      <p:sp>
        <p:nvSpPr>
          <p:cNvPr id="4" name="Slide Number Placeholder 3"/>
          <p:cNvSpPr>
            <a:spLocks noGrp="1"/>
          </p:cNvSpPr>
          <p:nvPr>
            <p:ph type="sldNum" sz="quarter" idx="10"/>
          </p:nvPr>
        </p:nvSpPr>
        <p:spPr/>
        <p:txBody>
          <a:bodyPr/>
          <a:lstStyle/>
          <a:p>
            <a:fld id="{307B17F9-3E82-4D06-BF03-62817CE2635F}" type="slidenum">
              <a:rPr lang="en-US" smtClean="0"/>
              <a:t>25</a:t>
            </a:fld>
            <a:endParaRPr lang="en-US"/>
          </a:p>
        </p:txBody>
      </p:sp>
    </p:spTree>
    <p:extLst>
      <p:ext uri="{BB962C8B-B14F-4D97-AF65-F5344CB8AC3E}">
        <p14:creationId xmlns:p14="http://schemas.microsoft.com/office/powerpoint/2010/main" val="413710120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07B17F9-3E82-4D06-BF03-62817CE2635F}" type="slidenum">
              <a:rPr lang="en-US" smtClean="0"/>
              <a:t>27</a:t>
            </a:fld>
            <a:endParaRPr lang="en-US"/>
          </a:p>
        </p:txBody>
      </p:sp>
    </p:spTree>
    <p:extLst>
      <p:ext uri="{BB962C8B-B14F-4D97-AF65-F5344CB8AC3E}">
        <p14:creationId xmlns:p14="http://schemas.microsoft.com/office/powerpoint/2010/main" val="4113822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jp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07547"/>
            <a:ext cx="9143999" cy="6758608"/>
          </a:xfrm>
          <a:prstGeom prst="rect">
            <a:avLst/>
          </a:prstGeom>
        </p:spPr>
      </p:pic>
      <p:sp>
        <p:nvSpPr>
          <p:cNvPr id="2" name="Title 1"/>
          <p:cNvSpPr>
            <a:spLocks noGrp="1"/>
          </p:cNvSpPr>
          <p:nvPr>
            <p:ph type="ctrTitle"/>
          </p:nvPr>
        </p:nvSpPr>
        <p:spPr>
          <a:xfrm>
            <a:off x="458408" y="516685"/>
            <a:ext cx="8203153" cy="1470025"/>
          </a:xfrm>
        </p:spPr>
        <p:txBody>
          <a:bodyPr>
            <a:normAutofit/>
          </a:bodyPr>
          <a:lstStyle>
            <a:lvl1pPr algn="l">
              <a:defRPr sz="4000">
                <a:solidFill>
                  <a:schemeClr val="accent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458408" y="1907341"/>
            <a:ext cx="7925349" cy="1752600"/>
          </a:xfrm>
        </p:spPr>
        <p:txBody>
          <a:bodyPr>
            <a:normAutofit/>
          </a:bodyPr>
          <a:lstStyle>
            <a:lvl1pPr marL="0" indent="0" algn="l">
              <a:buNone/>
              <a:defRPr sz="30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a:xfrm>
            <a:off x="457199" y="6197614"/>
            <a:ext cx="773079" cy="365125"/>
          </a:xfrm>
        </p:spPr>
        <p:txBody>
          <a:bodyPr/>
          <a:lstStyle>
            <a:lvl1pPr>
              <a:defRPr>
                <a:solidFill>
                  <a:schemeClr val="bg1">
                    <a:lumMod val="75000"/>
                  </a:schemeClr>
                </a:solidFill>
              </a:defRPr>
            </a:lvl1pPr>
          </a:lstStyle>
          <a:p>
            <a:fld id="{5942B21B-2ADA-A040-A652-A7305E1B99FE}" type="datetimeFigureOut">
              <a:rPr lang="en-US" smtClean="0"/>
              <a:pPr/>
              <a:t>05/28/2015</a:t>
            </a:fld>
            <a:endParaRPr lang="en-US" dirty="0"/>
          </a:p>
        </p:txBody>
      </p:sp>
      <p:sp>
        <p:nvSpPr>
          <p:cNvPr id="5" name="Footer Placeholder 4"/>
          <p:cNvSpPr>
            <a:spLocks noGrp="1"/>
          </p:cNvSpPr>
          <p:nvPr>
            <p:ph type="ftr" sz="quarter" idx="11"/>
          </p:nvPr>
        </p:nvSpPr>
        <p:spPr>
          <a:xfrm>
            <a:off x="1350847" y="6197614"/>
            <a:ext cx="2895600" cy="365125"/>
          </a:xfrm>
        </p:spPr>
        <p:txBody>
          <a:bodyPr/>
          <a:lstStyle>
            <a:lvl1pPr algn="l">
              <a:defRPr>
                <a:solidFill>
                  <a:schemeClr val="bg1">
                    <a:lumMod val="75000"/>
                  </a:schemeClr>
                </a:solidFill>
              </a:defRPr>
            </a:lvl1pPr>
          </a:lstStyle>
          <a:p>
            <a:endParaRPr lang="en-US" dirty="0"/>
          </a:p>
        </p:txBody>
      </p:sp>
      <p:pic>
        <p:nvPicPr>
          <p:cNvPr id="7" name="Picture 6"/>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896100" y="5770780"/>
            <a:ext cx="2247900" cy="1095375"/>
          </a:xfrm>
          <a:prstGeom prst="rect">
            <a:avLst/>
          </a:prstGeom>
        </p:spPr>
      </p:pic>
      <p:pic>
        <p:nvPicPr>
          <p:cNvPr id="9" name="Picture 8"/>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8043333" y="107547"/>
            <a:ext cx="988202" cy="1139726"/>
          </a:xfrm>
          <a:prstGeom prst="rect">
            <a:avLst/>
          </a:prstGeom>
        </p:spPr>
      </p:pic>
    </p:spTree>
    <p:extLst>
      <p:ext uri="{BB962C8B-B14F-4D97-AF65-F5344CB8AC3E}">
        <p14:creationId xmlns:p14="http://schemas.microsoft.com/office/powerpoint/2010/main" val="800730336"/>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lvl1pPr marL="342900" indent="-342900">
              <a:buFont typeface="Wingdings" charset="2"/>
              <a:buChar char="§"/>
              <a:defRPr>
                <a:solidFill>
                  <a:schemeClr val="tx2"/>
                </a:solidFill>
              </a:defRPr>
            </a:lvl1pPr>
            <a:lvl2pPr marL="742950" indent="-285750">
              <a:buFont typeface="Wingdings" charset="2"/>
              <a:buChar char="§"/>
              <a:defRPr>
                <a:solidFill>
                  <a:srgbClr val="474947"/>
                </a:solidFill>
              </a:defRPr>
            </a:lvl2pPr>
            <a:lvl3pPr marL="1143000" indent="-228600">
              <a:buFont typeface="Wingdings" charset="2"/>
              <a:buChar char="§"/>
              <a:defRPr>
                <a:solidFill>
                  <a:srgbClr val="474947"/>
                </a:solidFill>
              </a:defRPr>
            </a:lvl3pPr>
            <a:lvl4pPr marL="1600200" indent="-228600">
              <a:buFont typeface="Wingdings" charset="2"/>
              <a:buChar char="§"/>
              <a:defRPr>
                <a:solidFill>
                  <a:srgbClr val="474947"/>
                </a:solidFill>
              </a:defRPr>
            </a:lvl4pPr>
            <a:lvl5pPr marL="2057400" indent="-228600">
              <a:buFont typeface="Wingdings" charset="2"/>
              <a:buChar char="§"/>
              <a:defRPr>
                <a:solidFill>
                  <a:srgbClr val="474947"/>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3" name="Date Placeholder 3"/>
          <p:cNvSpPr>
            <a:spLocks noGrp="1"/>
          </p:cNvSpPr>
          <p:nvPr>
            <p:ph type="dt" sz="half" idx="2"/>
          </p:nvPr>
        </p:nvSpPr>
        <p:spPr>
          <a:xfrm>
            <a:off x="706329" y="6286903"/>
            <a:ext cx="851361" cy="365125"/>
          </a:xfrm>
          <a:prstGeom prst="rect">
            <a:avLst/>
          </a:prstGeom>
        </p:spPr>
        <p:txBody>
          <a:bodyPr vert="horz" lIns="91440" tIns="45720" rIns="91440" bIns="45720" rtlCol="0" anchor="ctr"/>
          <a:lstStyle>
            <a:lvl1pPr algn="l">
              <a:defRPr sz="1100">
                <a:solidFill>
                  <a:srgbClr val="FFFFFF"/>
                </a:solidFill>
              </a:defRPr>
            </a:lvl1pPr>
          </a:lstStyle>
          <a:p>
            <a:fld id="{5942B21B-2ADA-A040-A652-A7305E1B99FE}" type="datetimeFigureOut">
              <a:rPr lang="en-US" smtClean="0"/>
              <a:pPr/>
              <a:t>05/28/2015</a:t>
            </a:fld>
            <a:r>
              <a:rPr lang="en-US" dirty="0" smtClean="0"/>
              <a:t>  |</a:t>
            </a:r>
            <a:endParaRPr lang="en-US" dirty="0"/>
          </a:p>
        </p:txBody>
      </p:sp>
      <p:sp>
        <p:nvSpPr>
          <p:cNvPr id="14" name="Footer Placeholder 4"/>
          <p:cNvSpPr>
            <a:spLocks noGrp="1"/>
          </p:cNvSpPr>
          <p:nvPr>
            <p:ph type="ftr" sz="quarter" idx="3"/>
          </p:nvPr>
        </p:nvSpPr>
        <p:spPr>
          <a:xfrm>
            <a:off x="1420114" y="6286903"/>
            <a:ext cx="3153740" cy="365125"/>
          </a:xfrm>
          <a:prstGeom prst="rect">
            <a:avLst/>
          </a:prstGeom>
        </p:spPr>
        <p:txBody>
          <a:bodyPr vert="horz" lIns="91440" tIns="45720" rIns="91440" bIns="45720" rtlCol="0" anchor="ctr"/>
          <a:lstStyle>
            <a:lvl1pPr algn="l">
              <a:defRPr sz="1100">
                <a:solidFill>
                  <a:srgbClr val="FFFFFF"/>
                </a:solidFill>
              </a:defRPr>
            </a:lvl1pPr>
          </a:lstStyle>
          <a:p>
            <a:endParaRPr lang="en-US" dirty="0"/>
          </a:p>
        </p:txBody>
      </p:sp>
      <p:sp>
        <p:nvSpPr>
          <p:cNvPr id="15" name="Slide Number Placeholder 5"/>
          <p:cNvSpPr>
            <a:spLocks noGrp="1"/>
          </p:cNvSpPr>
          <p:nvPr>
            <p:ph type="sldNum" sz="quarter" idx="4"/>
          </p:nvPr>
        </p:nvSpPr>
        <p:spPr>
          <a:xfrm>
            <a:off x="228193" y="6286903"/>
            <a:ext cx="527746" cy="365125"/>
          </a:xfrm>
          <a:prstGeom prst="rect">
            <a:avLst/>
          </a:prstGeom>
        </p:spPr>
        <p:txBody>
          <a:bodyPr vert="horz" lIns="91440" tIns="45720" rIns="91440" bIns="45720" rtlCol="0" anchor="ctr"/>
          <a:lstStyle>
            <a:lvl1pPr algn="r">
              <a:defRPr sz="1100">
                <a:solidFill>
                  <a:srgbClr val="FFFFFF"/>
                </a:solidFill>
              </a:defRPr>
            </a:lvl1pPr>
          </a:lstStyle>
          <a:p>
            <a:fld id="{87FD5303-69AD-2E4D-B18B-E5EED0F0A60B}" type="slidenum">
              <a:rPr lang="en-US" smtClean="0"/>
              <a:pPr/>
              <a:t>‹#›</a:t>
            </a:fld>
            <a:r>
              <a:rPr lang="en-US" dirty="0" smtClean="0"/>
              <a:t>  |  </a:t>
            </a:r>
            <a:endParaRPr lang="en-US" dirty="0"/>
          </a:p>
        </p:txBody>
      </p:sp>
      <p:cxnSp>
        <p:nvCxnSpPr>
          <p:cNvPr id="17" name="Straight Connector 16"/>
          <p:cNvCxnSpPr/>
          <p:nvPr userDrawn="1"/>
        </p:nvCxnSpPr>
        <p:spPr>
          <a:xfrm>
            <a:off x="536576" y="1299672"/>
            <a:ext cx="8686800" cy="0"/>
          </a:xfrm>
          <a:prstGeom prst="line">
            <a:avLst/>
          </a:prstGeom>
          <a:ln w="12700">
            <a:solidFill>
              <a:schemeClr val="accent2"/>
            </a:solidFill>
          </a:ln>
          <a:effectLst/>
        </p:spPr>
        <p:style>
          <a:lnRef idx="2">
            <a:schemeClr val="accent1"/>
          </a:lnRef>
          <a:fillRef idx="0">
            <a:schemeClr val="accent1"/>
          </a:fillRef>
          <a:effectRef idx="1">
            <a:schemeClr val="accent1"/>
          </a:effectRef>
          <a:fontRef idx="minor">
            <a:schemeClr val="tx1"/>
          </a:fontRef>
        </p:style>
      </p:cxnSp>
      <p:pic>
        <p:nvPicPr>
          <p:cNvPr id="9" name="Picture 8"/>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043333" y="107547"/>
            <a:ext cx="988202" cy="1139726"/>
          </a:xfrm>
          <a:prstGeom prst="rect">
            <a:avLst/>
          </a:prstGeom>
        </p:spPr>
      </p:pic>
    </p:spTree>
    <p:extLst>
      <p:ext uri="{BB962C8B-B14F-4D97-AF65-F5344CB8AC3E}">
        <p14:creationId xmlns:p14="http://schemas.microsoft.com/office/powerpoint/2010/main" val="4065140645"/>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0" i="0" cap="all">
                <a:latin typeface="Arial"/>
                <a:cs typeface="Arial"/>
              </a:defRPr>
            </a:lvl1pPr>
          </a:lstStyle>
          <a:p>
            <a:r>
              <a:rPr lang="en-US" smtClean="0"/>
              <a:t>Click to edit Master title style</a:t>
            </a:r>
            <a:endParaRPr lang="en-US" dirty="0"/>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7" name="Date Placeholder 3"/>
          <p:cNvSpPr>
            <a:spLocks noGrp="1"/>
          </p:cNvSpPr>
          <p:nvPr>
            <p:ph type="dt" sz="half" idx="2"/>
          </p:nvPr>
        </p:nvSpPr>
        <p:spPr>
          <a:xfrm>
            <a:off x="706329" y="6286903"/>
            <a:ext cx="851361" cy="365125"/>
          </a:xfrm>
          <a:prstGeom prst="rect">
            <a:avLst/>
          </a:prstGeom>
        </p:spPr>
        <p:txBody>
          <a:bodyPr vert="horz" lIns="91440" tIns="45720" rIns="91440" bIns="45720" rtlCol="0" anchor="ctr"/>
          <a:lstStyle>
            <a:lvl1pPr algn="l">
              <a:defRPr sz="1100">
                <a:solidFill>
                  <a:srgbClr val="FFFFFF"/>
                </a:solidFill>
              </a:defRPr>
            </a:lvl1pPr>
          </a:lstStyle>
          <a:p>
            <a:fld id="{5942B21B-2ADA-A040-A652-A7305E1B99FE}" type="datetimeFigureOut">
              <a:rPr lang="en-US" smtClean="0"/>
              <a:pPr/>
              <a:t>05/28/2015</a:t>
            </a:fld>
            <a:r>
              <a:rPr lang="en-US" dirty="0" smtClean="0"/>
              <a:t>  |</a:t>
            </a:r>
            <a:endParaRPr lang="en-US" dirty="0"/>
          </a:p>
        </p:txBody>
      </p:sp>
      <p:sp>
        <p:nvSpPr>
          <p:cNvPr id="8" name="Footer Placeholder 4"/>
          <p:cNvSpPr>
            <a:spLocks noGrp="1"/>
          </p:cNvSpPr>
          <p:nvPr>
            <p:ph type="ftr" sz="quarter" idx="3"/>
          </p:nvPr>
        </p:nvSpPr>
        <p:spPr>
          <a:xfrm>
            <a:off x="1420114" y="6286903"/>
            <a:ext cx="3153740" cy="365125"/>
          </a:xfrm>
          <a:prstGeom prst="rect">
            <a:avLst/>
          </a:prstGeom>
        </p:spPr>
        <p:txBody>
          <a:bodyPr vert="horz" lIns="91440" tIns="45720" rIns="91440" bIns="45720" rtlCol="0" anchor="ctr"/>
          <a:lstStyle>
            <a:lvl1pPr algn="l">
              <a:defRPr sz="1100">
                <a:solidFill>
                  <a:srgbClr val="FFFFFF"/>
                </a:solidFill>
              </a:defRPr>
            </a:lvl1pPr>
          </a:lstStyle>
          <a:p>
            <a:endParaRPr lang="en-US" dirty="0"/>
          </a:p>
        </p:txBody>
      </p:sp>
      <p:sp>
        <p:nvSpPr>
          <p:cNvPr id="9" name="Slide Number Placeholder 5"/>
          <p:cNvSpPr>
            <a:spLocks noGrp="1"/>
          </p:cNvSpPr>
          <p:nvPr>
            <p:ph type="sldNum" sz="quarter" idx="4"/>
          </p:nvPr>
        </p:nvSpPr>
        <p:spPr>
          <a:xfrm>
            <a:off x="228193" y="6286903"/>
            <a:ext cx="527746" cy="365125"/>
          </a:xfrm>
          <a:prstGeom prst="rect">
            <a:avLst/>
          </a:prstGeom>
        </p:spPr>
        <p:txBody>
          <a:bodyPr vert="horz" lIns="91440" tIns="45720" rIns="91440" bIns="45720" rtlCol="0" anchor="ctr"/>
          <a:lstStyle>
            <a:lvl1pPr algn="r">
              <a:defRPr sz="1100">
                <a:solidFill>
                  <a:srgbClr val="FFFFFF"/>
                </a:solidFill>
              </a:defRPr>
            </a:lvl1pPr>
          </a:lstStyle>
          <a:p>
            <a:fld id="{87FD5303-69AD-2E4D-B18B-E5EED0F0A60B}" type="slidenum">
              <a:rPr lang="en-US" smtClean="0"/>
              <a:pPr/>
              <a:t>‹#›</a:t>
            </a:fld>
            <a:r>
              <a:rPr lang="en-US" dirty="0" smtClean="0"/>
              <a:t>  |  </a:t>
            </a:r>
            <a:endParaRPr lang="en-US" dirty="0"/>
          </a:p>
        </p:txBody>
      </p:sp>
      <p:pic>
        <p:nvPicPr>
          <p:cNvPr id="10" name="Picture 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043333" y="107547"/>
            <a:ext cx="988202" cy="1139726"/>
          </a:xfrm>
          <a:prstGeom prst="rect">
            <a:avLst/>
          </a:prstGeom>
        </p:spPr>
      </p:pic>
    </p:spTree>
    <p:extLst>
      <p:ext uri="{BB962C8B-B14F-4D97-AF65-F5344CB8AC3E}">
        <p14:creationId xmlns:p14="http://schemas.microsoft.com/office/powerpoint/2010/main" val="3510596381"/>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6" name="Date Placeholder 3"/>
          <p:cNvSpPr>
            <a:spLocks noGrp="1"/>
          </p:cNvSpPr>
          <p:nvPr>
            <p:ph type="dt" sz="half" idx="10"/>
          </p:nvPr>
        </p:nvSpPr>
        <p:spPr>
          <a:xfrm>
            <a:off x="706329" y="6286903"/>
            <a:ext cx="851361" cy="365125"/>
          </a:xfrm>
          <a:prstGeom prst="rect">
            <a:avLst/>
          </a:prstGeom>
        </p:spPr>
        <p:txBody>
          <a:bodyPr vert="horz" lIns="91440" tIns="45720" rIns="91440" bIns="45720" rtlCol="0" anchor="ctr"/>
          <a:lstStyle>
            <a:lvl1pPr algn="l">
              <a:defRPr sz="1100">
                <a:solidFill>
                  <a:srgbClr val="FFFFFF"/>
                </a:solidFill>
              </a:defRPr>
            </a:lvl1pPr>
          </a:lstStyle>
          <a:p>
            <a:fld id="{5942B21B-2ADA-A040-A652-A7305E1B99FE}" type="datetimeFigureOut">
              <a:rPr lang="en-US" smtClean="0"/>
              <a:pPr/>
              <a:t>05/28/2015</a:t>
            </a:fld>
            <a:r>
              <a:rPr lang="en-US" dirty="0" smtClean="0"/>
              <a:t>  |</a:t>
            </a:r>
            <a:endParaRPr lang="en-US" dirty="0"/>
          </a:p>
        </p:txBody>
      </p:sp>
      <p:sp>
        <p:nvSpPr>
          <p:cNvPr id="17" name="Footer Placeholder 4"/>
          <p:cNvSpPr>
            <a:spLocks noGrp="1"/>
          </p:cNvSpPr>
          <p:nvPr>
            <p:ph type="ftr" sz="quarter" idx="3"/>
          </p:nvPr>
        </p:nvSpPr>
        <p:spPr>
          <a:xfrm>
            <a:off x="1420114" y="6286903"/>
            <a:ext cx="3153740" cy="365125"/>
          </a:xfrm>
          <a:prstGeom prst="rect">
            <a:avLst/>
          </a:prstGeom>
        </p:spPr>
        <p:txBody>
          <a:bodyPr vert="horz" lIns="91440" tIns="45720" rIns="91440" bIns="45720" rtlCol="0" anchor="ctr"/>
          <a:lstStyle>
            <a:lvl1pPr algn="l">
              <a:defRPr sz="1100">
                <a:solidFill>
                  <a:srgbClr val="FFFFFF"/>
                </a:solidFill>
              </a:defRPr>
            </a:lvl1pPr>
          </a:lstStyle>
          <a:p>
            <a:endParaRPr lang="en-US" dirty="0"/>
          </a:p>
        </p:txBody>
      </p:sp>
      <p:sp>
        <p:nvSpPr>
          <p:cNvPr id="18" name="Slide Number Placeholder 5"/>
          <p:cNvSpPr>
            <a:spLocks noGrp="1"/>
          </p:cNvSpPr>
          <p:nvPr>
            <p:ph type="sldNum" sz="quarter" idx="4"/>
          </p:nvPr>
        </p:nvSpPr>
        <p:spPr>
          <a:xfrm>
            <a:off x="228193" y="6286903"/>
            <a:ext cx="527746" cy="365125"/>
          </a:xfrm>
          <a:prstGeom prst="rect">
            <a:avLst/>
          </a:prstGeom>
        </p:spPr>
        <p:txBody>
          <a:bodyPr vert="horz" lIns="91440" tIns="45720" rIns="91440" bIns="45720" rtlCol="0" anchor="ctr"/>
          <a:lstStyle>
            <a:lvl1pPr algn="r">
              <a:defRPr sz="1100">
                <a:solidFill>
                  <a:srgbClr val="FFFFFF"/>
                </a:solidFill>
              </a:defRPr>
            </a:lvl1pPr>
          </a:lstStyle>
          <a:p>
            <a:fld id="{87FD5303-69AD-2E4D-B18B-E5EED0F0A60B}" type="slidenum">
              <a:rPr lang="en-US" smtClean="0"/>
              <a:pPr/>
              <a:t>‹#›</a:t>
            </a:fld>
            <a:r>
              <a:rPr lang="en-US" dirty="0" smtClean="0"/>
              <a:t>  |  </a:t>
            </a:r>
            <a:endParaRPr lang="en-US" dirty="0"/>
          </a:p>
        </p:txBody>
      </p:sp>
      <p:cxnSp>
        <p:nvCxnSpPr>
          <p:cNvPr id="19" name="Straight Connector 18"/>
          <p:cNvCxnSpPr/>
          <p:nvPr userDrawn="1"/>
        </p:nvCxnSpPr>
        <p:spPr>
          <a:xfrm>
            <a:off x="536576" y="1299672"/>
            <a:ext cx="8686800" cy="0"/>
          </a:xfrm>
          <a:prstGeom prst="line">
            <a:avLst/>
          </a:prstGeom>
          <a:ln w="12700">
            <a:solidFill>
              <a:schemeClr val="accent2"/>
            </a:solidFill>
          </a:ln>
          <a:effectLst/>
        </p:spPr>
        <p:style>
          <a:lnRef idx="2">
            <a:schemeClr val="accent1"/>
          </a:lnRef>
          <a:fillRef idx="0">
            <a:schemeClr val="accent1"/>
          </a:fillRef>
          <a:effectRef idx="1">
            <a:schemeClr val="accent1"/>
          </a:effectRef>
          <a:fontRef idx="minor">
            <a:schemeClr val="tx1"/>
          </a:fontRef>
        </p:style>
      </p:cxnSp>
      <p:pic>
        <p:nvPicPr>
          <p:cNvPr id="9" name="Picture 8"/>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043333" y="107547"/>
            <a:ext cx="988202" cy="1139726"/>
          </a:xfrm>
          <a:prstGeom prst="rect">
            <a:avLst/>
          </a:prstGeom>
        </p:spPr>
      </p:pic>
    </p:spTree>
    <p:extLst>
      <p:ext uri="{BB962C8B-B14F-4D97-AF65-F5344CB8AC3E}">
        <p14:creationId xmlns:p14="http://schemas.microsoft.com/office/powerpoint/2010/main" val="2062983015"/>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normAutofit/>
          </a:bodyPr>
          <a:lstStyle>
            <a:lvl1pPr marL="0" indent="0">
              <a:buNone/>
              <a:defRPr sz="2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0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b">
            <a:normAutofit/>
          </a:bodyPr>
          <a:lstStyle>
            <a:lvl1pPr marL="0" indent="0">
              <a:buNone/>
              <a:defRPr sz="2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0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5" name="Date Placeholder 3"/>
          <p:cNvSpPr>
            <a:spLocks noGrp="1"/>
          </p:cNvSpPr>
          <p:nvPr>
            <p:ph type="dt" sz="half" idx="10"/>
          </p:nvPr>
        </p:nvSpPr>
        <p:spPr>
          <a:xfrm>
            <a:off x="706329" y="6286903"/>
            <a:ext cx="851361" cy="365125"/>
          </a:xfrm>
          <a:prstGeom prst="rect">
            <a:avLst/>
          </a:prstGeom>
        </p:spPr>
        <p:txBody>
          <a:bodyPr vert="horz" lIns="91440" tIns="45720" rIns="91440" bIns="45720" rtlCol="0" anchor="ctr"/>
          <a:lstStyle>
            <a:lvl1pPr algn="l">
              <a:defRPr sz="1100">
                <a:solidFill>
                  <a:srgbClr val="FFFFFF"/>
                </a:solidFill>
              </a:defRPr>
            </a:lvl1pPr>
          </a:lstStyle>
          <a:p>
            <a:fld id="{5942B21B-2ADA-A040-A652-A7305E1B99FE}" type="datetimeFigureOut">
              <a:rPr lang="en-US" smtClean="0"/>
              <a:pPr/>
              <a:t>05/28/2015</a:t>
            </a:fld>
            <a:r>
              <a:rPr lang="en-US" dirty="0" smtClean="0"/>
              <a:t>  |</a:t>
            </a:r>
            <a:endParaRPr lang="en-US" dirty="0"/>
          </a:p>
        </p:txBody>
      </p:sp>
      <p:sp>
        <p:nvSpPr>
          <p:cNvPr id="16" name="Footer Placeholder 4"/>
          <p:cNvSpPr>
            <a:spLocks noGrp="1"/>
          </p:cNvSpPr>
          <p:nvPr>
            <p:ph type="ftr" sz="quarter" idx="11"/>
          </p:nvPr>
        </p:nvSpPr>
        <p:spPr>
          <a:xfrm>
            <a:off x="1420114" y="6286903"/>
            <a:ext cx="3153740" cy="365125"/>
          </a:xfrm>
          <a:prstGeom prst="rect">
            <a:avLst/>
          </a:prstGeom>
        </p:spPr>
        <p:txBody>
          <a:bodyPr vert="horz" lIns="91440" tIns="45720" rIns="91440" bIns="45720" rtlCol="0" anchor="ctr"/>
          <a:lstStyle>
            <a:lvl1pPr algn="l">
              <a:defRPr sz="1100">
                <a:solidFill>
                  <a:srgbClr val="FFFFFF"/>
                </a:solidFill>
              </a:defRPr>
            </a:lvl1pPr>
          </a:lstStyle>
          <a:p>
            <a:endParaRPr lang="en-US" dirty="0"/>
          </a:p>
        </p:txBody>
      </p:sp>
      <p:sp>
        <p:nvSpPr>
          <p:cNvPr id="17" name="Slide Number Placeholder 5"/>
          <p:cNvSpPr>
            <a:spLocks noGrp="1"/>
          </p:cNvSpPr>
          <p:nvPr>
            <p:ph type="sldNum" sz="quarter" idx="12"/>
          </p:nvPr>
        </p:nvSpPr>
        <p:spPr>
          <a:xfrm>
            <a:off x="228193" y="6286903"/>
            <a:ext cx="527746" cy="365125"/>
          </a:xfrm>
          <a:prstGeom prst="rect">
            <a:avLst/>
          </a:prstGeom>
        </p:spPr>
        <p:txBody>
          <a:bodyPr vert="horz" lIns="91440" tIns="45720" rIns="91440" bIns="45720" rtlCol="0" anchor="ctr"/>
          <a:lstStyle>
            <a:lvl1pPr algn="r">
              <a:defRPr sz="1100">
                <a:solidFill>
                  <a:srgbClr val="FFFFFF"/>
                </a:solidFill>
              </a:defRPr>
            </a:lvl1pPr>
          </a:lstStyle>
          <a:p>
            <a:fld id="{87FD5303-69AD-2E4D-B18B-E5EED0F0A60B}" type="slidenum">
              <a:rPr lang="en-US" smtClean="0"/>
              <a:pPr/>
              <a:t>‹#›</a:t>
            </a:fld>
            <a:r>
              <a:rPr lang="en-US" dirty="0" smtClean="0"/>
              <a:t>  |  </a:t>
            </a:r>
            <a:endParaRPr lang="en-US" dirty="0"/>
          </a:p>
        </p:txBody>
      </p:sp>
      <p:cxnSp>
        <p:nvCxnSpPr>
          <p:cNvPr id="18" name="Straight Connector 17"/>
          <p:cNvCxnSpPr/>
          <p:nvPr userDrawn="1"/>
        </p:nvCxnSpPr>
        <p:spPr>
          <a:xfrm>
            <a:off x="536576" y="1299672"/>
            <a:ext cx="8686800" cy="0"/>
          </a:xfrm>
          <a:prstGeom prst="line">
            <a:avLst/>
          </a:prstGeom>
          <a:ln w="12700">
            <a:solidFill>
              <a:schemeClr val="accent2"/>
            </a:solidFill>
          </a:ln>
          <a:effectLst/>
        </p:spPr>
        <p:style>
          <a:lnRef idx="2">
            <a:schemeClr val="accent1"/>
          </a:lnRef>
          <a:fillRef idx="0">
            <a:schemeClr val="accent1"/>
          </a:fillRef>
          <a:effectRef idx="1">
            <a:schemeClr val="accent1"/>
          </a:effectRef>
          <a:fontRef idx="minor">
            <a:schemeClr val="tx1"/>
          </a:fontRef>
        </p:style>
      </p:cxnSp>
      <p:pic>
        <p:nvPicPr>
          <p:cNvPr id="11" name="Picture 10"/>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043333" y="107547"/>
            <a:ext cx="988202" cy="1139726"/>
          </a:xfrm>
          <a:prstGeom prst="rect">
            <a:avLst/>
          </a:prstGeom>
        </p:spPr>
      </p:pic>
    </p:spTree>
    <p:extLst>
      <p:ext uri="{BB962C8B-B14F-4D97-AF65-F5344CB8AC3E}">
        <p14:creationId xmlns:p14="http://schemas.microsoft.com/office/powerpoint/2010/main" val="3151226231"/>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11" name="Date Placeholder 3"/>
          <p:cNvSpPr>
            <a:spLocks noGrp="1"/>
          </p:cNvSpPr>
          <p:nvPr>
            <p:ph type="dt" sz="half" idx="2"/>
          </p:nvPr>
        </p:nvSpPr>
        <p:spPr>
          <a:xfrm>
            <a:off x="706329" y="6286903"/>
            <a:ext cx="851361" cy="365125"/>
          </a:xfrm>
          <a:prstGeom prst="rect">
            <a:avLst/>
          </a:prstGeom>
        </p:spPr>
        <p:txBody>
          <a:bodyPr vert="horz" lIns="91440" tIns="45720" rIns="91440" bIns="45720" rtlCol="0" anchor="ctr"/>
          <a:lstStyle>
            <a:lvl1pPr algn="l">
              <a:defRPr sz="1100">
                <a:solidFill>
                  <a:srgbClr val="FFFFFF"/>
                </a:solidFill>
              </a:defRPr>
            </a:lvl1pPr>
          </a:lstStyle>
          <a:p>
            <a:fld id="{5942B21B-2ADA-A040-A652-A7305E1B99FE}" type="datetimeFigureOut">
              <a:rPr lang="en-US" smtClean="0"/>
              <a:pPr/>
              <a:t>05/28/2015</a:t>
            </a:fld>
            <a:r>
              <a:rPr lang="en-US" dirty="0" smtClean="0"/>
              <a:t>  |</a:t>
            </a:r>
            <a:endParaRPr lang="en-US" dirty="0"/>
          </a:p>
        </p:txBody>
      </p:sp>
      <p:sp>
        <p:nvSpPr>
          <p:cNvPr id="12" name="Footer Placeholder 4"/>
          <p:cNvSpPr>
            <a:spLocks noGrp="1"/>
          </p:cNvSpPr>
          <p:nvPr>
            <p:ph type="ftr" sz="quarter" idx="3"/>
          </p:nvPr>
        </p:nvSpPr>
        <p:spPr>
          <a:xfrm>
            <a:off x="1420114" y="6286903"/>
            <a:ext cx="3153740" cy="365125"/>
          </a:xfrm>
          <a:prstGeom prst="rect">
            <a:avLst/>
          </a:prstGeom>
        </p:spPr>
        <p:txBody>
          <a:bodyPr vert="horz" lIns="91440" tIns="45720" rIns="91440" bIns="45720" rtlCol="0" anchor="ctr"/>
          <a:lstStyle>
            <a:lvl1pPr algn="l">
              <a:defRPr sz="1100">
                <a:solidFill>
                  <a:srgbClr val="FFFFFF"/>
                </a:solidFill>
              </a:defRPr>
            </a:lvl1pPr>
          </a:lstStyle>
          <a:p>
            <a:endParaRPr lang="en-US" dirty="0"/>
          </a:p>
        </p:txBody>
      </p:sp>
      <p:sp>
        <p:nvSpPr>
          <p:cNvPr id="13" name="Slide Number Placeholder 5"/>
          <p:cNvSpPr>
            <a:spLocks noGrp="1"/>
          </p:cNvSpPr>
          <p:nvPr>
            <p:ph type="sldNum" sz="quarter" idx="4"/>
          </p:nvPr>
        </p:nvSpPr>
        <p:spPr>
          <a:xfrm>
            <a:off x="228193" y="6286903"/>
            <a:ext cx="527746" cy="365125"/>
          </a:xfrm>
          <a:prstGeom prst="rect">
            <a:avLst/>
          </a:prstGeom>
        </p:spPr>
        <p:txBody>
          <a:bodyPr vert="horz" lIns="91440" tIns="45720" rIns="91440" bIns="45720" rtlCol="0" anchor="ctr"/>
          <a:lstStyle>
            <a:lvl1pPr algn="r">
              <a:defRPr sz="1100">
                <a:solidFill>
                  <a:srgbClr val="FFFFFF"/>
                </a:solidFill>
              </a:defRPr>
            </a:lvl1pPr>
          </a:lstStyle>
          <a:p>
            <a:fld id="{87FD5303-69AD-2E4D-B18B-E5EED0F0A60B}" type="slidenum">
              <a:rPr lang="en-US" smtClean="0"/>
              <a:pPr/>
              <a:t>‹#›</a:t>
            </a:fld>
            <a:r>
              <a:rPr lang="en-US" dirty="0" smtClean="0"/>
              <a:t>  |  </a:t>
            </a:r>
            <a:endParaRPr lang="en-US" dirty="0"/>
          </a:p>
        </p:txBody>
      </p:sp>
      <p:cxnSp>
        <p:nvCxnSpPr>
          <p:cNvPr id="14" name="Straight Connector 13"/>
          <p:cNvCxnSpPr/>
          <p:nvPr userDrawn="1"/>
        </p:nvCxnSpPr>
        <p:spPr>
          <a:xfrm>
            <a:off x="536576" y="1299672"/>
            <a:ext cx="8686800" cy="0"/>
          </a:xfrm>
          <a:prstGeom prst="line">
            <a:avLst/>
          </a:prstGeom>
          <a:ln w="12700">
            <a:solidFill>
              <a:schemeClr val="accent2"/>
            </a:solidFill>
          </a:ln>
          <a:effectLst/>
        </p:spPr>
        <p:style>
          <a:lnRef idx="2">
            <a:schemeClr val="accent1"/>
          </a:lnRef>
          <a:fillRef idx="0">
            <a:schemeClr val="accent1"/>
          </a:fillRef>
          <a:effectRef idx="1">
            <a:schemeClr val="accent1"/>
          </a:effectRef>
          <a:fontRef idx="minor">
            <a:schemeClr val="tx1"/>
          </a:fontRef>
        </p:style>
      </p:cxnSp>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043333" y="107547"/>
            <a:ext cx="988202" cy="1139726"/>
          </a:xfrm>
          <a:prstGeom prst="rect">
            <a:avLst/>
          </a:prstGeom>
        </p:spPr>
      </p:pic>
    </p:spTree>
    <p:extLst>
      <p:ext uri="{BB962C8B-B14F-4D97-AF65-F5344CB8AC3E}">
        <p14:creationId xmlns:p14="http://schemas.microsoft.com/office/powerpoint/2010/main" val="1721537737"/>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10" name="Date Placeholder 3"/>
          <p:cNvSpPr>
            <a:spLocks noGrp="1"/>
          </p:cNvSpPr>
          <p:nvPr>
            <p:ph type="dt" sz="half" idx="2"/>
          </p:nvPr>
        </p:nvSpPr>
        <p:spPr>
          <a:xfrm>
            <a:off x="706329" y="6286903"/>
            <a:ext cx="851361" cy="365125"/>
          </a:xfrm>
          <a:prstGeom prst="rect">
            <a:avLst/>
          </a:prstGeom>
        </p:spPr>
        <p:txBody>
          <a:bodyPr vert="horz" lIns="91440" tIns="45720" rIns="91440" bIns="45720" rtlCol="0" anchor="ctr"/>
          <a:lstStyle>
            <a:lvl1pPr algn="l">
              <a:defRPr sz="1100">
                <a:solidFill>
                  <a:srgbClr val="FFFFFF"/>
                </a:solidFill>
              </a:defRPr>
            </a:lvl1pPr>
          </a:lstStyle>
          <a:p>
            <a:fld id="{5942B21B-2ADA-A040-A652-A7305E1B99FE}" type="datetimeFigureOut">
              <a:rPr lang="en-US" smtClean="0"/>
              <a:pPr/>
              <a:t>05/28/2015</a:t>
            </a:fld>
            <a:r>
              <a:rPr lang="en-US" dirty="0" smtClean="0"/>
              <a:t>  |</a:t>
            </a:r>
            <a:endParaRPr lang="en-US" dirty="0"/>
          </a:p>
        </p:txBody>
      </p:sp>
      <p:sp>
        <p:nvSpPr>
          <p:cNvPr id="11" name="Footer Placeholder 4"/>
          <p:cNvSpPr>
            <a:spLocks noGrp="1"/>
          </p:cNvSpPr>
          <p:nvPr>
            <p:ph type="ftr" sz="quarter" idx="3"/>
          </p:nvPr>
        </p:nvSpPr>
        <p:spPr>
          <a:xfrm>
            <a:off x="1420114" y="6286903"/>
            <a:ext cx="3153740" cy="365125"/>
          </a:xfrm>
          <a:prstGeom prst="rect">
            <a:avLst/>
          </a:prstGeom>
        </p:spPr>
        <p:txBody>
          <a:bodyPr vert="horz" lIns="91440" tIns="45720" rIns="91440" bIns="45720" rtlCol="0" anchor="ctr"/>
          <a:lstStyle>
            <a:lvl1pPr algn="l">
              <a:defRPr sz="1100">
                <a:solidFill>
                  <a:srgbClr val="FFFFFF"/>
                </a:solidFill>
              </a:defRPr>
            </a:lvl1pPr>
          </a:lstStyle>
          <a:p>
            <a:endParaRPr lang="en-US" dirty="0"/>
          </a:p>
        </p:txBody>
      </p:sp>
      <p:sp>
        <p:nvSpPr>
          <p:cNvPr id="12" name="Slide Number Placeholder 5"/>
          <p:cNvSpPr>
            <a:spLocks noGrp="1"/>
          </p:cNvSpPr>
          <p:nvPr>
            <p:ph type="sldNum" sz="quarter" idx="4"/>
          </p:nvPr>
        </p:nvSpPr>
        <p:spPr>
          <a:xfrm>
            <a:off x="228193" y="6286903"/>
            <a:ext cx="527746" cy="365125"/>
          </a:xfrm>
          <a:prstGeom prst="rect">
            <a:avLst/>
          </a:prstGeom>
        </p:spPr>
        <p:txBody>
          <a:bodyPr vert="horz" lIns="91440" tIns="45720" rIns="91440" bIns="45720" rtlCol="0" anchor="ctr"/>
          <a:lstStyle>
            <a:lvl1pPr algn="r">
              <a:defRPr sz="1100">
                <a:solidFill>
                  <a:srgbClr val="FFFFFF"/>
                </a:solidFill>
              </a:defRPr>
            </a:lvl1pPr>
          </a:lstStyle>
          <a:p>
            <a:fld id="{87FD5303-69AD-2E4D-B18B-E5EED0F0A60B}" type="slidenum">
              <a:rPr lang="en-US" smtClean="0"/>
              <a:pPr/>
              <a:t>‹#›</a:t>
            </a:fld>
            <a:r>
              <a:rPr lang="en-US" dirty="0" smtClean="0"/>
              <a:t>  |  </a:t>
            </a:r>
            <a:endParaRPr lang="en-US" dirty="0"/>
          </a:p>
        </p:txBody>
      </p:sp>
      <p:pic>
        <p:nvPicPr>
          <p:cNvPr id="5" name="Picture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043333" y="107547"/>
            <a:ext cx="988202" cy="1139726"/>
          </a:xfrm>
          <a:prstGeom prst="rect">
            <a:avLst/>
          </a:prstGeom>
        </p:spPr>
      </p:pic>
    </p:spTree>
    <p:extLst>
      <p:ext uri="{BB962C8B-B14F-4D97-AF65-F5344CB8AC3E}">
        <p14:creationId xmlns:p14="http://schemas.microsoft.com/office/powerpoint/2010/main" val="4186986387"/>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000"/>
            </a:lvl1pPr>
            <a:lvl2pPr>
              <a:defRPr sz="2600"/>
            </a:lvl2pPr>
            <a:lvl3pPr>
              <a:defRPr sz="2200"/>
            </a:lvl3pPr>
            <a:lvl4pPr>
              <a:defRPr sz="1800"/>
            </a:lvl4pPr>
            <a:lvl5pPr>
              <a:defRPr sz="18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3" name="Date Placeholder 3"/>
          <p:cNvSpPr>
            <a:spLocks noGrp="1"/>
          </p:cNvSpPr>
          <p:nvPr>
            <p:ph type="dt" sz="half" idx="10"/>
          </p:nvPr>
        </p:nvSpPr>
        <p:spPr>
          <a:xfrm>
            <a:off x="706329" y="6286903"/>
            <a:ext cx="851361" cy="365125"/>
          </a:xfrm>
          <a:prstGeom prst="rect">
            <a:avLst/>
          </a:prstGeom>
        </p:spPr>
        <p:txBody>
          <a:bodyPr vert="horz" lIns="91440" tIns="45720" rIns="91440" bIns="45720" rtlCol="0" anchor="ctr"/>
          <a:lstStyle>
            <a:lvl1pPr algn="l">
              <a:defRPr sz="1100">
                <a:solidFill>
                  <a:srgbClr val="FFFFFF"/>
                </a:solidFill>
              </a:defRPr>
            </a:lvl1pPr>
          </a:lstStyle>
          <a:p>
            <a:fld id="{5942B21B-2ADA-A040-A652-A7305E1B99FE}" type="datetimeFigureOut">
              <a:rPr lang="en-US" smtClean="0"/>
              <a:pPr/>
              <a:t>05/28/2015</a:t>
            </a:fld>
            <a:r>
              <a:rPr lang="en-US" dirty="0" smtClean="0"/>
              <a:t>  |</a:t>
            </a:r>
            <a:endParaRPr lang="en-US" dirty="0"/>
          </a:p>
        </p:txBody>
      </p:sp>
      <p:sp>
        <p:nvSpPr>
          <p:cNvPr id="14" name="Footer Placeholder 4"/>
          <p:cNvSpPr>
            <a:spLocks noGrp="1"/>
          </p:cNvSpPr>
          <p:nvPr>
            <p:ph type="ftr" sz="quarter" idx="3"/>
          </p:nvPr>
        </p:nvSpPr>
        <p:spPr>
          <a:xfrm>
            <a:off x="1420114" y="6286903"/>
            <a:ext cx="3153740" cy="365125"/>
          </a:xfrm>
          <a:prstGeom prst="rect">
            <a:avLst/>
          </a:prstGeom>
        </p:spPr>
        <p:txBody>
          <a:bodyPr vert="horz" lIns="91440" tIns="45720" rIns="91440" bIns="45720" rtlCol="0" anchor="ctr"/>
          <a:lstStyle>
            <a:lvl1pPr algn="l">
              <a:defRPr sz="1100">
                <a:solidFill>
                  <a:srgbClr val="FFFFFF"/>
                </a:solidFill>
              </a:defRPr>
            </a:lvl1pPr>
          </a:lstStyle>
          <a:p>
            <a:endParaRPr lang="en-US" dirty="0"/>
          </a:p>
        </p:txBody>
      </p:sp>
      <p:sp>
        <p:nvSpPr>
          <p:cNvPr id="15" name="Slide Number Placeholder 5"/>
          <p:cNvSpPr>
            <a:spLocks noGrp="1"/>
          </p:cNvSpPr>
          <p:nvPr>
            <p:ph type="sldNum" sz="quarter" idx="4"/>
          </p:nvPr>
        </p:nvSpPr>
        <p:spPr>
          <a:xfrm>
            <a:off x="228193" y="6286903"/>
            <a:ext cx="527746" cy="365125"/>
          </a:xfrm>
          <a:prstGeom prst="rect">
            <a:avLst/>
          </a:prstGeom>
        </p:spPr>
        <p:txBody>
          <a:bodyPr vert="horz" lIns="91440" tIns="45720" rIns="91440" bIns="45720" rtlCol="0" anchor="ctr"/>
          <a:lstStyle>
            <a:lvl1pPr algn="r">
              <a:defRPr sz="1100">
                <a:solidFill>
                  <a:srgbClr val="FFFFFF"/>
                </a:solidFill>
              </a:defRPr>
            </a:lvl1pPr>
          </a:lstStyle>
          <a:p>
            <a:fld id="{87FD5303-69AD-2E4D-B18B-E5EED0F0A60B}" type="slidenum">
              <a:rPr lang="en-US" smtClean="0"/>
              <a:pPr/>
              <a:t>‹#›</a:t>
            </a:fld>
            <a:r>
              <a:rPr lang="en-US" dirty="0" smtClean="0"/>
              <a:t>  |  </a:t>
            </a:r>
            <a:endParaRPr lang="en-US" dirty="0"/>
          </a:p>
        </p:txBody>
      </p:sp>
      <p:pic>
        <p:nvPicPr>
          <p:cNvPr id="8" name="Picture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043333" y="107547"/>
            <a:ext cx="988202" cy="1139726"/>
          </a:xfrm>
          <a:prstGeom prst="rect">
            <a:avLst/>
          </a:prstGeom>
        </p:spPr>
      </p:pic>
    </p:spTree>
    <p:extLst>
      <p:ext uri="{BB962C8B-B14F-4D97-AF65-F5344CB8AC3E}">
        <p14:creationId xmlns:p14="http://schemas.microsoft.com/office/powerpoint/2010/main" val="2550090281"/>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3" name="Date Placeholder 3"/>
          <p:cNvSpPr>
            <a:spLocks noGrp="1"/>
          </p:cNvSpPr>
          <p:nvPr>
            <p:ph type="dt" sz="half" idx="10"/>
          </p:nvPr>
        </p:nvSpPr>
        <p:spPr>
          <a:xfrm>
            <a:off x="706329" y="6286903"/>
            <a:ext cx="851361" cy="365125"/>
          </a:xfrm>
          <a:prstGeom prst="rect">
            <a:avLst/>
          </a:prstGeom>
        </p:spPr>
        <p:txBody>
          <a:bodyPr vert="horz" lIns="91440" tIns="45720" rIns="91440" bIns="45720" rtlCol="0" anchor="ctr"/>
          <a:lstStyle>
            <a:lvl1pPr algn="l">
              <a:defRPr sz="1100">
                <a:solidFill>
                  <a:srgbClr val="FFFFFF"/>
                </a:solidFill>
              </a:defRPr>
            </a:lvl1pPr>
          </a:lstStyle>
          <a:p>
            <a:fld id="{5942B21B-2ADA-A040-A652-A7305E1B99FE}" type="datetimeFigureOut">
              <a:rPr lang="en-US" smtClean="0"/>
              <a:pPr/>
              <a:t>05/28/2015</a:t>
            </a:fld>
            <a:r>
              <a:rPr lang="en-US" dirty="0" smtClean="0"/>
              <a:t>  |</a:t>
            </a:r>
            <a:endParaRPr lang="en-US" dirty="0"/>
          </a:p>
        </p:txBody>
      </p:sp>
      <p:sp>
        <p:nvSpPr>
          <p:cNvPr id="14" name="Footer Placeholder 4"/>
          <p:cNvSpPr>
            <a:spLocks noGrp="1"/>
          </p:cNvSpPr>
          <p:nvPr>
            <p:ph type="ftr" sz="quarter" idx="3"/>
          </p:nvPr>
        </p:nvSpPr>
        <p:spPr>
          <a:xfrm>
            <a:off x="1420114" y="6286903"/>
            <a:ext cx="3153740" cy="365125"/>
          </a:xfrm>
          <a:prstGeom prst="rect">
            <a:avLst/>
          </a:prstGeom>
        </p:spPr>
        <p:txBody>
          <a:bodyPr vert="horz" lIns="91440" tIns="45720" rIns="91440" bIns="45720" rtlCol="0" anchor="ctr"/>
          <a:lstStyle>
            <a:lvl1pPr algn="l">
              <a:defRPr sz="1100">
                <a:solidFill>
                  <a:srgbClr val="FFFFFF"/>
                </a:solidFill>
              </a:defRPr>
            </a:lvl1pPr>
          </a:lstStyle>
          <a:p>
            <a:endParaRPr lang="en-US" dirty="0"/>
          </a:p>
        </p:txBody>
      </p:sp>
      <p:sp>
        <p:nvSpPr>
          <p:cNvPr id="15" name="Slide Number Placeholder 5"/>
          <p:cNvSpPr>
            <a:spLocks noGrp="1"/>
          </p:cNvSpPr>
          <p:nvPr>
            <p:ph type="sldNum" sz="quarter" idx="4"/>
          </p:nvPr>
        </p:nvSpPr>
        <p:spPr>
          <a:xfrm>
            <a:off x="228193" y="6286903"/>
            <a:ext cx="527746" cy="365125"/>
          </a:xfrm>
          <a:prstGeom prst="rect">
            <a:avLst/>
          </a:prstGeom>
        </p:spPr>
        <p:txBody>
          <a:bodyPr vert="horz" lIns="91440" tIns="45720" rIns="91440" bIns="45720" rtlCol="0" anchor="ctr"/>
          <a:lstStyle>
            <a:lvl1pPr algn="r">
              <a:defRPr sz="1100">
                <a:solidFill>
                  <a:srgbClr val="FFFFFF"/>
                </a:solidFill>
              </a:defRPr>
            </a:lvl1pPr>
          </a:lstStyle>
          <a:p>
            <a:fld id="{87FD5303-69AD-2E4D-B18B-E5EED0F0A60B}" type="slidenum">
              <a:rPr lang="en-US" smtClean="0"/>
              <a:pPr/>
              <a:t>‹#›</a:t>
            </a:fld>
            <a:r>
              <a:rPr lang="en-US" dirty="0" smtClean="0"/>
              <a:t>  |  </a:t>
            </a:r>
            <a:endParaRPr lang="en-US" dirty="0"/>
          </a:p>
        </p:txBody>
      </p:sp>
      <p:pic>
        <p:nvPicPr>
          <p:cNvPr id="8" name="Picture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043333" y="107547"/>
            <a:ext cx="988202" cy="1139726"/>
          </a:xfrm>
          <a:prstGeom prst="rect">
            <a:avLst/>
          </a:prstGeom>
        </p:spPr>
      </p:pic>
    </p:spTree>
    <p:extLst>
      <p:ext uri="{BB962C8B-B14F-4D97-AF65-F5344CB8AC3E}">
        <p14:creationId xmlns:p14="http://schemas.microsoft.com/office/powerpoint/2010/main" val="2241243239"/>
      </p:ext>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942B21B-2ADA-A040-A652-A7305E1B99FE}" type="datetimeFigureOut">
              <a:rPr lang="en-US" smtClean="0"/>
              <a:t>05/28/2015</a:t>
            </a:fld>
            <a:endParaRPr lang="en-US"/>
          </a:p>
        </p:txBody>
      </p:sp>
      <p:sp>
        <p:nvSpPr>
          <p:cNvPr id="12" name="Date Placeholder 3"/>
          <p:cNvSpPr txBox="1">
            <a:spLocks/>
          </p:cNvSpPr>
          <p:nvPr userDrawn="1"/>
        </p:nvSpPr>
        <p:spPr>
          <a:xfrm>
            <a:off x="706329" y="6286903"/>
            <a:ext cx="851361" cy="365125"/>
          </a:xfrm>
          <a:prstGeom prst="rect">
            <a:avLst/>
          </a:prstGeom>
        </p:spPr>
        <p:txBody>
          <a:bodyPr vert="horz" lIns="91440" tIns="45720" rIns="91440" bIns="45720" rtlCol="0" anchor="ctr"/>
          <a:lstStyle>
            <a:defPPr>
              <a:defRPr lang="en-US"/>
            </a:defPPr>
            <a:lvl1pPr marL="0" algn="l" defTabSz="457200" rtl="0" eaLnBrk="1" latinLnBrk="0" hangingPunct="1">
              <a:defRPr sz="1100" kern="120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5942B21B-2ADA-A040-A652-A7305E1B99FE}" type="datetimeFigureOut">
              <a:rPr lang="en-US" smtClean="0"/>
              <a:pPr/>
              <a:t>05/28/2015</a:t>
            </a:fld>
            <a:r>
              <a:rPr lang="en-US" smtClean="0"/>
              <a:t>  |</a:t>
            </a:r>
            <a:endParaRPr lang="en-US" dirty="0"/>
          </a:p>
        </p:txBody>
      </p:sp>
      <p:sp>
        <p:nvSpPr>
          <p:cNvPr id="13" name="Footer Placeholder 4"/>
          <p:cNvSpPr>
            <a:spLocks noGrp="1"/>
          </p:cNvSpPr>
          <p:nvPr>
            <p:ph type="ftr" sz="quarter" idx="3"/>
          </p:nvPr>
        </p:nvSpPr>
        <p:spPr>
          <a:xfrm>
            <a:off x="1420114" y="6286903"/>
            <a:ext cx="3153740" cy="365125"/>
          </a:xfrm>
          <a:prstGeom prst="rect">
            <a:avLst/>
          </a:prstGeom>
        </p:spPr>
        <p:txBody>
          <a:bodyPr vert="horz" lIns="91440" tIns="45720" rIns="91440" bIns="45720" rtlCol="0" anchor="ctr"/>
          <a:lstStyle>
            <a:lvl1pPr algn="l">
              <a:defRPr sz="1100">
                <a:solidFill>
                  <a:srgbClr val="FFFFFF"/>
                </a:solidFill>
              </a:defRPr>
            </a:lvl1pPr>
          </a:lstStyle>
          <a:p>
            <a:endParaRPr lang="en-US" dirty="0"/>
          </a:p>
        </p:txBody>
      </p:sp>
      <p:sp>
        <p:nvSpPr>
          <p:cNvPr id="14" name="Slide Number Placeholder 5"/>
          <p:cNvSpPr>
            <a:spLocks noGrp="1"/>
          </p:cNvSpPr>
          <p:nvPr>
            <p:ph type="sldNum" sz="quarter" idx="4"/>
          </p:nvPr>
        </p:nvSpPr>
        <p:spPr>
          <a:xfrm>
            <a:off x="228193" y="6286903"/>
            <a:ext cx="527746" cy="365125"/>
          </a:xfrm>
          <a:prstGeom prst="rect">
            <a:avLst/>
          </a:prstGeom>
        </p:spPr>
        <p:txBody>
          <a:bodyPr vert="horz" lIns="91440" tIns="45720" rIns="91440" bIns="45720" rtlCol="0" anchor="ctr"/>
          <a:lstStyle>
            <a:lvl1pPr algn="r">
              <a:defRPr sz="1100">
                <a:solidFill>
                  <a:srgbClr val="FFFFFF"/>
                </a:solidFill>
              </a:defRPr>
            </a:lvl1pPr>
          </a:lstStyle>
          <a:p>
            <a:fld id="{87FD5303-69AD-2E4D-B18B-E5EED0F0A60B}" type="slidenum">
              <a:rPr lang="en-US" smtClean="0"/>
              <a:pPr/>
              <a:t>‹#›</a:t>
            </a:fld>
            <a:r>
              <a:rPr lang="en-US" dirty="0" smtClean="0"/>
              <a:t>  |  </a:t>
            </a:r>
            <a:endParaRPr lang="en-US" dirty="0"/>
          </a:p>
        </p:txBody>
      </p:sp>
      <p:cxnSp>
        <p:nvCxnSpPr>
          <p:cNvPr id="15" name="Straight Connector 14"/>
          <p:cNvCxnSpPr/>
          <p:nvPr userDrawn="1"/>
        </p:nvCxnSpPr>
        <p:spPr>
          <a:xfrm>
            <a:off x="536576" y="1299672"/>
            <a:ext cx="8686800" cy="0"/>
          </a:xfrm>
          <a:prstGeom prst="line">
            <a:avLst/>
          </a:prstGeom>
          <a:ln w="12700">
            <a:solidFill>
              <a:schemeClr val="accent2"/>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91735388"/>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2" name="Date Placeholder 3"/>
          <p:cNvSpPr>
            <a:spLocks noGrp="1"/>
          </p:cNvSpPr>
          <p:nvPr>
            <p:ph type="dt" sz="half" idx="2"/>
          </p:nvPr>
        </p:nvSpPr>
        <p:spPr>
          <a:xfrm>
            <a:off x="706329" y="6286903"/>
            <a:ext cx="851361" cy="365125"/>
          </a:xfrm>
          <a:prstGeom prst="rect">
            <a:avLst/>
          </a:prstGeom>
        </p:spPr>
        <p:txBody>
          <a:bodyPr vert="horz" lIns="91440" tIns="45720" rIns="91440" bIns="45720" rtlCol="0" anchor="ctr"/>
          <a:lstStyle>
            <a:lvl1pPr algn="l">
              <a:defRPr sz="1100">
                <a:solidFill>
                  <a:srgbClr val="FFFFFF"/>
                </a:solidFill>
              </a:defRPr>
            </a:lvl1pPr>
          </a:lstStyle>
          <a:p>
            <a:fld id="{5942B21B-2ADA-A040-A652-A7305E1B99FE}" type="datetimeFigureOut">
              <a:rPr lang="en-US" smtClean="0"/>
              <a:pPr/>
              <a:t>05/28/2015</a:t>
            </a:fld>
            <a:r>
              <a:rPr lang="en-US" dirty="0" smtClean="0"/>
              <a:t>  |</a:t>
            </a:r>
            <a:endParaRPr lang="en-US" dirty="0"/>
          </a:p>
        </p:txBody>
      </p:sp>
      <p:sp>
        <p:nvSpPr>
          <p:cNvPr id="13" name="Footer Placeholder 4"/>
          <p:cNvSpPr>
            <a:spLocks noGrp="1"/>
          </p:cNvSpPr>
          <p:nvPr>
            <p:ph type="ftr" sz="quarter" idx="3"/>
          </p:nvPr>
        </p:nvSpPr>
        <p:spPr>
          <a:xfrm>
            <a:off x="1420114" y="6286903"/>
            <a:ext cx="3153740" cy="365125"/>
          </a:xfrm>
          <a:prstGeom prst="rect">
            <a:avLst/>
          </a:prstGeom>
        </p:spPr>
        <p:txBody>
          <a:bodyPr vert="horz" lIns="91440" tIns="45720" rIns="91440" bIns="45720" rtlCol="0" anchor="ctr"/>
          <a:lstStyle>
            <a:lvl1pPr algn="l">
              <a:defRPr sz="1100">
                <a:solidFill>
                  <a:srgbClr val="FFFFFF"/>
                </a:solidFill>
              </a:defRPr>
            </a:lvl1pPr>
          </a:lstStyle>
          <a:p>
            <a:endParaRPr lang="en-US" dirty="0"/>
          </a:p>
        </p:txBody>
      </p:sp>
      <p:sp>
        <p:nvSpPr>
          <p:cNvPr id="14" name="Slide Number Placeholder 5"/>
          <p:cNvSpPr>
            <a:spLocks noGrp="1"/>
          </p:cNvSpPr>
          <p:nvPr>
            <p:ph type="sldNum" sz="quarter" idx="4"/>
          </p:nvPr>
        </p:nvSpPr>
        <p:spPr>
          <a:xfrm>
            <a:off x="228193" y="6286903"/>
            <a:ext cx="527746" cy="365125"/>
          </a:xfrm>
          <a:prstGeom prst="rect">
            <a:avLst/>
          </a:prstGeom>
        </p:spPr>
        <p:txBody>
          <a:bodyPr vert="horz" lIns="91440" tIns="45720" rIns="91440" bIns="45720" rtlCol="0" anchor="ctr"/>
          <a:lstStyle>
            <a:lvl1pPr algn="r">
              <a:defRPr sz="1100">
                <a:solidFill>
                  <a:srgbClr val="FFFFFF"/>
                </a:solidFill>
              </a:defRPr>
            </a:lvl1pPr>
          </a:lstStyle>
          <a:p>
            <a:fld id="{87FD5303-69AD-2E4D-B18B-E5EED0F0A60B}" type="slidenum">
              <a:rPr lang="en-US" smtClean="0"/>
              <a:pPr/>
              <a:t>‹#›</a:t>
            </a:fld>
            <a:r>
              <a:rPr lang="en-US" dirty="0" smtClean="0"/>
              <a:t>  |  </a:t>
            </a:r>
            <a:endParaRPr lang="en-US" dirty="0"/>
          </a:p>
        </p:txBody>
      </p:sp>
    </p:spTree>
    <p:extLst>
      <p:ext uri="{BB962C8B-B14F-4D97-AF65-F5344CB8AC3E}">
        <p14:creationId xmlns:p14="http://schemas.microsoft.com/office/powerpoint/2010/main" val="4072754034"/>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3" name="Picture 12"/>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106728" y="6072791"/>
            <a:ext cx="9143995" cy="795130"/>
          </a:xfrm>
          <a:prstGeom prst="rect">
            <a:avLst/>
          </a:prstGeom>
        </p:spPr>
      </p:pic>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06329" y="6286903"/>
            <a:ext cx="851361" cy="365125"/>
          </a:xfrm>
          <a:prstGeom prst="rect">
            <a:avLst/>
          </a:prstGeom>
        </p:spPr>
        <p:txBody>
          <a:bodyPr vert="horz" lIns="91440" tIns="45720" rIns="91440" bIns="45720" rtlCol="0" anchor="ctr"/>
          <a:lstStyle>
            <a:lvl1pPr algn="l">
              <a:defRPr sz="1100">
                <a:solidFill>
                  <a:srgbClr val="FFFFFF"/>
                </a:solidFill>
              </a:defRPr>
            </a:lvl1pPr>
          </a:lstStyle>
          <a:p>
            <a:fld id="{5942B21B-2ADA-A040-A652-A7305E1B99FE}" type="datetimeFigureOut">
              <a:rPr lang="en-US" smtClean="0"/>
              <a:pPr/>
              <a:t>05/28/2015</a:t>
            </a:fld>
            <a:r>
              <a:rPr lang="en-US" dirty="0" smtClean="0"/>
              <a:t>  |</a:t>
            </a:r>
            <a:endParaRPr lang="en-US" dirty="0"/>
          </a:p>
        </p:txBody>
      </p:sp>
      <p:sp>
        <p:nvSpPr>
          <p:cNvPr id="5" name="Footer Placeholder 4"/>
          <p:cNvSpPr>
            <a:spLocks noGrp="1"/>
          </p:cNvSpPr>
          <p:nvPr>
            <p:ph type="ftr" sz="quarter" idx="3"/>
          </p:nvPr>
        </p:nvSpPr>
        <p:spPr>
          <a:xfrm>
            <a:off x="1420114" y="6286903"/>
            <a:ext cx="3153740" cy="365125"/>
          </a:xfrm>
          <a:prstGeom prst="rect">
            <a:avLst/>
          </a:prstGeom>
        </p:spPr>
        <p:txBody>
          <a:bodyPr vert="horz" lIns="91440" tIns="45720" rIns="91440" bIns="45720" rtlCol="0" anchor="ctr"/>
          <a:lstStyle>
            <a:lvl1pPr algn="l">
              <a:defRPr sz="1100">
                <a:solidFill>
                  <a:srgbClr val="FFFFFF"/>
                </a:solidFill>
              </a:defRPr>
            </a:lvl1pPr>
          </a:lstStyle>
          <a:p>
            <a:endParaRPr lang="en-US" dirty="0"/>
          </a:p>
        </p:txBody>
      </p:sp>
      <p:sp>
        <p:nvSpPr>
          <p:cNvPr id="6" name="Slide Number Placeholder 5"/>
          <p:cNvSpPr>
            <a:spLocks noGrp="1"/>
          </p:cNvSpPr>
          <p:nvPr>
            <p:ph type="sldNum" sz="quarter" idx="4"/>
          </p:nvPr>
        </p:nvSpPr>
        <p:spPr>
          <a:xfrm>
            <a:off x="228193" y="6286903"/>
            <a:ext cx="527746" cy="365125"/>
          </a:xfrm>
          <a:prstGeom prst="rect">
            <a:avLst/>
          </a:prstGeom>
        </p:spPr>
        <p:txBody>
          <a:bodyPr vert="horz" lIns="91440" tIns="45720" rIns="91440" bIns="45720" rtlCol="0" anchor="ctr"/>
          <a:lstStyle>
            <a:lvl1pPr algn="r">
              <a:defRPr sz="1100">
                <a:solidFill>
                  <a:srgbClr val="FFFFFF"/>
                </a:solidFill>
              </a:defRPr>
            </a:lvl1pPr>
          </a:lstStyle>
          <a:p>
            <a:fld id="{87FD5303-69AD-2E4D-B18B-E5EED0F0A60B}" type="slidenum">
              <a:rPr lang="en-US" smtClean="0"/>
              <a:pPr/>
              <a:t>‹#›</a:t>
            </a:fld>
            <a:r>
              <a:rPr lang="en-US" dirty="0" smtClean="0"/>
              <a:t>  |  </a:t>
            </a:r>
            <a:endParaRPr lang="en-US" dirty="0"/>
          </a:p>
        </p:txBody>
      </p:sp>
      <p:sp>
        <p:nvSpPr>
          <p:cNvPr id="7" name="TextBox 6"/>
          <p:cNvSpPr txBox="1"/>
          <p:nvPr/>
        </p:nvSpPr>
        <p:spPr>
          <a:xfrm>
            <a:off x="1260044" y="1220302"/>
            <a:ext cx="184666" cy="369332"/>
          </a:xfrm>
          <a:prstGeom prst="rect">
            <a:avLst/>
          </a:prstGeom>
          <a:noFill/>
        </p:spPr>
        <p:txBody>
          <a:bodyPr wrap="none" rtlCol="0">
            <a:spAutoFit/>
          </a:bodyPr>
          <a:lstStyle/>
          <a:p>
            <a:endParaRPr lang="en-US" dirty="0"/>
          </a:p>
        </p:txBody>
      </p:sp>
      <p:pic>
        <p:nvPicPr>
          <p:cNvPr id="8" name="Picture 7"/>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6823032" y="5772546"/>
            <a:ext cx="2247900" cy="1095375"/>
          </a:xfrm>
          <a:prstGeom prst="rect">
            <a:avLst/>
          </a:prstGeom>
        </p:spPr>
      </p:pic>
      <p:pic>
        <p:nvPicPr>
          <p:cNvPr id="11" name="Picture 10"/>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a:off x="8043333" y="107547"/>
            <a:ext cx="988202" cy="1139726"/>
          </a:xfrm>
          <a:prstGeom prst="rect">
            <a:avLst/>
          </a:prstGeom>
        </p:spPr>
      </p:pic>
    </p:spTree>
    <p:extLst>
      <p:ext uri="{BB962C8B-B14F-4D97-AF65-F5344CB8AC3E}">
        <p14:creationId xmlns:p14="http://schemas.microsoft.com/office/powerpoint/2010/main" val="51776669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iming>
    <p:tnLst>
      <p:par>
        <p:cTn id="1" dur="indefinite" restart="never" nodeType="tmRoot"/>
      </p:par>
    </p:tnLst>
  </p:timing>
  <p:txStyles>
    <p:titleStyle>
      <a:lvl1pPr algn="l" defTabSz="457200" rtl="0" eaLnBrk="1" latinLnBrk="0" hangingPunct="1">
        <a:spcBef>
          <a:spcPct val="0"/>
        </a:spcBef>
        <a:buNone/>
        <a:defRPr sz="3600" kern="1200">
          <a:solidFill>
            <a:schemeClr val="accent1"/>
          </a:solidFill>
          <a:latin typeface="+mj-lt"/>
          <a:ea typeface="+mj-ea"/>
          <a:cs typeface="+mj-cs"/>
        </a:defRPr>
      </a:lvl1pPr>
    </p:titleStyle>
    <p:bodyStyle>
      <a:lvl1pPr marL="342900" indent="-342900" algn="l" defTabSz="457200" rtl="0" eaLnBrk="1" latinLnBrk="0" hangingPunct="1">
        <a:spcBef>
          <a:spcPct val="20000"/>
        </a:spcBef>
        <a:buFont typeface="Wingdings" charset="2"/>
        <a:buChar char="§"/>
        <a:defRPr sz="3000" kern="1200">
          <a:solidFill>
            <a:schemeClr val="tx2"/>
          </a:solidFill>
          <a:latin typeface="+mn-lt"/>
          <a:ea typeface="+mn-ea"/>
          <a:cs typeface="+mn-cs"/>
        </a:defRPr>
      </a:lvl1pPr>
      <a:lvl2pPr marL="742950" indent="-285750" algn="l" defTabSz="457200" rtl="0" eaLnBrk="1" latinLnBrk="0" hangingPunct="1">
        <a:spcBef>
          <a:spcPct val="20000"/>
        </a:spcBef>
        <a:buFont typeface="Wingdings" charset="2"/>
        <a:buChar char="§"/>
        <a:defRPr sz="2600" kern="1200">
          <a:solidFill>
            <a:schemeClr val="tx2"/>
          </a:solidFill>
          <a:latin typeface="+mn-lt"/>
          <a:ea typeface="+mn-ea"/>
          <a:cs typeface="+mn-cs"/>
        </a:defRPr>
      </a:lvl2pPr>
      <a:lvl3pPr marL="1143000" indent="-228600" algn="l" defTabSz="457200" rtl="0" eaLnBrk="1" latinLnBrk="0" hangingPunct="1">
        <a:spcBef>
          <a:spcPct val="20000"/>
        </a:spcBef>
        <a:buFont typeface="Wingdings" charset="2"/>
        <a:buChar char="§"/>
        <a:defRPr sz="2200" kern="1200">
          <a:solidFill>
            <a:schemeClr val="tx2"/>
          </a:solidFill>
          <a:latin typeface="+mn-lt"/>
          <a:ea typeface="+mn-ea"/>
          <a:cs typeface="+mn-cs"/>
        </a:defRPr>
      </a:lvl3pPr>
      <a:lvl4pPr marL="1600200" indent="-228600" algn="l" defTabSz="457200" rtl="0" eaLnBrk="1" latinLnBrk="0" hangingPunct="1">
        <a:spcBef>
          <a:spcPct val="20000"/>
        </a:spcBef>
        <a:buFont typeface="Wingdings" charset="2"/>
        <a:buChar char="§"/>
        <a:defRPr sz="2000" kern="1200">
          <a:solidFill>
            <a:schemeClr val="tx2"/>
          </a:solidFill>
          <a:latin typeface="+mn-lt"/>
          <a:ea typeface="+mn-ea"/>
          <a:cs typeface="+mn-cs"/>
        </a:defRPr>
      </a:lvl4pPr>
      <a:lvl5pPr marL="2057400" indent="-228600" algn="l" defTabSz="457200" rtl="0" eaLnBrk="1" latinLnBrk="0" hangingPunct="1">
        <a:spcBef>
          <a:spcPct val="20000"/>
        </a:spcBef>
        <a:buFont typeface="Wingdings" charset="2"/>
        <a:buChar char="§"/>
        <a:defRPr sz="1800" kern="1200">
          <a:solidFill>
            <a:schemeClr val="tx2"/>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16.png"/><Relationship Id="rId3" Type="http://schemas.openxmlformats.org/officeDocument/2006/relationships/image" Target="../media/image6.png"/><Relationship Id="rId7" Type="http://schemas.openxmlformats.org/officeDocument/2006/relationships/image" Target="../media/image10.png"/><Relationship Id="rId12" Type="http://schemas.openxmlformats.org/officeDocument/2006/relationships/image" Target="../media/image15.png"/><Relationship Id="rId2" Type="http://schemas.openxmlformats.org/officeDocument/2006/relationships/notesSlide" Target="../notesSlides/notesSlide1.xml"/><Relationship Id="rId1" Type="http://schemas.openxmlformats.org/officeDocument/2006/relationships/slideLayout" Target="../slideLayouts/slideLayout6.xml"/><Relationship Id="rId6" Type="http://schemas.openxmlformats.org/officeDocument/2006/relationships/image" Target="../media/image9.jpeg"/><Relationship Id="rId11" Type="http://schemas.openxmlformats.org/officeDocument/2006/relationships/image" Target="../media/image14.png"/><Relationship Id="rId5" Type="http://schemas.openxmlformats.org/officeDocument/2006/relationships/image" Target="../media/image8.png"/><Relationship Id="rId15" Type="http://schemas.openxmlformats.org/officeDocument/2006/relationships/image" Target="../media/image18.png"/><Relationship Id="rId10" Type="http://schemas.openxmlformats.org/officeDocument/2006/relationships/image" Target="../media/image13.jpeg"/><Relationship Id="rId4" Type="http://schemas.openxmlformats.org/officeDocument/2006/relationships/image" Target="../media/image7.png"/><Relationship Id="rId9" Type="http://schemas.openxmlformats.org/officeDocument/2006/relationships/image" Target="../media/image12.gif"/><Relationship Id="rId14" Type="http://schemas.openxmlformats.org/officeDocument/2006/relationships/image" Target="../media/image17.png"/></Relationships>
</file>

<file path=ppt/slides/_rels/slide3.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hyperlink" Target="http://www.dotnine.nl/" TargetMode="External"/><Relationship Id="rId2" Type="http://schemas.openxmlformats.org/officeDocument/2006/relationships/image" Target="../media/image19.jpg"/><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hyperlink" Target="https://twitter.com/evdlaar" TargetMode="External"/><Relationship Id="rId4" Type="http://schemas.openxmlformats.org/officeDocument/2006/relationships/image" Target="../media/image2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5.xml"/><Relationship Id="rId1" Type="http://schemas.openxmlformats.org/officeDocument/2006/relationships/slideLayout" Target="../slideLayouts/slideLayout4.xml"/><Relationship Id="rId4" Type="http://schemas.openxmlformats.org/officeDocument/2006/relationships/image" Target="../media/image3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16.png"/><Relationship Id="rId3" Type="http://schemas.openxmlformats.org/officeDocument/2006/relationships/image" Target="../media/image6.png"/><Relationship Id="rId7" Type="http://schemas.openxmlformats.org/officeDocument/2006/relationships/image" Target="../media/image10.png"/><Relationship Id="rId12"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6.xml"/><Relationship Id="rId6" Type="http://schemas.openxmlformats.org/officeDocument/2006/relationships/image" Target="../media/image9.jpeg"/><Relationship Id="rId11" Type="http://schemas.openxmlformats.org/officeDocument/2006/relationships/image" Target="../media/image14.png"/><Relationship Id="rId5" Type="http://schemas.openxmlformats.org/officeDocument/2006/relationships/image" Target="../media/image8.png"/><Relationship Id="rId15" Type="http://schemas.openxmlformats.org/officeDocument/2006/relationships/image" Target="../media/image18.png"/><Relationship Id="rId10" Type="http://schemas.openxmlformats.org/officeDocument/2006/relationships/image" Target="../media/image13.jpeg"/><Relationship Id="rId4" Type="http://schemas.openxmlformats.org/officeDocument/2006/relationships/image" Target="../media/image7.png"/><Relationship Id="rId9" Type="http://schemas.openxmlformats.org/officeDocument/2006/relationships/image" Target="../media/image12.gif"/><Relationship Id="rId14" Type="http://schemas.openxmlformats.org/officeDocument/2006/relationships/image" Target="../media/image1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4800" dirty="0" smtClean="0"/>
              <a:t>Memory-Optimized Tables</a:t>
            </a:r>
            <a:endParaRPr lang="en-US" sz="4800" dirty="0"/>
          </a:p>
        </p:txBody>
      </p:sp>
      <p:sp>
        <p:nvSpPr>
          <p:cNvPr id="3" name="Subtitle 2"/>
          <p:cNvSpPr>
            <a:spLocks noGrp="1"/>
          </p:cNvSpPr>
          <p:nvPr>
            <p:ph type="subTitle" idx="1"/>
          </p:nvPr>
        </p:nvSpPr>
        <p:spPr/>
        <p:txBody>
          <a:bodyPr/>
          <a:lstStyle/>
          <a:p>
            <a:r>
              <a:rPr lang="pt-BR" i="1" dirty="0" smtClean="0"/>
              <a:t>Querying at the speed of light</a:t>
            </a:r>
            <a:endParaRPr lang="en-US" i="1" dirty="0"/>
          </a:p>
        </p:txBody>
      </p:sp>
    </p:spTree>
    <p:extLst>
      <p:ext uri="{BB962C8B-B14F-4D97-AF65-F5344CB8AC3E}">
        <p14:creationId xmlns:p14="http://schemas.microsoft.com/office/powerpoint/2010/main" val="326067867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2892" y="363571"/>
            <a:ext cx="8229600" cy="1143000"/>
          </a:xfrm>
        </p:spPr>
        <p:txBody>
          <a:bodyPr/>
          <a:lstStyle/>
          <a:p>
            <a:r>
              <a:rPr lang="en-US" dirty="0" smtClean="0"/>
              <a:t>Sponsors</a:t>
            </a:r>
            <a:endParaRPr lang="pt-BR" dirty="0"/>
          </a:p>
        </p:txBody>
      </p:sp>
      <p:pic>
        <p:nvPicPr>
          <p:cNvPr id="1026" name="Picture 2" descr="C:\Users\Public\Pictures\SQLSaturday\MS\MSFT_logo_rgb_C-Gray.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0040" y="1629742"/>
            <a:ext cx="2662907" cy="979399"/>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p:cNvPicPr>
            <a:picLocks noChangeAspect="1"/>
          </p:cNvPicPr>
          <p:nvPr/>
        </p:nvPicPr>
        <p:blipFill>
          <a:blip r:embed="rId4"/>
          <a:stretch>
            <a:fillRect/>
          </a:stretch>
        </p:blipFill>
        <p:spPr>
          <a:xfrm>
            <a:off x="6691910" y="1453548"/>
            <a:ext cx="1538476" cy="1323230"/>
          </a:xfrm>
          <a:prstGeom prst="rect">
            <a:avLst/>
          </a:prstGeom>
        </p:spPr>
      </p:pic>
      <p:pic>
        <p:nvPicPr>
          <p:cNvPr id="1030" name="Picture 6" descr="http://media.infragistics.com/community/SQLSaturday/icn-logo-170x60.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94797" y="2796748"/>
            <a:ext cx="2189678" cy="772830"/>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14" descr="http://www.sqlmasteracademy.com/files/image/sqlmalogo170x60pxv_2.jp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910432" y="9862252"/>
            <a:ext cx="1619250" cy="571501"/>
          </a:xfrm>
          <a:prstGeom prst="rect">
            <a:avLst/>
          </a:prstGeom>
          <a:noFill/>
          <a:extLst>
            <a:ext uri="{909E8E84-426E-40DD-AFC4-6F175D3DCCD1}">
              <a14:hiddenFill xmlns:a14="http://schemas.microsoft.com/office/drawing/2010/main">
                <a:solidFill>
                  <a:srgbClr val="FFFFFF"/>
                </a:solidFill>
              </a14:hiddenFill>
            </a:ext>
          </a:extLst>
        </p:spPr>
      </p:pic>
      <p:pic>
        <p:nvPicPr>
          <p:cNvPr id="1040" name="Picture 16" descr="http://media.infragistics.com/community/SQLSaturday/mentormate-logo.png"/>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303016" y="1719830"/>
            <a:ext cx="2414470" cy="852167"/>
          </a:xfrm>
          <a:prstGeom prst="rect">
            <a:avLst/>
          </a:prstGeom>
          <a:noFill/>
          <a:extLst>
            <a:ext uri="{909E8E84-426E-40DD-AFC4-6F175D3DCCD1}">
              <a14:hiddenFill xmlns:a14="http://schemas.microsoft.com/office/drawing/2010/main">
                <a:solidFill>
                  <a:srgbClr val="FFFFFF"/>
                </a:solidFill>
              </a14:hiddenFill>
            </a:ext>
          </a:extLst>
        </p:spPr>
      </p:pic>
      <p:pic>
        <p:nvPicPr>
          <p:cNvPr id="1044" name="Picture 20" descr="http://s.pluralsight.com/mn/img/logo/pluralsight-fullcolor-175x39-v1.png"/>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546579" y="5398297"/>
            <a:ext cx="1348032" cy="300419"/>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 descr="Adastra"/>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55575" y="-144463"/>
            <a:ext cx="2628900" cy="304801"/>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4367905" y="3427765"/>
            <a:ext cx="9525" cy="9525"/>
          </a:xfrm>
          <a:prstGeom prst="rect">
            <a:avLst/>
          </a:prstGeom>
        </p:spPr>
      </p:pic>
      <p:pic>
        <p:nvPicPr>
          <p:cNvPr id="1028" name="Picture 4" descr="http://media.infragistics.com/community/SQLSaturday/adastra-170x60.jpg"/>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81608" y="4149387"/>
            <a:ext cx="1688123" cy="556088"/>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6" descr="https://www.wintellectnow.com/assets/img/winnow-logo-cropped.png"/>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94797" y="5285284"/>
            <a:ext cx="1112926" cy="526446"/>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http://media.infragistics.com/community/SQLSaturday/ApexSQL_Logo%20png.png"/>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345453" y="5353972"/>
            <a:ext cx="1653546" cy="389070"/>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SBTECH"/>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546579" y="2995237"/>
            <a:ext cx="1683807" cy="594286"/>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4" descr="Cozy Roc"/>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582380" y="3019917"/>
            <a:ext cx="2063588" cy="505035"/>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6" descr="GymRealm Technology AD"/>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634781" y="4158483"/>
            <a:ext cx="1485297" cy="524223"/>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p:cNvSpPr txBox="1"/>
          <p:nvPr/>
        </p:nvSpPr>
        <p:spPr>
          <a:xfrm>
            <a:off x="527538" y="1442135"/>
            <a:ext cx="1978270" cy="369332"/>
          </a:xfrm>
          <a:prstGeom prst="rect">
            <a:avLst/>
          </a:prstGeom>
          <a:noFill/>
        </p:spPr>
        <p:txBody>
          <a:bodyPr wrap="square" rtlCol="0">
            <a:spAutoFit/>
          </a:bodyPr>
          <a:lstStyle/>
          <a:p>
            <a:r>
              <a:rPr lang="en-US" dirty="0" smtClean="0"/>
              <a:t>Gold Sponsors:</a:t>
            </a:r>
            <a:endParaRPr lang="en-US" dirty="0"/>
          </a:p>
        </p:txBody>
      </p:sp>
      <p:sp>
        <p:nvSpPr>
          <p:cNvPr id="26" name="TextBox 25"/>
          <p:cNvSpPr txBox="1"/>
          <p:nvPr/>
        </p:nvSpPr>
        <p:spPr>
          <a:xfrm>
            <a:off x="480889" y="3659437"/>
            <a:ext cx="2227141" cy="369332"/>
          </a:xfrm>
          <a:prstGeom prst="rect">
            <a:avLst/>
          </a:prstGeom>
          <a:noFill/>
        </p:spPr>
        <p:txBody>
          <a:bodyPr wrap="square" rtlCol="0">
            <a:spAutoFit/>
          </a:bodyPr>
          <a:lstStyle/>
          <a:p>
            <a:r>
              <a:rPr lang="en-US" dirty="0" smtClean="0"/>
              <a:t>Bronze Sponsors:</a:t>
            </a:r>
            <a:endParaRPr lang="en-US" dirty="0"/>
          </a:p>
        </p:txBody>
      </p:sp>
      <p:sp>
        <p:nvSpPr>
          <p:cNvPr id="27" name="TextBox 26"/>
          <p:cNvSpPr txBox="1"/>
          <p:nvPr/>
        </p:nvSpPr>
        <p:spPr>
          <a:xfrm>
            <a:off x="527538" y="4810713"/>
            <a:ext cx="2227141" cy="369332"/>
          </a:xfrm>
          <a:prstGeom prst="rect">
            <a:avLst/>
          </a:prstGeom>
          <a:noFill/>
        </p:spPr>
        <p:txBody>
          <a:bodyPr wrap="square" rtlCol="0">
            <a:spAutoFit/>
          </a:bodyPr>
          <a:lstStyle/>
          <a:p>
            <a:r>
              <a:rPr lang="en-US" dirty="0" smtClean="0"/>
              <a:t>Swag Sponsors:</a:t>
            </a:r>
            <a:endParaRPr lang="en-US" dirty="0"/>
          </a:p>
        </p:txBody>
      </p:sp>
    </p:spTree>
    <p:extLst>
      <p:ext uri="{BB962C8B-B14F-4D97-AF65-F5344CB8AC3E}">
        <p14:creationId xmlns:p14="http://schemas.microsoft.com/office/powerpoint/2010/main" val="226593851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itle 17"/>
          <p:cNvSpPr>
            <a:spLocks noGrp="1"/>
          </p:cNvSpPr>
          <p:nvPr>
            <p:ph type="title"/>
          </p:nvPr>
        </p:nvSpPr>
        <p:spPr/>
        <p:txBody>
          <a:bodyPr/>
          <a:lstStyle/>
          <a:p>
            <a:r>
              <a:rPr lang="en-US" dirty="0"/>
              <a:t>About me</a:t>
            </a:r>
          </a:p>
        </p:txBody>
      </p:sp>
      <p:sp>
        <p:nvSpPr>
          <p:cNvPr id="19" name="Content Placeholder 18"/>
          <p:cNvSpPr>
            <a:spLocks noGrp="1"/>
          </p:cNvSpPr>
          <p:nvPr>
            <p:ph idx="1"/>
          </p:nvPr>
        </p:nvSpPr>
        <p:spPr/>
        <p:txBody>
          <a:bodyPr>
            <a:normAutofit/>
          </a:bodyPr>
          <a:lstStyle/>
          <a:p>
            <a:r>
              <a:rPr lang="nl-NL" dirty="0" smtClean="0"/>
              <a:t>Enrico van de Laar</a:t>
            </a:r>
          </a:p>
          <a:p>
            <a:r>
              <a:rPr lang="nl-NL" dirty="0" smtClean="0"/>
              <a:t>Microsoft SQL Server MVP</a:t>
            </a:r>
          </a:p>
          <a:p>
            <a:r>
              <a:rPr lang="nl-NL" dirty="0" smtClean="0"/>
              <a:t>Database Technology Specialist</a:t>
            </a:r>
          </a:p>
          <a:p>
            <a:r>
              <a:rPr lang="nl-NL" dirty="0" err="1" smtClean="0"/>
              <a:t>Blogger</a:t>
            </a:r>
            <a:endParaRPr lang="nl-NL" dirty="0" smtClean="0"/>
          </a:p>
          <a:p>
            <a:r>
              <a:rPr lang="nl-NL" dirty="0" smtClean="0"/>
              <a:t>Author</a:t>
            </a:r>
            <a:endParaRPr lang="en-US" dirty="0"/>
          </a:p>
        </p:txBody>
      </p:sp>
      <p:sp>
        <p:nvSpPr>
          <p:cNvPr id="22" name="Slide Number Placeholder 5"/>
          <p:cNvSpPr txBox="1">
            <a:spLocks/>
          </p:cNvSpPr>
          <p:nvPr/>
        </p:nvSpPr>
        <p:spPr>
          <a:xfrm>
            <a:off x="228193" y="6286903"/>
            <a:ext cx="527746" cy="365125"/>
          </a:xfrm>
          <a:prstGeom prst="rect">
            <a:avLst/>
          </a:prstGeom>
        </p:spPr>
        <p:txBody>
          <a:bodyPr vert="horz" lIns="91440" tIns="45720" rIns="91440" bIns="45720" rtlCol="0" anchor="ctr"/>
          <a:lstStyle>
            <a:defPPr>
              <a:defRPr lang="en-US"/>
            </a:defPPr>
            <a:lvl1pPr marL="0" algn="r" defTabSz="457200" rtl="0" eaLnBrk="1" latinLnBrk="0" hangingPunct="1">
              <a:defRPr sz="1100" kern="120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87FD5303-69AD-2E4D-B18B-E5EED0F0A60B}" type="slidenum">
              <a:rPr lang="en-US" smtClean="0"/>
              <a:pPr/>
              <a:t>3</a:t>
            </a:fld>
            <a:r>
              <a:rPr lang="en-US" smtClean="0"/>
              <a:t>  |  </a:t>
            </a:r>
            <a:endParaRPr lang="en-US"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09759" y="2324102"/>
            <a:ext cx="2001691" cy="3033130"/>
          </a:xfrm>
          <a:prstGeom prst="rect">
            <a:avLst/>
          </a:prstGeom>
        </p:spPr>
      </p:pic>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887172" y="1600200"/>
            <a:ext cx="914402" cy="1447803"/>
          </a:xfrm>
          <a:prstGeom prst="rect">
            <a:avLst/>
          </a:prstGeom>
        </p:spPr>
      </p:pic>
      <p:pic>
        <p:nvPicPr>
          <p:cNvPr id="7" name="Picture 4" descr="http://dublincore.org/images/twitter.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3194" y="4873645"/>
            <a:ext cx="576470" cy="576470"/>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p:cNvSpPr txBox="1"/>
          <p:nvPr/>
        </p:nvSpPr>
        <p:spPr>
          <a:xfrm>
            <a:off x="939664" y="4968204"/>
            <a:ext cx="2199860" cy="400110"/>
          </a:xfrm>
          <a:prstGeom prst="rect">
            <a:avLst/>
          </a:prstGeom>
          <a:noFill/>
        </p:spPr>
        <p:txBody>
          <a:bodyPr wrap="square" rtlCol="0">
            <a:spAutoFit/>
          </a:bodyPr>
          <a:lstStyle/>
          <a:p>
            <a:r>
              <a:rPr lang="en-US" sz="2000" dirty="0" smtClean="0">
                <a:hlinkClick r:id="rId5"/>
              </a:rPr>
              <a:t>@evdlaar</a:t>
            </a:r>
            <a:endParaRPr lang="nl-NL" sz="2000" dirty="0"/>
          </a:p>
        </p:txBody>
      </p:sp>
      <p:pic>
        <p:nvPicPr>
          <p:cNvPr id="9" name="Picture 6" descr="http://upload.wikimedia.org/wikipedia/commons/thumb/7/70/Applications-internet.svg/250px-Applications-internet.svg.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31905" y="5450115"/>
            <a:ext cx="439048" cy="439048"/>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p:cNvSpPr txBox="1"/>
          <p:nvPr/>
        </p:nvSpPr>
        <p:spPr>
          <a:xfrm>
            <a:off x="935489" y="5450115"/>
            <a:ext cx="2561844" cy="400110"/>
          </a:xfrm>
          <a:prstGeom prst="rect">
            <a:avLst/>
          </a:prstGeom>
          <a:noFill/>
        </p:spPr>
        <p:txBody>
          <a:bodyPr wrap="square" rtlCol="0">
            <a:spAutoFit/>
          </a:bodyPr>
          <a:lstStyle/>
          <a:p>
            <a:r>
              <a:rPr lang="en-US" sz="2000" dirty="0" smtClean="0">
                <a:hlinkClick r:id="rId7"/>
              </a:rPr>
              <a:t>http://www.dotnine.nl</a:t>
            </a:r>
            <a:endParaRPr lang="nl-NL" sz="2000" dirty="0"/>
          </a:p>
        </p:txBody>
      </p:sp>
    </p:spTree>
    <p:extLst>
      <p:ext uri="{BB962C8B-B14F-4D97-AF65-F5344CB8AC3E}">
        <p14:creationId xmlns:p14="http://schemas.microsoft.com/office/powerpoint/2010/main" val="388021346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itle 17"/>
          <p:cNvSpPr>
            <a:spLocks noGrp="1"/>
          </p:cNvSpPr>
          <p:nvPr>
            <p:ph type="title"/>
          </p:nvPr>
        </p:nvSpPr>
        <p:spPr/>
        <p:txBody>
          <a:bodyPr/>
          <a:lstStyle/>
          <a:p>
            <a:r>
              <a:rPr lang="en-US" dirty="0"/>
              <a:t>Agenda</a:t>
            </a:r>
          </a:p>
        </p:txBody>
      </p:sp>
      <p:sp>
        <p:nvSpPr>
          <p:cNvPr id="19" name="Content Placeholder 18"/>
          <p:cNvSpPr>
            <a:spLocks noGrp="1"/>
          </p:cNvSpPr>
          <p:nvPr>
            <p:ph idx="1"/>
          </p:nvPr>
        </p:nvSpPr>
        <p:spPr/>
        <p:txBody>
          <a:bodyPr>
            <a:normAutofit/>
          </a:bodyPr>
          <a:lstStyle/>
          <a:p>
            <a:r>
              <a:rPr lang="en-US" sz="2800" dirty="0" smtClean="0"/>
              <a:t>Introduction to In-Memory OLTP</a:t>
            </a:r>
          </a:p>
          <a:p>
            <a:r>
              <a:rPr lang="en-US" sz="2800" dirty="0" smtClean="0"/>
              <a:t>Limitations</a:t>
            </a:r>
          </a:p>
          <a:p>
            <a:r>
              <a:rPr lang="en-US" sz="2800" dirty="0" smtClean="0"/>
              <a:t>Memory Optimization Advisor</a:t>
            </a:r>
          </a:p>
          <a:p>
            <a:r>
              <a:rPr lang="en-US" sz="2800" dirty="0" smtClean="0"/>
              <a:t>Memory-Optimized Table Theory</a:t>
            </a:r>
          </a:p>
          <a:p>
            <a:r>
              <a:rPr lang="en-US" sz="2800" dirty="0" smtClean="0"/>
              <a:t>Creating Memory-Optimized </a:t>
            </a:r>
            <a:r>
              <a:rPr lang="en-US" sz="2800" dirty="0" smtClean="0"/>
              <a:t>Tables</a:t>
            </a:r>
          </a:p>
          <a:p>
            <a:r>
              <a:rPr lang="nl-NL" sz="2800" dirty="0" err="1" smtClean="0"/>
              <a:t>Hash</a:t>
            </a:r>
            <a:r>
              <a:rPr lang="nl-NL" sz="2800" dirty="0" smtClean="0"/>
              <a:t> </a:t>
            </a:r>
            <a:r>
              <a:rPr lang="nl-NL" sz="2800" dirty="0" err="1" smtClean="0"/>
              <a:t>Indexes</a:t>
            </a:r>
            <a:endParaRPr lang="en-US" sz="2800" dirty="0"/>
          </a:p>
        </p:txBody>
      </p:sp>
      <p:sp>
        <p:nvSpPr>
          <p:cNvPr id="22" name="Slide Number Placeholder 5"/>
          <p:cNvSpPr txBox="1">
            <a:spLocks/>
          </p:cNvSpPr>
          <p:nvPr/>
        </p:nvSpPr>
        <p:spPr>
          <a:xfrm>
            <a:off x="228193" y="6286903"/>
            <a:ext cx="527746" cy="365125"/>
          </a:xfrm>
          <a:prstGeom prst="rect">
            <a:avLst/>
          </a:prstGeom>
        </p:spPr>
        <p:txBody>
          <a:bodyPr vert="horz" lIns="91440" tIns="45720" rIns="91440" bIns="45720" rtlCol="0" anchor="ctr"/>
          <a:lstStyle>
            <a:defPPr>
              <a:defRPr lang="en-US"/>
            </a:defPPr>
            <a:lvl1pPr marL="0" algn="r" defTabSz="457200" rtl="0" eaLnBrk="1" latinLnBrk="0" hangingPunct="1">
              <a:defRPr sz="1100" kern="120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87FD5303-69AD-2E4D-B18B-E5EED0F0A60B}" type="slidenum">
              <a:rPr lang="en-US" smtClean="0"/>
              <a:pPr/>
              <a:t>4</a:t>
            </a:fld>
            <a:r>
              <a:rPr lang="en-US" smtClean="0"/>
              <a:t>  |  </a:t>
            </a:r>
            <a:endParaRPr lang="en-US" dirty="0"/>
          </a:p>
        </p:txBody>
      </p:sp>
    </p:spTree>
    <p:extLst>
      <p:ext uri="{BB962C8B-B14F-4D97-AF65-F5344CB8AC3E}">
        <p14:creationId xmlns:p14="http://schemas.microsoft.com/office/powerpoint/2010/main" val="50250794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Introduction to In-Memory OLTP</a:t>
            </a:r>
          </a:p>
        </p:txBody>
      </p:sp>
      <p:sp>
        <p:nvSpPr>
          <p:cNvPr id="5" name="Content Placeholder 4"/>
          <p:cNvSpPr>
            <a:spLocks noGrp="1"/>
          </p:cNvSpPr>
          <p:nvPr>
            <p:ph sz="half" idx="1"/>
          </p:nvPr>
        </p:nvSpPr>
        <p:spPr>
          <a:xfrm>
            <a:off x="457200" y="1417638"/>
            <a:ext cx="8515884" cy="4525963"/>
          </a:xfrm>
        </p:spPr>
        <p:txBody>
          <a:bodyPr>
            <a:normAutofit/>
          </a:bodyPr>
          <a:lstStyle/>
          <a:p>
            <a:pPr>
              <a:buFont typeface="Wingdings" panose="05000000000000000000" pitchFamily="2" charset="2"/>
              <a:buChar char="§"/>
            </a:pPr>
            <a:r>
              <a:rPr lang="nl-NL" dirty="0" err="1"/>
              <a:t>Released</a:t>
            </a:r>
            <a:r>
              <a:rPr lang="nl-NL" dirty="0"/>
              <a:t> in SQL Server 2014</a:t>
            </a:r>
          </a:p>
          <a:p>
            <a:pPr>
              <a:buFont typeface="Wingdings" panose="05000000000000000000" pitchFamily="2" charset="2"/>
              <a:buChar char="§"/>
            </a:pPr>
            <a:r>
              <a:rPr lang="nl-NL" dirty="0" err="1"/>
              <a:t>A.k.a</a:t>
            </a:r>
            <a:r>
              <a:rPr lang="nl-NL" dirty="0"/>
              <a:t>. </a:t>
            </a:r>
            <a:r>
              <a:rPr lang="nl-NL" b="1" dirty="0" err="1"/>
              <a:t>Hekaton</a:t>
            </a:r>
            <a:endParaRPr lang="nl-NL" dirty="0"/>
          </a:p>
          <a:p>
            <a:pPr>
              <a:buFont typeface="Wingdings" panose="05000000000000000000" pitchFamily="2" charset="2"/>
              <a:buChar char="§"/>
            </a:pPr>
            <a:r>
              <a:rPr lang="nl-NL" dirty="0"/>
              <a:t>Enterprise </a:t>
            </a:r>
            <a:r>
              <a:rPr lang="nl-NL" dirty="0" err="1"/>
              <a:t>only</a:t>
            </a:r>
            <a:r>
              <a:rPr lang="nl-NL" dirty="0"/>
              <a:t> feature</a:t>
            </a:r>
            <a:endParaRPr lang="en-US" dirty="0"/>
          </a:p>
          <a:p>
            <a:endParaRPr lang="pt-BR" dirty="0"/>
          </a:p>
        </p:txBody>
      </p:sp>
      <p:sp>
        <p:nvSpPr>
          <p:cNvPr id="9" name="Slide Number Placeholder 5"/>
          <p:cNvSpPr>
            <a:spLocks noGrp="1"/>
          </p:cNvSpPr>
          <p:nvPr>
            <p:ph type="sldNum" sz="quarter" idx="4"/>
          </p:nvPr>
        </p:nvSpPr>
        <p:spPr>
          <a:prstGeom prst="rect">
            <a:avLst/>
          </a:prstGeom>
        </p:spPr>
        <p:txBody>
          <a:bodyPr vert="horz" lIns="91440" tIns="45720" rIns="91440" bIns="45720" rtlCol="0" anchor="ctr"/>
          <a:lstStyle>
            <a:lvl1pPr algn="r">
              <a:defRPr sz="1100">
                <a:solidFill>
                  <a:srgbClr val="FFFFFF"/>
                </a:solidFill>
              </a:defRPr>
            </a:lvl1pPr>
          </a:lstStyle>
          <a:p>
            <a:fld id="{87FD5303-69AD-2E4D-B18B-E5EED0F0A60B}" type="slidenum">
              <a:rPr lang="en-US" smtClean="0"/>
              <a:pPr/>
              <a:t>5</a:t>
            </a:fld>
            <a:r>
              <a:rPr lang="en-US" dirty="0" smtClean="0"/>
              <a:t>  |  </a:t>
            </a:r>
            <a:endParaRPr lang="en-US" dirty="0"/>
          </a:p>
        </p:txBody>
      </p:sp>
      <p:sp>
        <p:nvSpPr>
          <p:cNvPr id="7" name="TextBox 6"/>
          <p:cNvSpPr txBox="1"/>
          <p:nvPr/>
        </p:nvSpPr>
        <p:spPr>
          <a:xfrm>
            <a:off x="228193" y="4062465"/>
            <a:ext cx="8744891" cy="1077218"/>
          </a:xfrm>
          <a:prstGeom prst="rect">
            <a:avLst/>
          </a:prstGeom>
          <a:noFill/>
        </p:spPr>
        <p:txBody>
          <a:bodyPr wrap="square" rtlCol="0">
            <a:spAutoFit/>
          </a:bodyPr>
          <a:lstStyle/>
          <a:p>
            <a:r>
              <a:rPr lang="en-GB" sz="3200" i="1" dirty="0">
                <a:solidFill>
                  <a:schemeClr val="tx1">
                    <a:lumMod val="65000"/>
                    <a:lumOff val="35000"/>
                  </a:schemeClr>
                </a:solidFill>
              </a:rPr>
              <a:t>“</a:t>
            </a:r>
            <a:r>
              <a:rPr lang="en-GB" sz="2000" i="1" dirty="0">
                <a:solidFill>
                  <a:schemeClr val="tx1">
                    <a:lumMod val="65000"/>
                    <a:lumOff val="35000"/>
                  </a:schemeClr>
                </a:solidFill>
              </a:rPr>
              <a:t>The actual performance gain depends on many factors, but 5-to-20 times performance improvements are common</a:t>
            </a:r>
            <a:r>
              <a:rPr lang="en-GB" sz="3200" i="1" dirty="0">
                <a:solidFill>
                  <a:schemeClr val="tx1">
                    <a:lumMod val="65000"/>
                    <a:lumOff val="35000"/>
                  </a:schemeClr>
                </a:solidFill>
              </a:rPr>
              <a:t>.”</a:t>
            </a:r>
            <a:endParaRPr lang="en-US" sz="3200" dirty="0">
              <a:solidFill>
                <a:schemeClr val="tx1">
                  <a:lumMod val="65000"/>
                  <a:lumOff val="35000"/>
                </a:schemeClr>
              </a:solidFill>
            </a:endParaRPr>
          </a:p>
        </p:txBody>
      </p:sp>
      <p:sp>
        <p:nvSpPr>
          <p:cNvPr id="8" name="TextBox 7"/>
          <p:cNvSpPr txBox="1"/>
          <p:nvPr/>
        </p:nvSpPr>
        <p:spPr>
          <a:xfrm>
            <a:off x="7441949" y="4987644"/>
            <a:ext cx="2299580" cy="369332"/>
          </a:xfrm>
          <a:prstGeom prst="rect">
            <a:avLst/>
          </a:prstGeom>
          <a:noFill/>
        </p:spPr>
        <p:txBody>
          <a:bodyPr wrap="square" rtlCol="0">
            <a:spAutoFit/>
          </a:bodyPr>
          <a:lstStyle/>
          <a:p>
            <a:r>
              <a:rPr lang="nl-NL" i="1" dirty="0" smtClean="0">
                <a:solidFill>
                  <a:schemeClr val="tx1">
                    <a:lumMod val="65000"/>
                    <a:lumOff val="35000"/>
                  </a:schemeClr>
                </a:solidFill>
              </a:rPr>
              <a:t>- </a:t>
            </a:r>
            <a:r>
              <a:rPr lang="nl-NL" sz="1400" i="1" dirty="0" smtClean="0">
                <a:solidFill>
                  <a:schemeClr val="bg1">
                    <a:lumMod val="50000"/>
                  </a:schemeClr>
                </a:solidFill>
              </a:rPr>
              <a:t>Microsoft</a:t>
            </a:r>
            <a:endParaRPr lang="en-US" i="1" dirty="0">
              <a:solidFill>
                <a:schemeClr val="bg1">
                  <a:lumMod val="50000"/>
                </a:schemeClr>
              </a:solidFill>
            </a:endParaRPr>
          </a:p>
        </p:txBody>
      </p:sp>
      <p:pic>
        <p:nvPicPr>
          <p:cNvPr id="10" name="Picture 2" descr="http://i0.kym-cdn.com/photos/images/newsfeed/000/185/885/SANDCASTLES.png?131862759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41626" y="2014777"/>
            <a:ext cx="2945174" cy="19588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461539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Introduction to In-Memory OLTP</a:t>
            </a:r>
          </a:p>
        </p:txBody>
      </p:sp>
      <p:sp>
        <p:nvSpPr>
          <p:cNvPr id="5" name="Content Placeholder 4"/>
          <p:cNvSpPr>
            <a:spLocks noGrp="1"/>
          </p:cNvSpPr>
          <p:nvPr>
            <p:ph sz="half" idx="1"/>
          </p:nvPr>
        </p:nvSpPr>
        <p:spPr>
          <a:xfrm>
            <a:off x="457200" y="1417638"/>
            <a:ext cx="8515884" cy="4525963"/>
          </a:xfrm>
        </p:spPr>
        <p:txBody>
          <a:bodyPr>
            <a:normAutofit/>
          </a:bodyPr>
          <a:lstStyle/>
          <a:p>
            <a:r>
              <a:rPr lang="nl-NL" sz="2400" dirty="0" err="1"/>
              <a:t>What</a:t>
            </a:r>
            <a:r>
              <a:rPr lang="nl-NL" sz="2400" dirty="0"/>
              <a:t> </a:t>
            </a:r>
            <a:r>
              <a:rPr lang="nl-NL" sz="2400" dirty="0" err="1"/>
              <a:t>to</a:t>
            </a:r>
            <a:r>
              <a:rPr lang="nl-NL" sz="2400" dirty="0"/>
              <a:t> we </a:t>
            </a:r>
            <a:r>
              <a:rPr lang="nl-NL" sz="2400" dirty="0" err="1"/>
              <a:t>need</a:t>
            </a:r>
            <a:r>
              <a:rPr lang="nl-NL" sz="2400" dirty="0"/>
              <a:t> </a:t>
            </a:r>
            <a:r>
              <a:rPr lang="nl-NL" sz="2400" dirty="0" err="1"/>
              <a:t>for</a:t>
            </a:r>
            <a:r>
              <a:rPr lang="nl-NL" sz="2400" dirty="0"/>
              <a:t> </a:t>
            </a:r>
            <a:r>
              <a:rPr lang="nl-NL" sz="2400" dirty="0" err="1"/>
              <a:t>this</a:t>
            </a:r>
            <a:r>
              <a:rPr lang="nl-NL" sz="2400" dirty="0"/>
              <a:t> feature of </a:t>
            </a:r>
            <a:r>
              <a:rPr lang="nl-NL" sz="2400" dirty="0" err="1"/>
              <a:t>awesomeness</a:t>
            </a:r>
            <a:r>
              <a:rPr lang="nl-NL" sz="2400" dirty="0" smtClean="0"/>
              <a:t>?</a:t>
            </a:r>
            <a:endParaRPr lang="en-US" sz="2400" dirty="0"/>
          </a:p>
        </p:txBody>
      </p:sp>
      <p:sp>
        <p:nvSpPr>
          <p:cNvPr id="9" name="Slide Number Placeholder 5"/>
          <p:cNvSpPr>
            <a:spLocks noGrp="1"/>
          </p:cNvSpPr>
          <p:nvPr>
            <p:ph type="sldNum" sz="quarter" idx="4"/>
          </p:nvPr>
        </p:nvSpPr>
        <p:spPr>
          <a:prstGeom prst="rect">
            <a:avLst/>
          </a:prstGeom>
        </p:spPr>
        <p:txBody>
          <a:bodyPr vert="horz" lIns="91440" tIns="45720" rIns="91440" bIns="45720" rtlCol="0" anchor="ctr"/>
          <a:lstStyle>
            <a:lvl1pPr algn="r">
              <a:defRPr sz="1100">
                <a:solidFill>
                  <a:srgbClr val="FFFFFF"/>
                </a:solidFill>
              </a:defRPr>
            </a:lvl1pPr>
          </a:lstStyle>
          <a:p>
            <a:fld id="{87FD5303-69AD-2E4D-B18B-E5EED0F0A60B}" type="slidenum">
              <a:rPr lang="en-US" smtClean="0"/>
              <a:pPr/>
              <a:t>6</a:t>
            </a:fld>
            <a:r>
              <a:rPr lang="en-US" dirty="0" smtClean="0"/>
              <a:t>  |  </a:t>
            </a:r>
            <a:endParaRPr lang="en-US" dirty="0"/>
          </a:p>
        </p:txBody>
      </p:sp>
      <p:sp>
        <p:nvSpPr>
          <p:cNvPr id="6" name="Rectangle 5"/>
          <p:cNvSpPr/>
          <p:nvPr/>
        </p:nvSpPr>
        <p:spPr>
          <a:xfrm>
            <a:off x="755938" y="2223839"/>
            <a:ext cx="4419213" cy="1627427"/>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p:cNvSpPr txBox="1"/>
          <p:nvPr/>
        </p:nvSpPr>
        <p:spPr>
          <a:xfrm>
            <a:off x="755938" y="2235444"/>
            <a:ext cx="4419213" cy="1323439"/>
          </a:xfrm>
          <a:prstGeom prst="rect">
            <a:avLst/>
          </a:prstGeom>
          <a:noFill/>
        </p:spPr>
        <p:txBody>
          <a:bodyPr wrap="square" rtlCol="0">
            <a:spAutoFit/>
          </a:bodyPr>
          <a:lstStyle/>
          <a:p>
            <a:pPr marL="285750" indent="-285750">
              <a:buFont typeface="Courier New" panose="02070309020205020404" pitchFamily="49" charset="0"/>
              <a:buChar char="o"/>
            </a:pPr>
            <a:r>
              <a:rPr lang="nl-NL" sz="1600" dirty="0" smtClean="0">
                <a:solidFill>
                  <a:schemeClr val="bg1"/>
                </a:solidFill>
              </a:rPr>
              <a:t>Windows Server 2008R2</a:t>
            </a:r>
          </a:p>
          <a:p>
            <a:pPr marL="285750" indent="-285750">
              <a:buFont typeface="Courier New" panose="02070309020205020404" pitchFamily="49" charset="0"/>
              <a:buChar char="o"/>
            </a:pPr>
            <a:r>
              <a:rPr lang="nl-NL" sz="1600" dirty="0" smtClean="0">
                <a:solidFill>
                  <a:schemeClr val="bg1"/>
                </a:solidFill>
              </a:rPr>
              <a:t>1GB RAM</a:t>
            </a:r>
          </a:p>
          <a:p>
            <a:pPr marL="285750" indent="-285750">
              <a:buFont typeface="Courier New" panose="02070309020205020404" pitchFamily="49" charset="0"/>
              <a:buChar char="o"/>
            </a:pPr>
            <a:r>
              <a:rPr lang="nl-NL" sz="1600" dirty="0" smtClean="0">
                <a:solidFill>
                  <a:schemeClr val="bg1"/>
                </a:solidFill>
              </a:rPr>
              <a:t>811MB free </a:t>
            </a:r>
            <a:r>
              <a:rPr lang="nl-NL" sz="1600" dirty="0" err="1" smtClean="0">
                <a:solidFill>
                  <a:schemeClr val="bg1"/>
                </a:solidFill>
              </a:rPr>
              <a:t>space</a:t>
            </a:r>
            <a:r>
              <a:rPr lang="nl-NL" sz="1600" dirty="0" smtClean="0">
                <a:solidFill>
                  <a:schemeClr val="bg1"/>
                </a:solidFill>
              </a:rPr>
              <a:t> (Database Engine </a:t>
            </a:r>
            <a:r>
              <a:rPr lang="nl-NL" sz="1600" dirty="0" err="1" smtClean="0">
                <a:solidFill>
                  <a:schemeClr val="bg1"/>
                </a:solidFill>
              </a:rPr>
              <a:t>only</a:t>
            </a:r>
            <a:r>
              <a:rPr lang="nl-NL" sz="1600" dirty="0" smtClean="0">
                <a:solidFill>
                  <a:schemeClr val="bg1"/>
                </a:solidFill>
              </a:rPr>
              <a:t>)</a:t>
            </a:r>
          </a:p>
          <a:p>
            <a:pPr marL="285750" indent="-285750">
              <a:buFont typeface="Courier New" panose="02070309020205020404" pitchFamily="49" charset="0"/>
              <a:buChar char="o"/>
            </a:pPr>
            <a:r>
              <a:rPr lang="nl-NL" sz="1600" dirty="0" smtClean="0">
                <a:solidFill>
                  <a:schemeClr val="bg1"/>
                </a:solidFill>
              </a:rPr>
              <a:t>64-bit</a:t>
            </a:r>
          </a:p>
          <a:p>
            <a:pPr marL="285750" indent="-285750">
              <a:buFont typeface="Courier New" panose="02070309020205020404" pitchFamily="49" charset="0"/>
              <a:buChar char="o"/>
            </a:pPr>
            <a:r>
              <a:rPr lang="nl-NL" sz="1600" dirty="0" smtClean="0">
                <a:solidFill>
                  <a:schemeClr val="bg1"/>
                </a:solidFill>
              </a:rPr>
              <a:t>Enterprise / Developer Edition</a:t>
            </a:r>
            <a:endParaRPr lang="en-US" sz="1600" dirty="0">
              <a:solidFill>
                <a:schemeClr val="bg1"/>
              </a:solidFill>
            </a:endParaRPr>
          </a:p>
        </p:txBody>
      </p:sp>
      <p:sp>
        <p:nvSpPr>
          <p:cNvPr id="8" name="Rectangle 7"/>
          <p:cNvSpPr/>
          <p:nvPr/>
        </p:nvSpPr>
        <p:spPr>
          <a:xfrm>
            <a:off x="755938" y="4026217"/>
            <a:ext cx="4419213" cy="1830693"/>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p:cNvSpPr txBox="1"/>
          <p:nvPr/>
        </p:nvSpPr>
        <p:spPr>
          <a:xfrm>
            <a:off x="5139617" y="2343487"/>
            <a:ext cx="400110" cy="1631404"/>
          </a:xfrm>
          <a:prstGeom prst="rect">
            <a:avLst/>
          </a:prstGeom>
          <a:noFill/>
        </p:spPr>
        <p:txBody>
          <a:bodyPr vert="vert" wrap="square" rtlCol="0">
            <a:spAutoFit/>
          </a:bodyPr>
          <a:lstStyle/>
          <a:p>
            <a:r>
              <a:rPr lang="nl-NL" sz="1400" b="1" dirty="0" smtClean="0"/>
              <a:t>Minimum </a:t>
            </a:r>
            <a:r>
              <a:rPr lang="nl-NL" sz="1400" b="1" dirty="0" err="1" smtClean="0"/>
              <a:t>Specs</a:t>
            </a:r>
            <a:endParaRPr lang="en-US" sz="1400" b="1" dirty="0"/>
          </a:p>
        </p:txBody>
      </p:sp>
      <p:sp>
        <p:nvSpPr>
          <p:cNvPr id="11" name="TextBox 10"/>
          <p:cNvSpPr txBox="1"/>
          <p:nvPr/>
        </p:nvSpPr>
        <p:spPr>
          <a:xfrm>
            <a:off x="5139617" y="4167088"/>
            <a:ext cx="400110" cy="1562643"/>
          </a:xfrm>
          <a:prstGeom prst="rect">
            <a:avLst/>
          </a:prstGeom>
          <a:noFill/>
        </p:spPr>
        <p:txBody>
          <a:bodyPr vert="vert" wrap="square" rtlCol="0">
            <a:spAutoFit/>
          </a:bodyPr>
          <a:lstStyle/>
          <a:p>
            <a:r>
              <a:rPr lang="nl-NL" sz="1400" b="1" dirty="0" smtClean="0"/>
              <a:t>In-Memory </a:t>
            </a:r>
            <a:r>
              <a:rPr lang="nl-NL" sz="1400" b="1" dirty="0" err="1" smtClean="0"/>
              <a:t>tables</a:t>
            </a:r>
            <a:endParaRPr lang="en-US" sz="1400" b="1" dirty="0"/>
          </a:p>
        </p:txBody>
      </p:sp>
      <p:sp>
        <p:nvSpPr>
          <p:cNvPr id="12" name="TextBox 11"/>
          <p:cNvSpPr txBox="1"/>
          <p:nvPr/>
        </p:nvSpPr>
        <p:spPr>
          <a:xfrm>
            <a:off x="753974" y="4098515"/>
            <a:ext cx="4419213" cy="1631216"/>
          </a:xfrm>
          <a:prstGeom prst="rect">
            <a:avLst/>
          </a:prstGeom>
          <a:noFill/>
        </p:spPr>
        <p:txBody>
          <a:bodyPr wrap="square" rtlCol="0">
            <a:spAutoFit/>
          </a:bodyPr>
          <a:lstStyle/>
          <a:p>
            <a:pPr marL="285750" indent="-285750">
              <a:buFont typeface="Courier New" panose="02070309020205020404" pitchFamily="49" charset="0"/>
              <a:buChar char="o"/>
            </a:pPr>
            <a:r>
              <a:rPr lang="en-US" sz="1600" dirty="0" smtClean="0">
                <a:solidFill>
                  <a:schemeClr val="bg1"/>
                </a:solidFill>
              </a:rPr>
              <a:t>+/- 2 times memory size of expected In-Memory table size</a:t>
            </a:r>
          </a:p>
          <a:p>
            <a:pPr marL="285750" indent="-285750">
              <a:buFont typeface="Courier New" panose="02070309020205020404" pitchFamily="49" charset="0"/>
              <a:buChar char="o"/>
            </a:pPr>
            <a:r>
              <a:rPr lang="nl-NL" sz="1600" dirty="0" smtClean="0">
                <a:solidFill>
                  <a:schemeClr val="bg1"/>
                </a:solidFill>
              </a:rPr>
              <a:t>+/- 2 </a:t>
            </a:r>
            <a:r>
              <a:rPr lang="nl-NL" sz="1600" dirty="0" err="1" smtClean="0">
                <a:solidFill>
                  <a:schemeClr val="bg1"/>
                </a:solidFill>
              </a:rPr>
              <a:t>times</a:t>
            </a:r>
            <a:r>
              <a:rPr lang="nl-NL" sz="1600" dirty="0" smtClean="0">
                <a:solidFill>
                  <a:schemeClr val="bg1"/>
                </a:solidFill>
              </a:rPr>
              <a:t> disk </a:t>
            </a:r>
            <a:r>
              <a:rPr lang="nl-NL" sz="1600" dirty="0" err="1" smtClean="0">
                <a:solidFill>
                  <a:schemeClr val="bg1"/>
                </a:solidFill>
              </a:rPr>
              <a:t>space</a:t>
            </a:r>
            <a:r>
              <a:rPr lang="nl-NL" sz="1600" dirty="0" smtClean="0">
                <a:solidFill>
                  <a:schemeClr val="bg1"/>
                </a:solidFill>
              </a:rPr>
              <a:t> of </a:t>
            </a:r>
            <a:r>
              <a:rPr lang="nl-NL" sz="1600" dirty="0" err="1" smtClean="0">
                <a:solidFill>
                  <a:schemeClr val="bg1"/>
                </a:solidFill>
              </a:rPr>
              <a:t>expected</a:t>
            </a:r>
            <a:r>
              <a:rPr lang="nl-NL" sz="1600" dirty="0" smtClean="0">
                <a:solidFill>
                  <a:schemeClr val="bg1"/>
                </a:solidFill>
              </a:rPr>
              <a:t> In-Memory </a:t>
            </a:r>
            <a:r>
              <a:rPr lang="nl-NL" sz="1600" dirty="0" err="1" smtClean="0">
                <a:solidFill>
                  <a:schemeClr val="bg1"/>
                </a:solidFill>
              </a:rPr>
              <a:t>table</a:t>
            </a:r>
            <a:r>
              <a:rPr lang="nl-NL" sz="1600" dirty="0" smtClean="0">
                <a:solidFill>
                  <a:schemeClr val="bg1"/>
                </a:solidFill>
              </a:rPr>
              <a:t> </a:t>
            </a:r>
            <a:r>
              <a:rPr lang="nl-NL" sz="1600" dirty="0" err="1" smtClean="0">
                <a:solidFill>
                  <a:schemeClr val="bg1"/>
                </a:solidFill>
              </a:rPr>
              <a:t>size</a:t>
            </a:r>
            <a:endParaRPr lang="nl-NL" sz="1600" dirty="0" smtClean="0">
              <a:solidFill>
                <a:schemeClr val="bg1"/>
              </a:solidFill>
            </a:endParaRPr>
          </a:p>
          <a:p>
            <a:pPr marL="285750" indent="-285750">
              <a:buFont typeface="Courier New" panose="02070309020205020404" pitchFamily="49" charset="0"/>
              <a:buChar char="o"/>
            </a:pPr>
            <a:r>
              <a:rPr lang="nl-NL" sz="1600" dirty="0" err="1" smtClean="0">
                <a:solidFill>
                  <a:schemeClr val="bg1"/>
                </a:solidFill>
              </a:rPr>
              <a:t>And</a:t>
            </a:r>
            <a:r>
              <a:rPr lang="nl-NL" sz="1600" dirty="0" smtClean="0">
                <a:solidFill>
                  <a:schemeClr val="bg1"/>
                </a:solidFill>
              </a:rPr>
              <a:t> </a:t>
            </a:r>
            <a:r>
              <a:rPr lang="nl-NL" sz="1600" dirty="0" err="1" smtClean="0">
                <a:solidFill>
                  <a:schemeClr val="bg1"/>
                </a:solidFill>
              </a:rPr>
              <a:t>don’t</a:t>
            </a:r>
            <a:r>
              <a:rPr lang="nl-NL" sz="1600" dirty="0" smtClean="0">
                <a:solidFill>
                  <a:schemeClr val="bg1"/>
                </a:solidFill>
              </a:rPr>
              <a:t> </a:t>
            </a:r>
            <a:r>
              <a:rPr lang="nl-NL" sz="1600" dirty="0" err="1" smtClean="0">
                <a:solidFill>
                  <a:schemeClr val="bg1"/>
                </a:solidFill>
              </a:rPr>
              <a:t>forget</a:t>
            </a:r>
            <a:r>
              <a:rPr lang="nl-NL" sz="1600" dirty="0" smtClean="0">
                <a:solidFill>
                  <a:schemeClr val="bg1"/>
                </a:solidFill>
              </a:rPr>
              <a:t> memory </a:t>
            </a:r>
            <a:r>
              <a:rPr lang="nl-NL" sz="1600" dirty="0" err="1" smtClean="0">
                <a:solidFill>
                  <a:schemeClr val="bg1"/>
                </a:solidFill>
              </a:rPr>
              <a:t>for</a:t>
            </a:r>
            <a:r>
              <a:rPr lang="nl-NL" sz="1600" dirty="0" smtClean="0">
                <a:solidFill>
                  <a:schemeClr val="bg1"/>
                </a:solidFill>
              </a:rPr>
              <a:t> the Buffer Cache </a:t>
            </a:r>
            <a:r>
              <a:rPr lang="nl-NL" sz="1600" dirty="0" err="1" smtClean="0">
                <a:solidFill>
                  <a:schemeClr val="bg1"/>
                </a:solidFill>
              </a:rPr>
              <a:t>to</a:t>
            </a:r>
            <a:r>
              <a:rPr lang="nl-NL" sz="1600" dirty="0" smtClean="0">
                <a:solidFill>
                  <a:schemeClr val="bg1"/>
                </a:solidFill>
              </a:rPr>
              <a:t> handle ‘traditional’ </a:t>
            </a:r>
            <a:r>
              <a:rPr lang="nl-NL" sz="1600" dirty="0" err="1" smtClean="0">
                <a:solidFill>
                  <a:schemeClr val="bg1"/>
                </a:solidFill>
              </a:rPr>
              <a:t>tables</a:t>
            </a:r>
            <a:endParaRPr lang="en-US" sz="1600" dirty="0">
              <a:solidFill>
                <a:schemeClr val="bg1"/>
              </a:solidFill>
            </a:endParaRPr>
          </a:p>
        </p:txBody>
      </p:sp>
      <p:grpSp>
        <p:nvGrpSpPr>
          <p:cNvPr id="13" name="Group 12"/>
          <p:cNvGrpSpPr/>
          <p:nvPr/>
        </p:nvGrpSpPr>
        <p:grpSpPr>
          <a:xfrm>
            <a:off x="5841448" y="2781823"/>
            <a:ext cx="2910388" cy="2728357"/>
            <a:chOff x="6912864" y="1810512"/>
            <a:chExt cx="4213234" cy="3483864"/>
          </a:xfrm>
        </p:grpSpPr>
        <p:cxnSp>
          <p:nvCxnSpPr>
            <p:cNvPr id="14" name="Straight Connector 13"/>
            <p:cNvCxnSpPr/>
            <p:nvPr/>
          </p:nvCxnSpPr>
          <p:spPr>
            <a:xfrm>
              <a:off x="6912864" y="1810512"/>
              <a:ext cx="9144" cy="3483864"/>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flipV="1">
              <a:off x="6922008" y="5285232"/>
              <a:ext cx="4204090" cy="9144"/>
            </a:xfrm>
            <a:prstGeom prst="line">
              <a:avLst/>
            </a:prstGeom>
            <a:ln w="19050"/>
          </p:spPr>
          <p:style>
            <a:lnRef idx="1">
              <a:schemeClr val="accent1"/>
            </a:lnRef>
            <a:fillRef idx="0">
              <a:schemeClr val="accent1"/>
            </a:fillRef>
            <a:effectRef idx="0">
              <a:schemeClr val="accent1"/>
            </a:effectRef>
            <a:fontRef idx="minor">
              <a:schemeClr val="tx1"/>
            </a:fontRef>
          </p:style>
        </p:cxnSp>
      </p:grpSp>
      <p:sp>
        <p:nvSpPr>
          <p:cNvPr id="16" name="Rectangle 15"/>
          <p:cNvSpPr/>
          <p:nvPr/>
        </p:nvSpPr>
        <p:spPr>
          <a:xfrm>
            <a:off x="6044949" y="4914123"/>
            <a:ext cx="487943" cy="58726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p:cNvSpPr/>
          <p:nvPr/>
        </p:nvSpPr>
        <p:spPr>
          <a:xfrm>
            <a:off x="6044949" y="3818463"/>
            <a:ext cx="487943" cy="1104452"/>
          </a:xfrm>
          <a:prstGeom prst="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p:cNvSpPr txBox="1"/>
          <p:nvPr/>
        </p:nvSpPr>
        <p:spPr>
          <a:xfrm>
            <a:off x="6141104" y="5030664"/>
            <a:ext cx="274408" cy="338554"/>
          </a:xfrm>
          <a:prstGeom prst="rect">
            <a:avLst/>
          </a:prstGeom>
          <a:noFill/>
        </p:spPr>
        <p:txBody>
          <a:bodyPr wrap="square" rtlCol="0">
            <a:spAutoFit/>
          </a:bodyPr>
          <a:lstStyle/>
          <a:p>
            <a:r>
              <a:rPr lang="nl-NL" sz="1600" dirty="0" smtClean="0">
                <a:solidFill>
                  <a:schemeClr val="bg1"/>
                </a:solidFill>
              </a:rPr>
              <a:t>4</a:t>
            </a:r>
            <a:endParaRPr lang="en-US" sz="1600" dirty="0">
              <a:solidFill>
                <a:schemeClr val="bg1"/>
              </a:solidFill>
            </a:endParaRPr>
          </a:p>
        </p:txBody>
      </p:sp>
      <p:sp>
        <p:nvSpPr>
          <p:cNvPr id="19" name="TextBox 18"/>
          <p:cNvSpPr txBox="1"/>
          <p:nvPr/>
        </p:nvSpPr>
        <p:spPr>
          <a:xfrm>
            <a:off x="6151540" y="3948479"/>
            <a:ext cx="379388" cy="338554"/>
          </a:xfrm>
          <a:prstGeom prst="rect">
            <a:avLst/>
          </a:prstGeom>
          <a:noFill/>
        </p:spPr>
        <p:txBody>
          <a:bodyPr wrap="square" rtlCol="0">
            <a:spAutoFit/>
          </a:bodyPr>
          <a:lstStyle/>
          <a:p>
            <a:r>
              <a:rPr lang="nl-NL" sz="1600" dirty="0" smtClean="0">
                <a:solidFill>
                  <a:schemeClr val="bg1"/>
                </a:solidFill>
              </a:rPr>
              <a:t>8*</a:t>
            </a:r>
            <a:endParaRPr lang="en-US" sz="1600" dirty="0">
              <a:solidFill>
                <a:schemeClr val="bg1"/>
              </a:solidFill>
            </a:endParaRPr>
          </a:p>
        </p:txBody>
      </p:sp>
      <p:sp>
        <p:nvSpPr>
          <p:cNvPr id="20" name="TextBox 19"/>
          <p:cNvSpPr txBox="1"/>
          <p:nvPr/>
        </p:nvSpPr>
        <p:spPr>
          <a:xfrm>
            <a:off x="6733525" y="3948479"/>
            <a:ext cx="2018311" cy="584775"/>
          </a:xfrm>
          <a:prstGeom prst="rect">
            <a:avLst/>
          </a:prstGeom>
          <a:noFill/>
        </p:spPr>
        <p:txBody>
          <a:bodyPr wrap="square" rtlCol="0">
            <a:spAutoFit/>
          </a:bodyPr>
          <a:lstStyle/>
          <a:p>
            <a:r>
              <a:rPr lang="nl-NL" sz="1600" i="1" dirty="0" smtClean="0"/>
              <a:t>4GB In-Memory </a:t>
            </a:r>
            <a:r>
              <a:rPr lang="nl-NL" sz="1600" i="1" dirty="0" err="1" smtClean="0"/>
              <a:t>Table</a:t>
            </a:r>
            <a:endParaRPr lang="en-US" sz="1600" i="1" dirty="0"/>
          </a:p>
        </p:txBody>
      </p:sp>
      <p:sp>
        <p:nvSpPr>
          <p:cNvPr id="21" name="TextBox 20"/>
          <p:cNvSpPr txBox="1"/>
          <p:nvPr/>
        </p:nvSpPr>
        <p:spPr>
          <a:xfrm>
            <a:off x="6733525" y="5030664"/>
            <a:ext cx="2018311" cy="338554"/>
          </a:xfrm>
          <a:prstGeom prst="rect">
            <a:avLst/>
          </a:prstGeom>
          <a:noFill/>
        </p:spPr>
        <p:txBody>
          <a:bodyPr wrap="square" rtlCol="0">
            <a:spAutoFit/>
          </a:bodyPr>
          <a:lstStyle/>
          <a:p>
            <a:r>
              <a:rPr lang="nl-NL" sz="1600" i="1" dirty="0" smtClean="0"/>
              <a:t>4GB Buffer Cache </a:t>
            </a:r>
            <a:endParaRPr lang="en-US" sz="1600" i="1" dirty="0"/>
          </a:p>
        </p:txBody>
      </p:sp>
    </p:spTree>
    <p:extLst>
      <p:ext uri="{BB962C8B-B14F-4D97-AF65-F5344CB8AC3E}">
        <p14:creationId xmlns:p14="http://schemas.microsoft.com/office/powerpoint/2010/main" val="30147458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500"/>
                                        <p:tgtEl>
                                          <p:spTgt spid="10"/>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fade">
                                      <p:cBhvr>
                                        <p:cTn id="18" dur="500"/>
                                        <p:tgtEl>
                                          <p:spTgt spid="12"/>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500"/>
                                        <p:tgtEl>
                                          <p:spTgt spid="8"/>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500"/>
                                        <p:tgtEl>
                                          <p:spTgt spid="11"/>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13"/>
                                        </p:tgtEl>
                                        <p:attrNameLst>
                                          <p:attrName>style.visibility</p:attrName>
                                        </p:attrNameLst>
                                      </p:cBhvr>
                                      <p:to>
                                        <p:strVal val="visible"/>
                                      </p:to>
                                    </p:set>
                                    <p:animEffect transition="in" filter="fade">
                                      <p:cBhvr>
                                        <p:cTn id="29" dur="5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18"/>
                                        </p:tgtEl>
                                        <p:attrNameLst>
                                          <p:attrName>style.visibility</p:attrName>
                                        </p:attrNameLst>
                                      </p:cBhvr>
                                      <p:to>
                                        <p:strVal val="visible"/>
                                      </p:to>
                                    </p:set>
                                    <p:animEffect transition="in" filter="fade">
                                      <p:cBhvr>
                                        <p:cTn id="34" dur="500"/>
                                        <p:tgtEl>
                                          <p:spTgt spid="18"/>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fade">
                                      <p:cBhvr>
                                        <p:cTn id="37" dur="500"/>
                                        <p:tgtEl>
                                          <p:spTgt spid="16"/>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1"/>
                                        </p:tgtEl>
                                        <p:attrNameLst>
                                          <p:attrName>style.visibility</p:attrName>
                                        </p:attrNameLst>
                                      </p:cBhvr>
                                      <p:to>
                                        <p:strVal val="visible"/>
                                      </p:to>
                                    </p:set>
                                    <p:animEffect transition="in" filter="fade">
                                      <p:cBhvr>
                                        <p:cTn id="40" dur="500"/>
                                        <p:tgtEl>
                                          <p:spTgt spid="21"/>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17"/>
                                        </p:tgtEl>
                                        <p:attrNameLst>
                                          <p:attrName>style.visibility</p:attrName>
                                        </p:attrNameLst>
                                      </p:cBhvr>
                                      <p:to>
                                        <p:strVal val="visible"/>
                                      </p:to>
                                    </p:set>
                                    <p:animEffect transition="in" filter="fade">
                                      <p:cBhvr>
                                        <p:cTn id="45" dur="500"/>
                                        <p:tgtEl>
                                          <p:spTgt spid="17"/>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9"/>
                                        </p:tgtEl>
                                        <p:attrNameLst>
                                          <p:attrName>style.visibility</p:attrName>
                                        </p:attrNameLst>
                                      </p:cBhvr>
                                      <p:to>
                                        <p:strVal val="visible"/>
                                      </p:to>
                                    </p:set>
                                    <p:animEffect transition="in" filter="fade">
                                      <p:cBhvr>
                                        <p:cTn id="48" dur="500"/>
                                        <p:tgtEl>
                                          <p:spTgt spid="19"/>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20"/>
                                        </p:tgtEl>
                                        <p:attrNameLst>
                                          <p:attrName>style.visibility</p:attrName>
                                        </p:attrNameLst>
                                      </p:cBhvr>
                                      <p:to>
                                        <p:strVal val="visible"/>
                                      </p:to>
                                    </p:set>
                                    <p:animEffect transition="in" filter="fade">
                                      <p:cBhvr>
                                        <p:cTn id="51"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P spid="8" grpId="0" animBg="1"/>
      <p:bldP spid="10" grpId="0"/>
      <p:bldP spid="11" grpId="0"/>
      <p:bldP spid="12" grpId="0"/>
      <p:bldP spid="16" grpId="0" animBg="1"/>
      <p:bldP spid="17" grpId="0" animBg="1"/>
      <p:bldP spid="18" grpId="0"/>
      <p:bldP spid="19" grpId="0"/>
      <p:bldP spid="20" grpId="0"/>
      <p:bldP spid="21"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Introduction to In-Memory OLTP</a:t>
            </a:r>
          </a:p>
        </p:txBody>
      </p:sp>
      <p:sp>
        <p:nvSpPr>
          <p:cNvPr id="5" name="Content Placeholder 4"/>
          <p:cNvSpPr>
            <a:spLocks noGrp="1"/>
          </p:cNvSpPr>
          <p:nvPr>
            <p:ph sz="half" idx="1"/>
          </p:nvPr>
        </p:nvSpPr>
        <p:spPr>
          <a:xfrm>
            <a:off x="457200" y="1417638"/>
            <a:ext cx="8515884" cy="4525963"/>
          </a:xfrm>
        </p:spPr>
        <p:txBody>
          <a:bodyPr>
            <a:normAutofit/>
          </a:bodyPr>
          <a:lstStyle/>
          <a:p>
            <a:r>
              <a:rPr lang="nl-NL" dirty="0"/>
              <a:t>How do we get </a:t>
            </a:r>
            <a:r>
              <a:rPr lang="nl-NL" dirty="0" err="1"/>
              <a:t>it</a:t>
            </a:r>
            <a:r>
              <a:rPr lang="nl-NL" dirty="0"/>
              <a:t>?</a:t>
            </a:r>
            <a:endParaRPr lang="en-US" dirty="0"/>
          </a:p>
          <a:p>
            <a:pPr marL="0" indent="0">
              <a:buNone/>
            </a:pPr>
            <a:endParaRPr lang="pt-BR" dirty="0"/>
          </a:p>
        </p:txBody>
      </p:sp>
      <p:sp>
        <p:nvSpPr>
          <p:cNvPr id="9" name="Slide Number Placeholder 5"/>
          <p:cNvSpPr>
            <a:spLocks noGrp="1"/>
          </p:cNvSpPr>
          <p:nvPr>
            <p:ph type="sldNum" sz="quarter" idx="4"/>
          </p:nvPr>
        </p:nvSpPr>
        <p:spPr>
          <a:prstGeom prst="rect">
            <a:avLst/>
          </a:prstGeom>
        </p:spPr>
        <p:txBody>
          <a:bodyPr vert="horz" lIns="91440" tIns="45720" rIns="91440" bIns="45720" rtlCol="0" anchor="ctr"/>
          <a:lstStyle>
            <a:lvl1pPr algn="r">
              <a:defRPr sz="1100">
                <a:solidFill>
                  <a:srgbClr val="FFFFFF"/>
                </a:solidFill>
              </a:defRPr>
            </a:lvl1pPr>
          </a:lstStyle>
          <a:p>
            <a:fld id="{87FD5303-69AD-2E4D-B18B-E5EED0F0A60B}" type="slidenum">
              <a:rPr lang="en-US" smtClean="0"/>
              <a:pPr/>
              <a:t>7</a:t>
            </a:fld>
            <a:r>
              <a:rPr lang="en-US" dirty="0" smtClean="0"/>
              <a:t>  |  </a:t>
            </a:r>
            <a:endParaRPr lang="en-US" dirty="0"/>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14233" y="2197780"/>
            <a:ext cx="4715533" cy="3238952"/>
          </a:xfrm>
          <a:prstGeom prst="rect">
            <a:avLst/>
          </a:prstGeom>
        </p:spPr>
      </p:pic>
    </p:spTree>
    <p:extLst>
      <p:ext uri="{BB962C8B-B14F-4D97-AF65-F5344CB8AC3E}">
        <p14:creationId xmlns:p14="http://schemas.microsoft.com/office/powerpoint/2010/main" val="20217294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(a couple) Limitations</a:t>
            </a:r>
          </a:p>
        </p:txBody>
      </p:sp>
      <p:sp>
        <p:nvSpPr>
          <p:cNvPr id="9" name="Slide Number Placeholder 5"/>
          <p:cNvSpPr>
            <a:spLocks noGrp="1"/>
          </p:cNvSpPr>
          <p:nvPr>
            <p:ph type="sldNum" sz="quarter" idx="4"/>
          </p:nvPr>
        </p:nvSpPr>
        <p:spPr>
          <a:prstGeom prst="rect">
            <a:avLst/>
          </a:prstGeom>
        </p:spPr>
        <p:txBody>
          <a:bodyPr vert="horz" lIns="91440" tIns="45720" rIns="91440" bIns="45720" rtlCol="0" anchor="ctr"/>
          <a:lstStyle>
            <a:lvl1pPr algn="r">
              <a:defRPr sz="1100">
                <a:solidFill>
                  <a:srgbClr val="FFFFFF"/>
                </a:solidFill>
              </a:defRPr>
            </a:lvl1pPr>
          </a:lstStyle>
          <a:p>
            <a:fld id="{87FD5303-69AD-2E4D-B18B-E5EED0F0A60B}" type="slidenum">
              <a:rPr lang="en-US" smtClean="0"/>
              <a:pPr/>
              <a:t>8</a:t>
            </a:fld>
            <a:r>
              <a:rPr lang="en-US" dirty="0" smtClean="0"/>
              <a:t>  |  </a:t>
            </a:r>
            <a:endParaRPr lang="en-US" dirty="0"/>
          </a:p>
        </p:txBody>
      </p:sp>
      <p:graphicFrame>
        <p:nvGraphicFramePr>
          <p:cNvPr id="6" name="Table 5"/>
          <p:cNvGraphicFramePr>
            <a:graphicFrameLocks noGrp="1"/>
          </p:cNvGraphicFramePr>
          <p:nvPr>
            <p:extLst>
              <p:ext uri="{D42A27DB-BD31-4B8C-83A1-F6EECF244321}">
                <p14:modId xmlns:p14="http://schemas.microsoft.com/office/powerpoint/2010/main" val="2025111277"/>
              </p:ext>
            </p:extLst>
          </p:nvPr>
        </p:nvGraphicFramePr>
        <p:xfrm>
          <a:off x="228192" y="1441998"/>
          <a:ext cx="5882897" cy="4287520"/>
        </p:xfrm>
        <a:graphic>
          <a:graphicData uri="http://schemas.openxmlformats.org/drawingml/2006/table">
            <a:tbl>
              <a:tblPr firstRow="1" bandRow="1">
                <a:tableStyleId>{5C22544A-7EE6-4342-B048-85BDC9FD1C3A}</a:tableStyleId>
              </a:tblPr>
              <a:tblGrid>
                <a:gridCol w="2360278"/>
                <a:gridCol w="3522619"/>
              </a:tblGrid>
              <a:tr h="370840">
                <a:tc>
                  <a:txBody>
                    <a:bodyPr/>
                    <a:lstStyle/>
                    <a:p>
                      <a:r>
                        <a:rPr lang="nl-NL" sz="1600" dirty="0" smtClean="0"/>
                        <a:t>Feature</a:t>
                      </a:r>
                      <a:r>
                        <a:rPr lang="nl-NL" sz="1600" baseline="0" dirty="0" smtClean="0"/>
                        <a:t> / Data Type</a:t>
                      </a:r>
                      <a:endParaRPr lang="en-US" sz="1600" dirty="0"/>
                    </a:p>
                  </a:txBody>
                  <a:tcPr/>
                </a:tc>
                <a:tc>
                  <a:txBody>
                    <a:bodyPr/>
                    <a:lstStyle/>
                    <a:p>
                      <a:r>
                        <a:rPr lang="nl-NL" sz="1600" dirty="0" smtClean="0"/>
                        <a:t>SQL Server 2014</a:t>
                      </a:r>
                      <a:endParaRPr lang="en-US" sz="1600" dirty="0"/>
                    </a:p>
                  </a:txBody>
                  <a:tcPr/>
                </a:tc>
              </a:tr>
              <a:tr h="370840">
                <a:tc>
                  <a:txBody>
                    <a:bodyPr/>
                    <a:lstStyle/>
                    <a:p>
                      <a:r>
                        <a:rPr lang="nl-NL" sz="1600" b="1" dirty="0" err="1" smtClean="0"/>
                        <a:t>Parallelism</a:t>
                      </a:r>
                      <a:endParaRPr lang="en-US" sz="1600" b="1" dirty="0"/>
                    </a:p>
                  </a:txBody>
                  <a:tcPr/>
                </a:tc>
                <a:tc>
                  <a:txBody>
                    <a:bodyPr/>
                    <a:lstStyle/>
                    <a:p>
                      <a:r>
                        <a:rPr lang="nl-NL" sz="1600" dirty="0" err="1" smtClean="0"/>
                        <a:t>Not</a:t>
                      </a:r>
                      <a:r>
                        <a:rPr lang="nl-NL" sz="1600" dirty="0" smtClean="0"/>
                        <a:t> </a:t>
                      </a:r>
                      <a:r>
                        <a:rPr lang="nl-NL" sz="1600" dirty="0" err="1" smtClean="0"/>
                        <a:t>supported</a:t>
                      </a:r>
                      <a:endParaRPr lang="en-US" sz="1600" dirty="0"/>
                    </a:p>
                  </a:txBody>
                  <a:tcPr/>
                </a:tc>
              </a:tr>
              <a:tr h="370840">
                <a:tc>
                  <a:txBody>
                    <a:bodyPr/>
                    <a:lstStyle/>
                    <a:p>
                      <a:r>
                        <a:rPr lang="nl-NL" sz="1600" b="1" dirty="0" err="1" smtClean="0"/>
                        <a:t>Clustered</a:t>
                      </a:r>
                      <a:r>
                        <a:rPr lang="nl-NL" sz="1600" b="1" dirty="0" smtClean="0"/>
                        <a:t> </a:t>
                      </a:r>
                      <a:r>
                        <a:rPr lang="nl-NL" sz="1600" b="1" dirty="0" err="1" smtClean="0"/>
                        <a:t>Indexes</a:t>
                      </a:r>
                      <a:endParaRPr lang="en-US" sz="1600" b="1" dirty="0"/>
                    </a:p>
                  </a:txBody>
                  <a:tcPr/>
                </a:tc>
                <a:tc>
                  <a:txBody>
                    <a:bodyPr/>
                    <a:lstStyle/>
                    <a:p>
                      <a:r>
                        <a:rPr lang="nl-NL" sz="1600" dirty="0" err="1" smtClean="0"/>
                        <a:t>Nope</a:t>
                      </a:r>
                      <a:endParaRPr lang="en-US" sz="1600" dirty="0"/>
                    </a:p>
                  </a:txBody>
                  <a:tcPr/>
                </a:tc>
              </a:tr>
              <a:tr h="370840">
                <a:tc>
                  <a:txBody>
                    <a:bodyPr/>
                    <a:lstStyle/>
                    <a:p>
                      <a:r>
                        <a:rPr lang="nl-NL" sz="1600" b="1" dirty="0" err="1" smtClean="0"/>
                        <a:t>Foreign</a:t>
                      </a:r>
                      <a:r>
                        <a:rPr lang="nl-NL" sz="1600" b="1" dirty="0" smtClean="0"/>
                        <a:t> Keys</a:t>
                      </a:r>
                      <a:endParaRPr lang="en-US" sz="1600" b="1" dirty="0"/>
                    </a:p>
                  </a:txBody>
                  <a:tcPr/>
                </a:tc>
                <a:tc>
                  <a:txBody>
                    <a:bodyPr/>
                    <a:lstStyle/>
                    <a:p>
                      <a:r>
                        <a:rPr lang="nl-NL" sz="1600" dirty="0" err="1" smtClean="0"/>
                        <a:t>Negative</a:t>
                      </a:r>
                      <a:endParaRPr lang="en-US" sz="1600" dirty="0"/>
                    </a:p>
                  </a:txBody>
                  <a:tcPr/>
                </a:tc>
              </a:tr>
              <a:tr h="370840">
                <a:tc>
                  <a:txBody>
                    <a:bodyPr/>
                    <a:lstStyle/>
                    <a:p>
                      <a:r>
                        <a:rPr lang="nl-NL" sz="1600" b="1" dirty="0" smtClean="0"/>
                        <a:t>Check </a:t>
                      </a:r>
                      <a:r>
                        <a:rPr lang="nl-NL" sz="1600" b="1" dirty="0" err="1" smtClean="0"/>
                        <a:t>Constraints</a:t>
                      </a:r>
                      <a:endParaRPr lang="en-US" sz="1600" b="1" dirty="0"/>
                    </a:p>
                  </a:txBody>
                  <a:tcPr/>
                </a:tc>
                <a:tc>
                  <a:txBody>
                    <a:bodyPr/>
                    <a:lstStyle/>
                    <a:p>
                      <a:r>
                        <a:rPr lang="nl-NL" sz="1600" dirty="0" err="1" smtClean="0"/>
                        <a:t>Can’t</a:t>
                      </a:r>
                      <a:r>
                        <a:rPr lang="nl-NL" sz="1600" dirty="0" smtClean="0"/>
                        <a:t> do </a:t>
                      </a:r>
                      <a:r>
                        <a:rPr lang="nl-NL" sz="1600" dirty="0" err="1" smtClean="0"/>
                        <a:t>that</a:t>
                      </a:r>
                      <a:endParaRPr lang="en-US" sz="1600" dirty="0"/>
                    </a:p>
                  </a:txBody>
                  <a:tcPr/>
                </a:tc>
              </a:tr>
              <a:tr h="370840">
                <a:tc>
                  <a:txBody>
                    <a:bodyPr/>
                    <a:lstStyle/>
                    <a:p>
                      <a:r>
                        <a:rPr lang="nl-NL" sz="1600" b="1" dirty="0" smtClean="0"/>
                        <a:t>Triggers</a:t>
                      </a:r>
                      <a:endParaRPr lang="en-US" sz="1600" b="1" dirty="0"/>
                    </a:p>
                  </a:txBody>
                  <a:tcPr/>
                </a:tc>
                <a:tc>
                  <a:txBody>
                    <a:bodyPr/>
                    <a:lstStyle/>
                    <a:p>
                      <a:r>
                        <a:rPr lang="nl-NL" sz="1600" dirty="0" err="1" smtClean="0"/>
                        <a:t>Nope</a:t>
                      </a:r>
                      <a:endParaRPr lang="en-US" sz="1600" dirty="0"/>
                    </a:p>
                  </a:txBody>
                  <a:tcPr/>
                </a:tc>
              </a:tr>
              <a:tr h="370840">
                <a:tc>
                  <a:txBody>
                    <a:bodyPr/>
                    <a:lstStyle/>
                    <a:p>
                      <a:r>
                        <a:rPr lang="nl-NL" sz="1600" b="1" dirty="0" smtClean="0"/>
                        <a:t>ALTER TABLE</a:t>
                      </a:r>
                      <a:endParaRPr lang="en-US" sz="1600" b="1" dirty="0"/>
                    </a:p>
                  </a:txBody>
                  <a:tcPr/>
                </a:tc>
                <a:tc>
                  <a:txBody>
                    <a:bodyPr/>
                    <a:lstStyle/>
                    <a:p>
                      <a:r>
                        <a:rPr lang="nl-NL" sz="1600" dirty="0" err="1" smtClean="0"/>
                        <a:t>Eeeuh</a:t>
                      </a:r>
                      <a:r>
                        <a:rPr lang="nl-NL" sz="1600" dirty="0" smtClean="0"/>
                        <a:t>…no </a:t>
                      </a:r>
                      <a:br>
                        <a:rPr lang="nl-NL" sz="1600" dirty="0" smtClean="0"/>
                      </a:br>
                      <a:r>
                        <a:rPr lang="nl-NL" sz="1600" dirty="0" smtClean="0"/>
                        <a:t>(DROP</a:t>
                      </a:r>
                      <a:r>
                        <a:rPr lang="nl-NL" sz="1600" baseline="0" dirty="0" smtClean="0"/>
                        <a:t> + CREATE)</a:t>
                      </a:r>
                      <a:endParaRPr lang="en-US" sz="1600" dirty="0"/>
                    </a:p>
                  </a:txBody>
                  <a:tcPr/>
                </a:tc>
              </a:tr>
              <a:tr h="370840">
                <a:tc>
                  <a:txBody>
                    <a:bodyPr/>
                    <a:lstStyle/>
                    <a:p>
                      <a:r>
                        <a:rPr lang="nl-NL" sz="1600" b="1" dirty="0" err="1" smtClean="0"/>
                        <a:t>Compression</a:t>
                      </a:r>
                      <a:endParaRPr lang="en-US" sz="1600" b="1" dirty="0"/>
                    </a:p>
                  </a:txBody>
                  <a:tcPr/>
                </a:tc>
                <a:tc>
                  <a:txBody>
                    <a:bodyPr/>
                    <a:lstStyle/>
                    <a:p>
                      <a:r>
                        <a:rPr lang="nl-NL" sz="1600" dirty="0" smtClean="0"/>
                        <a:t>No</a:t>
                      </a:r>
                      <a:endParaRPr lang="en-US" sz="1600" dirty="0"/>
                    </a:p>
                  </a:txBody>
                  <a:tcPr/>
                </a:tc>
              </a:tr>
              <a:tr h="370840">
                <a:tc>
                  <a:txBody>
                    <a:bodyPr/>
                    <a:lstStyle/>
                    <a:p>
                      <a:r>
                        <a:rPr lang="nl-NL" sz="1600" b="1" dirty="0" smtClean="0"/>
                        <a:t>LOB Data</a:t>
                      </a:r>
                      <a:r>
                        <a:rPr lang="nl-NL" sz="1600" b="1" baseline="0" dirty="0" smtClean="0"/>
                        <a:t> Types</a:t>
                      </a:r>
                      <a:endParaRPr lang="en-US" sz="1600" b="1" dirty="0"/>
                    </a:p>
                  </a:txBody>
                  <a:tcPr/>
                </a:tc>
                <a:tc>
                  <a:txBody>
                    <a:bodyPr/>
                    <a:lstStyle/>
                    <a:p>
                      <a:r>
                        <a:rPr lang="nl-NL" sz="1600" dirty="0" err="1" smtClean="0"/>
                        <a:t>Nope</a:t>
                      </a:r>
                      <a:endParaRPr lang="en-US" sz="1600" dirty="0"/>
                    </a:p>
                  </a:txBody>
                  <a:tcPr/>
                </a:tc>
              </a:tr>
              <a:tr h="370840">
                <a:tc>
                  <a:txBody>
                    <a:bodyPr/>
                    <a:lstStyle/>
                    <a:p>
                      <a:r>
                        <a:rPr lang="nl-NL" sz="1600" b="1" dirty="0" smtClean="0"/>
                        <a:t>Columnstore </a:t>
                      </a:r>
                      <a:r>
                        <a:rPr lang="nl-NL" sz="1600" b="1" dirty="0" err="1" smtClean="0"/>
                        <a:t>Indexes</a:t>
                      </a:r>
                      <a:endParaRPr lang="en-US" sz="1600" b="1" dirty="0"/>
                    </a:p>
                  </a:txBody>
                  <a:tcPr/>
                </a:tc>
                <a:tc>
                  <a:txBody>
                    <a:bodyPr/>
                    <a:lstStyle/>
                    <a:p>
                      <a:r>
                        <a:rPr lang="nl-NL" sz="1600" dirty="0" err="1" smtClean="0"/>
                        <a:t>Not</a:t>
                      </a:r>
                      <a:r>
                        <a:rPr lang="nl-NL" sz="1600" dirty="0" smtClean="0"/>
                        <a:t> </a:t>
                      </a:r>
                      <a:r>
                        <a:rPr lang="nl-NL" sz="1600" dirty="0" err="1" smtClean="0"/>
                        <a:t>Supported</a:t>
                      </a:r>
                      <a:endParaRPr lang="en-US" sz="1600" dirty="0"/>
                    </a:p>
                  </a:txBody>
                  <a:tcPr/>
                </a:tc>
              </a:tr>
              <a:tr h="370840">
                <a:tc>
                  <a:txBody>
                    <a:bodyPr/>
                    <a:lstStyle/>
                    <a:p>
                      <a:r>
                        <a:rPr lang="nl-NL" sz="1600" b="1" dirty="0" err="1" smtClean="0"/>
                        <a:t>Table</a:t>
                      </a:r>
                      <a:r>
                        <a:rPr lang="nl-NL" sz="1600" b="1" dirty="0" smtClean="0"/>
                        <a:t> </a:t>
                      </a:r>
                      <a:r>
                        <a:rPr lang="nl-NL" sz="1600" b="1" dirty="0" err="1" smtClean="0"/>
                        <a:t>Size</a:t>
                      </a:r>
                      <a:endParaRPr lang="en-US" sz="1600" b="1" dirty="0"/>
                    </a:p>
                  </a:txBody>
                  <a:tcPr/>
                </a:tc>
                <a:tc>
                  <a:txBody>
                    <a:bodyPr/>
                    <a:lstStyle/>
                    <a:p>
                      <a:r>
                        <a:rPr lang="nl-NL" sz="1600" dirty="0" smtClean="0"/>
                        <a:t>256GB</a:t>
                      </a:r>
                      <a:endParaRPr lang="en-US" sz="1600" dirty="0"/>
                    </a:p>
                  </a:txBody>
                  <a:tcPr/>
                </a:tc>
              </a:tr>
            </a:tbl>
          </a:graphicData>
        </a:graphic>
      </p:graphicFrame>
      <p:graphicFrame>
        <p:nvGraphicFramePr>
          <p:cNvPr id="7" name="Table 6"/>
          <p:cNvGraphicFramePr>
            <a:graphicFrameLocks noGrp="1"/>
          </p:cNvGraphicFramePr>
          <p:nvPr>
            <p:extLst>
              <p:ext uri="{D42A27DB-BD31-4B8C-83A1-F6EECF244321}">
                <p14:modId xmlns:p14="http://schemas.microsoft.com/office/powerpoint/2010/main" val="2878026902"/>
              </p:ext>
            </p:extLst>
          </p:nvPr>
        </p:nvGraphicFramePr>
        <p:xfrm>
          <a:off x="6111089" y="1438342"/>
          <a:ext cx="2833735" cy="4287520"/>
        </p:xfrm>
        <a:graphic>
          <a:graphicData uri="http://schemas.openxmlformats.org/drawingml/2006/table">
            <a:tbl>
              <a:tblPr firstRow="1" bandRow="1">
                <a:tableStyleId>{5C22544A-7EE6-4342-B048-85BDC9FD1C3A}</a:tableStyleId>
              </a:tblPr>
              <a:tblGrid>
                <a:gridCol w="2833735"/>
              </a:tblGrid>
              <a:tr h="370840">
                <a:tc>
                  <a:txBody>
                    <a:bodyPr/>
                    <a:lstStyle/>
                    <a:p>
                      <a:r>
                        <a:rPr lang="nl-NL" sz="1600" dirty="0" smtClean="0"/>
                        <a:t>SQL Server 2016</a:t>
                      </a:r>
                      <a:endParaRPr lang="en-US" sz="1600" dirty="0"/>
                    </a:p>
                  </a:txBody>
                  <a:tcPr>
                    <a:solidFill>
                      <a:schemeClr val="accent6">
                        <a:lumMod val="60000"/>
                        <a:lumOff val="40000"/>
                      </a:schemeClr>
                    </a:solidFill>
                  </a:tcPr>
                </a:tc>
              </a:tr>
              <a:tr h="370840">
                <a:tc>
                  <a:txBody>
                    <a:bodyPr/>
                    <a:lstStyle/>
                    <a:p>
                      <a:r>
                        <a:rPr lang="nl-NL" sz="1600" dirty="0" err="1" smtClean="0"/>
                        <a:t>Supported</a:t>
                      </a:r>
                      <a:endParaRPr lang="en-US" sz="1600" dirty="0"/>
                    </a:p>
                  </a:txBody>
                  <a:tcPr/>
                </a:tc>
              </a:tr>
              <a:tr h="370840">
                <a:tc>
                  <a:txBody>
                    <a:bodyPr/>
                    <a:lstStyle/>
                    <a:p>
                      <a:endParaRPr lang="en-US" sz="1600" dirty="0"/>
                    </a:p>
                  </a:txBody>
                  <a:tcPr/>
                </a:tc>
              </a:tr>
              <a:tr h="370840">
                <a:tc>
                  <a:txBody>
                    <a:bodyPr/>
                    <a:lstStyle/>
                    <a:p>
                      <a:r>
                        <a:rPr lang="nl-NL" sz="1600" dirty="0" err="1" smtClean="0"/>
                        <a:t>Supported</a:t>
                      </a:r>
                      <a:endParaRPr lang="en-US" sz="1600" dirty="0"/>
                    </a:p>
                  </a:txBody>
                  <a:tcPr/>
                </a:tc>
              </a:tr>
              <a:tr h="370840">
                <a:tc>
                  <a:txBody>
                    <a:bodyPr/>
                    <a:lstStyle/>
                    <a:p>
                      <a:r>
                        <a:rPr lang="nl-NL" sz="1600" dirty="0" err="1" smtClean="0"/>
                        <a:t>Supported</a:t>
                      </a:r>
                      <a:endParaRPr lang="en-US" sz="1600" dirty="0"/>
                    </a:p>
                  </a:txBody>
                  <a:tcPr/>
                </a:tc>
              </a:tr>
              <a:tr h="370840">
                <a:tc>
                  <a:txBody>
                    <a:bodyPr/>
                    <a:lstStyle/>
                    <a:p>
                      <a:r>
                        <a:rPr lang="nl-NL" sz="1600" dirty="0" err="1" smtClean="0"/>
                        <a:t>Partially</a:t>
                      </a:r>
                      <a:endParaRPr lang="en-US" sz="1600" dirty="0"/>
                    </a:p>
                  </a:txBody>
                  <a:tcPr/>
                </a:tc>
              </a:tr>
              <a:tr h="370840">
                <a:tc>
                  <a:txBody>
                    <a:bodyPr/>
                    <a:lstStyle/>
                    <a:p>
                      <a:r>
                        <a:rPr lang="nl-NL" sz="1600" dirty="0" err="1" smtClean="0"/>
                        <a:t>Partially</a:t>
                      </a:r>
                      <a:r>
                        <a:rPr lang="nl-NL" sz="1600" dirty="0" smtClean="0"/>
                        <a:t> (</a:t>
                      </a:r>
                      <a:r>
                        <a:rPr lang="nl-NL" sz="1600" dirty="0" err="1" smtClean="0"/>
                        <a:t>through</a:t>
                      </a:r>
                      <a:r>
                        <a:rPr lang="nl-NL" sz="1600" dirty="0" smtClean="0"/>
                        <a:t> REBUILD)</a:t>
                      </a:r>
                      <a:br>
                        <a:rPr lang="nl-NL" sz="1600" dirty="0" smtClean="0"/>
                      </a:br>
                      <a:endParaRPr lang="en-US" sz="1600" dirty="0"/>
                    </a:p>
                  </a:txBody>
                  <a:tcPr/>
                </a:tc>
              </a:tr>
              <a:tr h="370840">
                <a:tc>
                  <a:txBody>
                    <a:bodyPr/>
                    <a:lstStyle/>
                    <a:p>
                      <a:endParaRPr lang="en-US" sz="1600" dirty="0"/>
                    </a:p>
                  </a:txBody>
                  <a:tcPr/>
                </a:tc>
              </a:tr>
              <a:tr h="370840">
                <a:tc>
                  <a:txBody>
                    <a:bodyPr/>
                    <a:lstStyle/>
                    <a:p>
                      <a:r>
                        <a:rPr lang="nl-NL" sz="1600" dirty="0" err="1" smtClean="0"/>
                        <a:t>Propably</a:t>
                      </a:r>
                      <a:endParaRPr lang="en-US" sz="1600" dirty="0"/>
                    </a:p>
                  </a:txBody>
                  <a:tcPr/>
                </a:tc>
              </a:tr>
              <a:tr h="370840">
                <a:tc>
                  <a:txBody>
                    <a:bodyPr/>
                    <a:lstStyle/>
                    <a:p>
                      <a:r>
                        <a:rPr lang="nl-NL" sz="1600" dirty="0" err="1" smtClean="0"/>
                        <a:t>Supported</a:t>
                      </a:r>
                      <a:endParaRPr lang="en-US" sz="1600" dirty="0"/>
                    </a:p>
                  </a:txBody>
                  <a:tcPr/>
                </a:tc>
              </a:tr>
              <a:tr h="370840">
                <a:tc>
                  <a:txBody>
                    <a:bodyPr/>
                    <a:lstStyle/>
                    <a:p>
                      <a:r>
                        <a:rPr lang="nl-NL" sz="1600" dirty="0" smtClean="0"/>
                        <a:t>2TB</a:t>
                      </a:r>
                      <a:endParaRPr lang="en-US" sz="1600" dirty="0"/>
                    </a:p>
                  </a:txBody>
                  <a:tcPr/>
                </a:tc>
              </a:tr>
            </a:tbl>
          </a:graphicData>
        </a:graphic>
      </p:graphicFrame>
    </p:spTree>
    <p:extLst>
      <p:ext uri="{BB962C8B-B14F-4D97-AF65-F5344CB8AC3E}">
        <p14:creationId xmlns:p14="http://schemas.microsoft.com/office/powerpoint/2010/main" val="13175900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Memory Optimization Advisor</a:t>
            </a:r>
          </a:p>
        </p:txBody>
      </p:sp>
      <p:sp>
        <p:nvSpPr>
          <p:cNvPr id="5" name="Content Placeholder 4"/>
          <p:cNvSpPr>
            <a:spLocks noGrp="1"/>
          </p:cNvSpPr>
          <p:nvPr>
            <p:ph sz="half" idx="1"/>
          </p:nvPr>
        </p:nvSpPr>
        <p:spPr>
          <a:xfrm>
            <a:off x="457200" y="1417638"/>
            <a:ext cx="8515884" cy="4525963"/>
          </a:xfrm>
        </p:spPr>
        <p:txBody>
          <a:bodyPr>
            <a:normAutofit/>
          </a:bodyPr>
          <a:lstStyle/>
          <a:p>
            <a:r>
              <a:rPr lang="nl-NL" dirty="0"/>
              <a:t>Memory </a:t>
            </a:r>
            <a:r>
              <a:rPr lang="nl-NL" dirty="0" err="1"/>
              <a:t>Optimization</a:t>
            </a:r>
            <a:r>
              <a:rPr lang="nl-NL" dirty="0"/>
              <a:t> Advisor </a:t>
            </a:r>
            <a:r>
              <a:rPr lang="nl-NL" dirty="0" err="1"/>
              <a:t>can</a:t>
            </a:r>
            <a:r>
              <a:rPr lang="nl-NL" dirty="0"/>
              <a:t> help </a:t>
            </a:r>
            <a:r>
              <a:rPr lang="nl-NL" dirty="0" err="1"/>
              <a:t>you</a:t>
            </a:r>
            <a:r>
              <a:rPr lang="nl-NL" dirty="0"/>
              <a:t> </a:t>
            </a:r>
            <a:r>
              <a:rPr lang="nl-NL" dirty="0" err="1"/>
              <a:t>convert</a:t>
            </a:r>
            <a:r>
              <a:rPr lang="nl-NL" dirty="0"/>
              <a:t> ‘traditional’ </a:t>
            </a:r>
            <a:r>
              <a:rPr lang="nl-NL" dirty="0" err="1"/>
              <a:t>tables</a:t>
            </a:r>
            <a:r>
              <a:rPr lang="nl-NL" dirty="0"/>
              <a:t> </a:t>
            </a:r>
            <a:r>
              <a:rPr lang="nl-NL" dirty="0" err="1"/>
              <a:t>to</a:t>
            </a:r>
            <a:r>
              <a:rPr lang="nl-NL" dirty="0"/>
              <a:t> In-Memory </a:t>
            </a:r>
            <a:r>
              <a:rPr lang="nl-NL" dirty="0" err="1" smtClean="0"/>
              <a:t>tables</a:t>
            </a:r>
            <a:endParaRPr lang="en-US" dirty="0"/>
          </a:p>
        </p:txBody>
      </p:sp>
      <p:sp>
        <p:nvSpPr>
          <p:cNvPr id="9" name="Slide Number Placeholder 5"/>
          <p:cNvSpPr>
            <a:spLocks noGrp="1"/>
          </p:cNvSpPr>
          <p:nvPr>
            <p:ph type="sldNum" sz="quarter" idx="4"/>
          </p:nvPr>
        </p:nvSpPr>
        <p:spPr>
          <a:prstGeom prst="rect">
            <a:avLst/>
          </a:prstGeom>
        </p:spPr>
        <p:txBody>
          <a:bodyPr vert="horz" lIns="91440" tIns="45720" rIns="91440" bIns="45720" rtlCol="0" anchor="ctr"/>
          <a:lstStyle>
            <a:lvl1pPr algn="r">
              <a:defRPr sz="1100">
                <a:solidFill>
                  <a:srgbClr val="FFFFFF"/>
                </a:solidFill>
              </a:defRPr>
            </a:lvl1pPr>
          </a:lstStyle>
          <a:p>
            <a:fld id="{87FD5303-69AD-2E4D-B18B-E5EED0F0A60B}" type="slidenum">
              <a:rPr lang="en-US" smtClean="0"/>
              <a:pPr/>
              <a:t>9</a:t>
            </a:fld>
            <a:r>
              <a:rPr lang="en-US" dirty="0" smtClean="0"/>
              <a:t>  |  </a:t>
            </a:r>
            <a:endParaRPr lang="en-US" dirty="0"/>
          </a:p>
        </p:txBody>
      </p:sp>
      <p:sp>
        <p:nvSpPr>
          <p:cNvPr id="6" name="Rectangle 5"/>
          <p:cNvSpPr/>
          <p:nvPr/>
        </p:nvSpPr>
        <p:spPr>
          <a:xfrm>
            <a:off x="2429426" y="3294229"/>
            <a:ext cx="4285148" cy="1323439"/>
          </a:xfrm>
          <a:prstGeom prst="rect">
            <a:avLst/>
          </a:prstGeom>
        </p:spPr>
        <p:txBody>
          <a:bodyPr wrap="none">
            <a:spAutoFit/>
          </a:bodyPr>
          <a:lstStyle/>
          <a:p>
            <a:pPr algn="ctr"/>
            <a:r>
              <a:rPr lang="en-US" sz="8000" b="1" dirty="0" smtClean="0">
                <a:solidFill>
                  <a:schemeClr val="tx1">
                    <a:lumMod val="50000"/>
                    <a:lumOff val="50000"/>
                  </a:schemeClr>
                </a:solidFill>
              </a:rPr>
              <a:t>[ DEMO ] </a:t>
            </a:r>
            <a:endParaRPr lang="en-US" sz="8000" b="1" dirty="0">
              <a:solidFill>
                <a:schemeClr val="tx1">
                  <a:lumMod val="50000"/>
                  <a:lumOff val="50000"/>
                </a:schemeClr>
              </a:solidFill>
            </a:endParaRPr>
          </a:p>
        </p:txBody>
      </p:sp>
    </p:spTree>
    <p:extLst>
      <p:ext uri="{BB962C8B-B14F-4D97-AF65-F5344CB8AC3E}">
        <p14:creationId xmlns:p14="http://schemas.microsoft.com/office/powerpoint/2010/main" val="343801014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Memory-Optimized Table Theory</a:t>
            </a:r>
          </a:p>
        </p:txBody>
      </p:sp>
      <p:sp>
        <p:nvSpPr>
          <p:cNvPr id="9" name="Slide Number Placeholder 5"/>
          <p:cNvSpPr>
            <a:spLocks noGrp="1"/>
          </p:cNvSpPr>
          <p:nvPr>
            <p:ph type="sldNum" sz="quarter" idx="4"/>
          </p:nvPr>
        </p:nvSpPr>
        <p:spPr>
          <a:prstGeom prst="rect">
            <a:avLst/>
          </a:prstGeom>
        </p:spPr>
        <p:txBody>
          <a:bodyPr vert="horz" lIns="91440" tIns="45720" rIns="91440" bIns="45720" rtlCol="0" anchor="ctr"/>
          <a:lstStyle>
            <a:lvl1pPr algn="r">
              <a:defRPr sz="1100">
                <a:solidFill>
                  <a:srgbClr val="FFFFFF"/>
                </a:solidFill>
              </a:defRPr>
            </a:lvl1pPr>
          </a:lstStyle>
          <a:p>
            <a:fld id="{87FD5303-69AD-2E4D-B18B-E5EED0F0A60B}" type="slidenum">
              <a:rPr lang="en-US" smtClean="0"/>
              <a:pPr/>
              <a:t>10</a:t>
            </a:fld>
            <a:r>
              <a:rPr lang="en-US" dirty="0" smtClean="0"/>
              <a:t>  |  </a:t>
            </a:r>
            <a:endParaRPr lang="en-US" dirty="0"/>
          </a:p>
        </p:txBody>
      </p:sp>
      <p:pic>
        <p:nvPicPr>
          <p:cNvPr id="6" name="Picture 2" descr="http://www.amnh.org/var/ezflow_site/storage/images/media/amnh/images/exhibitions/past-exhibitions/einstein2/einstein_smalldynamiclead/434266-1-eng-US/einstein_smalldynamiclead_dynamic_lead_slide.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38250" y="1822814"/>
            <a:ext cx="6667500" cy="33337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1980208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Memory-Optimized Table Theory</a:t>
            </a:r>
          </a:p>
        </p:txBody>
      </p:sp>
      <p:sp>
        <p:nvSpPr>
          <p:cNvPr id="5" name="Content Placeholder 4"/>
          <p:cNvSpPr>
            <a:spLocks noGrp="1"/>
          </p:cNvSpPr>
          <p:nvPr>
            <p:ph sz="half" idx="1"/>
          </p:nvPr>
        </p:nvSpPr>
        <p:spPr>
          <a:xfrm>
            <a:off x="457200" y="1417638"/>
            <a:ext cx="8515884" cy="4525963"/>
          </a:xfrm>
        </p:spPr>
        <p:txBody>
          <a:bodyPr>
            <a:normAutofit/>
          </a:bodyPr>
          <a:lstStyle/>
          <a:p>
            <a:pPr>
              <a:buFont typeface="Wingdings" panose="05000000000000000000" pitchFamily="2" charset="2"/>
              <a:buChar char="§"/>
            </a:pPr>
            <a:r>
              <a:rPr lang="nl-NL" dirty="0"/>
              <a:t>Reads </a:t>
            </a:r>
            <a:r>
              <a:rPr lang="nl-NL" dirty="0" err="1"/>
              <a:t>and</a:t>
            </a:r>
            <a:r>
              <a:rPr lang="nl-NL" dirty="0"/>
              <a:t> </a:t>
            </a:r>
            <a:r>
              <a:rPr lang="nl-NL" dirty="0" err="1"/>
              <a:t>writes</a:t>
            </a:r>
            <a:r>
              <a:rPr lang="nl-NL" dirty="0"/>
              <a:t> </a:t>
            </a:r>
            <a:r>
              <a:rPr lang="nl-NL" dirty="0" err="1"/>
              <a:t>to</a:t>
            </a:r>
            <a:r>
              <a:rPr lang="nl-NL" dirty="0"/>
              <a:t> In-Memory </a:t>
            </a:r>
            <a:r>
              <a:rPr lang="nl-NL" dirty="0" err="1"/>
              <a:t>tables</a:t>
            </a:r>
            <a:r>
              <a:rPr lang="nl-NL" dirty="0"/>
              <a:t> </a:t>
            </a:r>
            <a:r>
              <a:rPr lang="nl-NL" dirty="0" err="1"/>
              <a:t>occur</a:t>
            </a:r>
            <a:r>
              <a:rPr lang="nl-NL" dirty="0"/>
              <a:t> </a:t>
            </a:r>
            <a:r>
              <a:rPr lang="nl-NL" dirty="0" err="1"/>
              <a:t>directly</a:t>
            </a:r>
            <a:r>
              <a:rPr lang="nl-NL" dirty="0"/>
              <a:t> in the memory of </a:t>
            </a:r>
            <a:r>
              <a:rPr lang="nl-NL" dirty="0" err="1"/>
              <a:t>your</a:t>
            </a:r>
            <a:r>
              <a:rPr lang="nl-NL" dirty="0"/>
              <a:t> SQL Server </a:t>
            </a:r>
            <a:r>
              <a:rPr lang="nl-NL" dirty="0" err="1"/>
              <a:t>Instance</a:t>
            </a:r>
            <a:endParaRPr lang="nl-NL" dirty="0"/>
          </a:p>
          <a:p>
            <a:pPr>
              <a:buFont typeface="Wingdings" panose="05000000000000000000" pitchFamily="2" charset="2"/>
              <a:buChar char="§"/>
            </a:pPr>
            <a:r>
              <a:rPr lang="nl-NL" dirty="0"/>
              <a:t>Sounds </a:t>
            </a:r>
            <a:r>
              <a:rPr lang="nl-NL" dirty="0" err="1"/>
              <a:t>scary</a:t>
            </a:r>
            <a:r>
              <a:rPr lang="nl-NL" dirty="0"/>
              <a:t>? </a:t>
            </a:r>
            <a:r>
              <a:rPr lang="nl-NL" dirty="0" err="1"/>
              <a:t>Don’t</a:t>
            </a:r>
            <a:r>
              <a:rPr lang="nl-NL" dirty="0"/>
              <a:t> </a:t>
            </a:r>
            <a:r>
              <a:rPr lang="nl-NL" dirty="0" err="1"/>
              <a:t>worry</a:t>
            </a:r>
            <a:r>
              <a:rPr lang="nl-NL" dirty="0"/>
              <a:t>, In-Memory </a:t>
            </a:r>
            <a:r>
              <a:rPr lang="nl-NL" dirty="0" err="1"/>
              <a:t>tables</a:t>
            </a:r>
            <a:r>
              <a:rPr lang="nl-NL" dirty="0"/>
              <a:t> are </a:t>
            </a:r>
            <a:r>
              <a:rPr lang="nl-NL" b="1" dirty="0" err="1"/>
              <a:t>fully</a:t>
            </a:r>
            <a:r>
              <a:rPr lang="nl-NL" b="1" dirty="0"/>
              <a:t> </a:t>
            </a:r>
            <a:r>
              <a:rPr lang="nl-NL" b="1" dirty="0" err="1"/>
              <a:t>durable</a:t>
            </a:r>
            <a:r>
              <a:rPr lang="nl-NL" b="1" dirty="0"/>
              <a:t> </a:t>
            </a:r>
            <a:r>
              <a:rPr lang="nl-NL" dirty="0"/>
              <a:t>(</a:t>
            </a:r>
            <a:r>
              <a:rPr lang="nl-NL" dirty="0" err="1"/>
              <a:t>if</a:t>
            </a:r>
            <a:r>
              <a:rPr lang="nl-NL" dirty="0"/>
              <a:t> </a:t>
            </a:r>
            <a:r>
              <a:rPr lang="nl-NL" dirty="0" err="1"/>
              <a:t>you</a:t>
            </a:r>
            <a:r>
              <a:rPr lang="nl-NL" dirty="0"/>
              <a:t> want </a:t>
            </a:r>
            <a:r>
              <a:rPr lang="nl-NL" dirty="0" err="1"/>
              <a:t>them</a:t>
            </a:r>
            <a:r>
              <a:rPr lang="nl-NL" dirty="0"/>
              <a:t> </a:t>
            </a:r>
            <a:r>
              <a:rPr lang="nl-NL" dirty="0" err="1"/>
              <a:t>to</a:t>
            </a:r>
            <a:r>
              <a:rPr lang="nl-NL" dirty="0"/>
              <a:t>)</a:t>
            </a:r>
          </a:p>
          <a:p>
            <a:pPr>
              <a:buFont typeface="Wingdings" panose="05000000000000000000" pitchFamily="2" charset="2"/>
              <a:buChar char="§"/>
            </a:pPr>
            <a:r>
              <a:rPr lang="nl-NL" dirty="0" err="1"/>
              <a:t>There</a:t>
            </a:r>
            <a:r>
              <a:rPr lang="nl-NL" dirty="0"/>
              <a:t> are </a:t>
            </a:r>
            <a:r>
              <a:rPr lang="nl-NL" dirty="0" err="1"/>
              <a:t>some</a:t>
            </a:r>
            <a:r>
              <a:rPr lang="nl-NL" dirty="0"/>
              <a:t> changes </a:t>
            </a:r>
            <a:r>
              <a:rPr lang="nl-NL" dirty="0" err="1"/>
              <a:t>to</a:t>
            </a:r>
            <a:r>
              <a:rPr lang="nl-NL" dirty="0"/>
              <a:t> transaction </a:t>
            </a:r>
            <a:r>
              <a:rPr lang="nl-NL" dirty="0" err="1"/>
              <a:t>logging</a:t>
            </a:r>
            <a:r>
              <a:rPr lang="nl-NL" dirty="0"/>
              <a:t> </a:t>
            </a:r>
            <a:r>
              <a:rPr lang="nl-NL" dirty="0" err="1"/>
              <a:t>though</a:t>
            </a:r>
            <a:r>
              <a:rPr lang="nl-NL" dirty="0" smtClean="0"/>
              <a:t>:</a:t>
            </a:r>
            <a:endParaRPr lang="en-US" dirty="0"/>
          </a:p>
        </p:txBody>
      </p:sp>
      <p:sp>
        <p:nvSpPr>
          <p:cNvPr id="9" name="Slide Number Placeholder 5"/>
          <p:cNvSpPr>
            <a:spLocks noGrp="1"/>
          </p:cNvSpPr>
          <p:nvPr>
            <p:ph type="sldNum" sz="quarter" idx="4"/>
          </p:nvPr>
        </p:nvSpPr>
        <p:spPr>
          <a:prstGeom prst="rect">
            <a:avLst/>
          </a:prstGeom>
        </p:spPr>
        <p:txBody>
          <a:bodyPr vert="horz" lIns="91440" tIns="45720" rIns="91440" bIns="45720" rtlCol="0" anchor="ctr"/>
          <a:lstStyle>
            <a:lvl1pPr algn="r">
              <a:defRPr sz="1100">
                <a:solidFill>
                  <a:srgbClr val="FFFFFF"/>
                </a:solidFill>
              </a:defRPr>
            </a:lvl1pPr>
          </a:lstStyle>
          <a:p>
            <a:fld id="{87FD5303-69AD-2E4D-B18B-E5EED0F0A60B}" type="slidenum">
              <a:rPr lang="en-US" smtClean="0"/>
              <a:pPr/>
              <a:t>11</a:t>
            </a:fld>
            <a:r>
              <a:rPr lang="en-US" dirty="0" smtClean="0"/>
              <a:t>  |  </a:t>
            </a:r>
            <a:endParaRPr lang="en-US" dirty="0"/>
          </a:p>
        </p:txBody>
      </p:sp>
      <p:sp>
        <p:nvSpPr>
          <p:cNvPr id="6" name="TextBox 5"/>
          <p:cNvSpPr txBox="1"/>
          <p:nvPr/>
        </p:nvSpPr>
        <p:spPr>
          <a:xfrm>
            <a:off x="798462" y="4591758"/>
            <a:ext cx="7833360" cy="1015663"/>
          </a:xfrm>
          <a:prstGeom prst="rect">
            <a:avLst/>
          </a:prstGeom>
          <a:noFill/>
        </p:spPr>
        <p:txBody>
          <a:bodyPr wrap="square" rtlCol="0">
            <a:spAutoFit/>
          </a:bodyPr>
          <a:lstStyle/>
          <a:p>
            <a:pPr marL="285750" indent="-285750">
              <a:buFont typeface="Courier New" panose="02070309020205020404" pitchFamily="49" charset="0"/>
              <a:buChar char="o"/>
            </a:pPr>
            <a:r>
              <a:rPr lang="en-US" sz="2000" dirty="0" smtClean="0">
                <a:solidFill>
                  <a:schemeClr val="tx1">
                    <a:lumMod val="75000"/>
                    <a:lumOff val="25000"/>
                  </a:schemeClr>
                </a:solidFill>
              </a:rPr>
              <a:t>Log records are generated when commit process begins</a:t>
            </a:r>
          </a:p>
          <a:p>
            <a:pPr marL="285750" indent="-285750">
              <a:buFont typeface="Courier New" panose="02070309020205020404" pitchFamily="49" charset="0"/>
              <a:buChar char="o"/>
            </a:pPr>
            <a:r>
              <a:rPr lang="nl-NL" sz="2000" dirty="0" smtClean="0">
                <a:solidFill>
                  <a:schemeClr val="tx1">
                    <a:lumMod val="75000"/>
                    <a:lumOff val="25000"/>
                  </a:schemeClr>
                </a:solidFill>
              </a:rPr>
              <a:t>Changes </a:t>
            </a:r>
            <a:r>
              <a:rPr lang="nl-NL" sz="2000" dirty="0" err="1" smtClean="0">
                <a:solidFill>
                  <a:schemeClr val="tx1">
                    <a:lumMod val="75000"/>
                    <a:lumOff val="25000"/>
                  </a:schemeClr>
                </a:solidFill>
              </a:rPr>
              <a:t>to</a:t>
            </a:r>
            <a:r>
              <a:rPr lang="nl-NL" sz="2000" dirty="0" smtClean="0">
                <a:solidFill>
                  <a:schemeClr val="tx1">
                    <a:lumMod val="75000"/>
                    <a:lumOff val="25000"/>
                  </a:schemeClr>
                </a:solidFill>
              </a:rPr>
              <a:t> In-Memory </a:t>
            </a:r>
            <a:r>
              <a:rPr lang="nl-NL" sz="2000" dirty="0" err="1" smtClean="0">
                <a:solidFill>
                  <a:schemeClr val="tx1">
                    <a:lumMod val="75000"/>
                    <a:lumOff val="25000"/>
                  </a:schemeClr>
                </a:solidFill>
              </a:rPr>
              <a:t>indexes</a:t>
            </a:r>
            <a:r>
              <a:rPr lang="nl-NL" sz="2000" dirty="0" smtClean="0">
                <a:solidFill>
                  <a:schemeClr val="tx1">
                    <a:lumMod val="75000"/>
                    <a:lumOff val="25000"/>
                  </a:schemeClr>
                </a:solidFill>
              </a:rPr>
              <a:t> are </a:t>
            </a:r>
            <a:r>
              <a:rPr lang="nl-NL" sz="2000" dirty="0" err="1" smtClean="0">
                <a:solidFill>
                  <a:schemeClr val="tx1">
                    <a:lumMod val="75000"/>
                    <a:lumOff val="25000"/>
                  </a:schemeClr>
                </a:solidFill>
              </a:rPr>
              <a:t>not</a:t>
            </a:r>
            <a:r>
              <a:rPr lang="nl-NL" sz="2000" dirty="0" smtClean="0">
                <a:solidFill>
                  <a:schemeClr val="tx1">
                    <a:lumMod val="75000"/>
                    <a:lumOff val="25000"/>
                  </a:schemeClr>
                </a:solidFill>
              </a:rPr>
              <a:t> </a:t>
            </a:r>
            <a:r>
              <a:rPr lang="nl-NL" sz="2000" dirty="0" err="1" smtClean="0">
                <a:solidFill>
                  <a:schemeClr val="tx1">
                    <a:lumMod val="75000"/>
                    <a:lumOff val="25000"/>
                  </a:schemeClr>
                </a:solidFill>
              </a:rPr>
              <a:t>logged</a:t>
            </a:r>
            <a:endParaRPr lang="nl-NL" sz="2000" dirty="0" smtClean="0">
              <a:solidFill>
                <a:schemeClr val="tx1">
                  <a:lumMod val="75000"/>
                  <a:lumOff val="25000"/>
                </a:schemeClr>
              </a:solidFill>
            </a:endParaRPr>
          </a:p>
          <a:p>
            <a:pPr marL="285750" indent="-285750">
              <a:buFont typeface="Courier New" panose="02070309020205020404" pitchFamily="49" charset="0"/>
              <a:buChar char="o"/>
            </a:pPr>
            <a:r>
              <a:rPr lang="nl-NL" sz="2000" dirty="0" smtClean="0">
                <a:solidFill>
                  <a:schemeClr val="tx1">
                    <a:lumMod val="75000"/>
                    <a:lumOff val="25000"/>
                  </a:schemeClr>
                </a:solidFill>
              </a:rPr>
              <a:t>Multiple changes </a:t>
            </a:r>
            <a:r>
              <a:rPr lang="nl-NL" sz="2000" dirty="0" err="1" smtClean="0">
                <a:solidFill>
                  <a:schemeClr val="tx1">
                    <a:lumMod val="75000"/>
                    <a:lumOff val="25000"/>
                  </a:schemeClr>
                </a:solidFill>
              </a:rPr>
              <a:t>will</a:t>
            </a:r>
            <a:r>
              <a:rPr lang="nl-NL" sz="2000" dirty="0" smtClean="0">
                <a:solidFill>
                  <a:schemeClr val="tx1">
                    <a:lumMod val="75000"/>
                    <a:lumOff val="25000"/>
                  </a:schemeClr>
                </a:solidFill>
              </a:rPr>
              <a:t> get </a:t>
            </a:r>
            <a:r>
              <a:rPr lang="nl-NL" sz="2000" dirty="0" err="1" smtClean="0">
                <a:solidFill>
                  <a:schemeClr val="tx1">
                    <a:lumMod val="75000"/>
                    <a:lumOff val="25000"/>
                  </a:schemeClr>
                </a:solidFill>
              </a:rPr>
              <a:t>grouped</a:t>
            </a:r>
            <a:r>
              <a:rPr lang="nl-NL" sz="2000" dirty="0" smtClean="0">
                <a:solidFill>
                  <a:schemeClr val="tx1">
                    <a:lumMod val="75000"/>
                    <a:lumOff val="25000"/>
                  </a:schemeClr>
                </a:solidFill>
              </a:rPr>
              <a:t> </a:t>
            </a:r>
            <a:r>
              <a:rPr lang="nl-NL" sz="2000" dirty="0" err="1" smtClean="0">
                <a:solidFill>
                  <a:schemeClr val="tx1">
                    <a:lumMod val="75000"/>
                    <a:lumOff val="25000"/>
                  </a:schemeClr>
                </a:solidFill>
              </a:rPr>
              <a:t>into</a:t>
            </a:r>
            <a:r>
              <a:rPr lang="nl-NL" sz="2000" dirty="0" smtClean="0">
                <a:solidFill>
                  <a:schemeClr val="tx1">
                    <a:lumMod val="75000"/>
                    <a:lumOff val="25000"/>
                  </a:schemeClr>
                </a:solidFill>
              </a:rPr>
              <a:t> </a:t>
            </a:r>
            <a:r>
              <a:rPr lang="nl-NL" sz="2000" dirty="0" err="1" smtClean="0">
                <a:solidFill>
                  <a:schemeClr val="tx1">
                    <a:lumMod val="75000"/>
                    <a:lumOff val="25000"/>
                  </a:schemeClr>
                </a:solidFill>
              </a:rPr>
              <a:t>one</a:t>
            </a:r>
            <a:r>
              <a:rPr lang="nl-NL" sz="2000" dirty="0" smtClean="0">
                <a:solidFill>
                  <a:schemeClr val="tx1">
                    <a:lumMod val="75000"/>
                    <a:lumOff val="25000"/>
                  </a:schemeClr>
                </a:solidFill>
              </a:rPr>
              <a:t> (large) log record</a:t>
            </a:r>
            <a:endParaRPr lang="en-US" sz="2000" dirty="0">
              <a:solidFill>
                <a:schemeClr val="tx1">
                  <a:lumMod val="75000"/>
                  <a:lumOff val="25000"/>
                </a:schemeClr>
              </a:solidFill>
            </a:endParaRPr>
          </a:p>
        </p:txBody>
      </p:sp>
    </p:spTree>
    <p:extLst>
      <p:ext uri="{BB962C8B-B14F-4D97-AF65-F5344CB8AC3E}">
        <p14:creationId xmlns:p14="http://schemas.microsoft.com/office/powerpoint/2010/main" val="9040842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fade">
                                      <p:cBhvr>
                                        <p:cTn id="7" dur="500"/>
                                        <p:tgtEl>
                                          <p:spTgt spid="5">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animEffect transition="in" filter="fade">
                                      <p:cBhvr>
                                        <p:cTn id="12" dur="500"/>
                                        <p:tgtEl>
                                          <p:spTgt spid="5">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Memory-Optimized Table Theory</a:t>
            </a:r>
          </a:p>
        </p:txBody>
      </p:sp>
      <p:sp>
        <p:nvSpPr>
          <p:cNvPr id="9" name="Slide Number Placeholder 5"/>
          <p:cNvSpPr>
            <a:spLocks noGrp="1"/>
          </p:cNvSpPr>
          <p:nvPr>
            <p:ph type="sldNum" sz="quarter" idx="4"/>
          </p:nvPr>
        </p:nvSpPr>
        <p:spPr>
          <a:prstGeom prst="rect">
            <a:avLst/>
          </a:prstGeom>
        </p:spPr>
        <p:txBody>
          <a:bodyPr vert="horz" lIns="91440" tIns="45720" rIns="91440" bIns="45720" rtlCol="0" anchor="ctr"/>
          <a:lstStyle>
            <a:lvl1pPr algn="r">
              <a:defRPr sz="1100">
                <a:solidFill>
                  <a:srgbClr val="FFFFFF"/>
                </a:solidFill>
              </a:defRPr>
            </a:lvl1pPr>
          </a:lstStyle>
          <a:p>
            <a:fld id="{87FD5303-69AD-2E4D-B18B-E5EED0F0A60B}" type="slidenum">
              <a:rPr lang="en-US" smtClean="0"/>
              <a:pPr/>
              <a:t>12</a:t>
            </a:fld>
            <a:r>
              <a:rPr lang="en-US" dirty="0" smtClean="0"/>
              <a:t>  |  </a:t>
            </a:r>
            <a:endParaRPr lang="en-US" dirty="0"/>
          </a:p>
        </p:txBody>
      </p:sp>
      <p:sp>
        <p:nvSpPr>
          <p:cNvPr id="6" name="Content Placeholder 1"/>
          <p:cNvSpPr>
            <a:spLocks noGrp="1"/>
          </p:cNvSpPr>
          <p:nvPr>
            <p:ph idx="1"/>
          </p:nvPr>
        </p:nvSpPr>
        <p:spPr>
          <a:xfrm>
            <a:off x="457200" y="1314485"/>
            <a:ext cx="10515600" cy="1936134"/>
          </a:xfrm>
        </p:spPr>
        <p:txBody>
          <a:bodyPr>
            <a:normAutofit/>
          </a:bodyPr>
          <a:lstStyle/>
          <a:p>
            <a:pPr marL="0" indent="0">
              <a:buNone/>
            </a:pPr>
            <a:r>
              <a:rPr lang="en-US" b="1" dirty="0" smtClean="0"/>
              <a:t>How is this durability achieved?</a:t>
            </a:r>
            <a:br>
              <a:rPr lang="en-US" b="1" dirty="0" smtClean="0"/>
            </a:br>
            <a:endParaRPr lang="en-US" b="1" dirty="0" smtClean="0"/>
          </a:p>
          <a:p>
            <a:pPr marL="457200" indent="-457200">
              <a:buFont typeface="Wingdings" panose="05000000000000000000" pitchFamily="2" charset="2"/>
              <a:buChar char="§"/>
            </a:pPr>
            <a:r>
              <a:rPr lang="nl-NL" dirty="0" smtClean="0"/>
              <a:t>Memory-</a:t>
            </a:r>
            <a:r>
              <a:rPr lang="nl-NL" dirty="0" err="1" smtClean="0"/>
              <a:t>Optimized</a:t>
            </a:r>
            <a:r>
              <a:rPr lang="nl-NL" dirty="0" smtClean="0"/>
              <a:t> </a:t>
            </a:r>
            <a:r>
              <a:rPr lang="nl-NL" dirty="0" err="1" smtClean="0"/>
              <a:t>table</a:t>
            </a:r>
            <a:r>
              <a:rPr lang="nl-NL" dirty="0" smtClean="0"/>
              <a:t> data is </a:t>
            </a:r>
            <a:r>
              <a:rPr lang="nl-NL" dirty="0" err="1" smtClean="0"/>
              <a:t>stored</a:t>
            </a:r>
            <a:r>
              <a:rPr lang="nl-NL" dirty="0" smtClean="0"/>
              <a:t> in </a:t>
            </a:r>
            <a:r>
              <a:rPr lang="nl-NL" dirty="0" err="1" smtClean="0"/>
              <a:t>two</a:t>
            </a:r>
            <a:r>
              <a:rPr lang="nl-NL" dirty="0" smtClean="0"/>
              <a:t> files, </a:t>
            </a:r>
            <a:br>
              <a:rPr lang="nl-NL" dirty="0" smtClean="0"/>
            </a:br>
            <a:r>
              <a:rPr lang="nl-NL" dirty="0" smtClean="0"/>
              <a:t>a </a:t>
            </a:r>
            <a:r>
              <a:rPr lang="nl-NL" b="1" dirty="0" smtClean="0"/>
              <a:t>Data</a:t>
            </a:r>
            <a:r>
              <a:rPr lang="nl-NL" dirty="0" smtClean="0"/>
              <a:t> </a:t>
            </a:r>
            <a:r>
              <a:rPr lang="nl-NL" dirty="0" err="1" smtClean="0"/>
              <a:t>and</a:t>
            </a:r>
            <a:r>
              <a:rPr lang="nl-NL" dirty="0" smtClean="0"/>
              <a:t> </a:t>
            </a:r>
            <a:r>
              <a:rPr lang="nl-NL" b="1" dirty="0" smtClean="0"/>
              <a:t>Delta</a:t>
            </a:r>
            <a:r>
              <a:rPr lang="nl-NL" dirty="0" smtClean="0"/>
              <a:t> file</a:t>
            </a:r>
            <a:endParaRPr lang="en-US" dirty="0"/>
          </a:p>
        </p:txBody>
      </p:sp>
      <p:sp>
        <p:nvSpPr>
          <p:cNvPr id="7" name="TextBox 6"/>
          <p:cNvSpPr txBox="1"/>
          <p:nvPr/>
        </p:nvSpPr>
        <p:spPr>
          <a:xfrm>
            <a:off x="909320" y="3112936"/>
            <a:ext cx="7833360" cy="1200329"/>
          </a:xfrm>
          <a:prstGeom prst="rect">
            <a:avLst/>
          </a:prstGeom>
          <a:noFill/>
        </p:spPr>
        <p:txBody>
          <a:bodyPr wrap="square" rtlCol="0">
            <a:spAutoFit/>
          </a:bodyPr>
          <a:lstStyle/>
          <a:p>
            <a:pPr marL="285750" indent="-285750">
              <a:buFont typeface="Courier New" panose="02070309020205020404" pitchFamily="49" charset="0"/>
              <a:buChar char="o"/>
            </a:pPr>
            <a:r>
              <a:rPr lang="nl-NL" sz="2400" b="1" dirty="0" smtClean="0">
                <a:solidFill>
                  <a:schemeClr val="tx1">
                    <a:lumMod val="75000"/>
                    <a:lumOff val="25000"/>
                  </a:schemeClr>
                </a:solidFill>
              </a:rPr>
              <a:t>Data</a:t>
            </a:r>
            <a:r>
              <a:rPr lang="nl-NL" sz="2400" dirty="0" smtClean="0">
                <a:solidFill>
                  <a:schemeClr val="tx1">
                    <a:lumMod val="75000"/>
                    <a:lumOff val="25000"/>
                  </a:schemeClr>
                </a:solidFill>
              </a:rPr>
              <a:t> file </a:t>
            </a:r>
            <a:r>
              <a:rPr lang="nl-NL" sz="2400" dirty="0" err="1" smtClean="0">
                <a:solidFill>
                  <a:schemeClr val="tx1">
                    <a:lumMod val="75000"/>
                    <a:lumOff val="25000"/>
                  </a:schemeClr>
                </a:solidFill>
              </a:rPr>
              <a:t>contains</a:t>
            </a:r>
            <a:r>
              <a:rPr lang="nl-NL" sz="2400" dirty="0" smtClean="0">
                <a:solidFill>
                  <a:schemeClr val="tx1">
                    <a:lumMod val="75000"/>
                    <a:lumOff val="25000"/>
                  </a:schemeClr>
                </a:solidFill>
              </a:rPr>
              <a:t> </a:t>
            </a:r>
            <a:r>
              <a:rPr lang="nl-NL" sz="2400" dirty="0" err="1" smtClean="0">
                <a:solidFill>
                  <a:schemeClr val="tx1">
                    <a:lumMod val="75000"/>
                    <a:lumOff val="25000"/>
                  </a:schemeClr>
                </a:solidFill>
              </a:rPr>
              <a:t>rows</a:t>
            </a:r>
            <a:r>
              <a:rPr lang="nl-NL" sz="2400" dirty="0" smtClean="0">
                <a:solidFill>
                  <a:schemeClr val="tx1">
                    <a:lumMod val="75000"/>
                    <a:lumOff val="25000"/>
                  </a:schemeClr>
                </a:solidFill>
              </a:rPr>
              <a:t> of </a:t>
            </a:r>
            <a:r>
              <a:rPr lang="nl-NL" sz="2400" dirty="0" err="1" smtClean="0">
                <a:solidFill>
                  <a:schemeClr val="tx1">
                    <a:lumMod val="75000"/>
                    <a:lumOff val="25000"/>
                  </a:schemeClr>
                </a:solidFill>
              </a:rPr>
              <a:t>one</a:t>
            </a:r>
            <a:r>
              <a:rPr lang="nl-NL" sz="2400" dirty="0" smtClean="0">
                <a:solidFill>
                  <a:schemeClr val="tx1">
                    <a:lumMod val="75000"/>
                    <a:lumOff val="25000"/>
                  </a:schemeClr>
                </a:solidFill>
              </a:rPr>
              <a:t> or more Memory-</a:t>
            </a:r>
            <a:r>
              <a:rPr lang="nl-NL" sz="2400" dirty="0" err="1" smtClean="0">
                <a:solidFill>
                  <a:schemeClr val="tx1">
                    <a:lumMod val="75000"/>
                    <a:lumOff val="25000"/>
                  </a:schemeClr>
                </a:solidFill>
              </a:rPr>
              <a:t>Optimized</a:t>
            </a:r>
            <a:r>
              <a:rPr lang="nl-NL" sz="2400" dirty="0" smtClean="0">
                <a:solidFill>
                  <a:schemeClr val="tx1">
                    <a:lumMod val="75000"/>
                    <a:lumOff val="25000"/>
                  </a:schemeClr>
                </a:solidFill>
              </a:rPr>
              <a:t> </a:t>
            </a:r>
            <a:r>
              <a:rPr lang="nl-NL" sz="2400" dirty="0" err="1" smtClean="0">
                <a:solidFill>
                  <a:schemeClr val="tx1">
                    <a:lumMod val="75000"/>
                    <a:lumOff val="25000"/>
                  </a:schemeClr>
                </a:solidFill>
              </a:rPr>
              <a:t>tables</a:t>
            </a:r>
            <a:endParaRPr lang="nl-NL" sz="2400" dirty="0" smtClean="0">
              <a:solidFill>
                <a:schemeClr val="tx1">
                  <a:lumMod val="75000"/>
                  <a:lumOff val="25000"/>
                </a:schemeClr>
              </a:solidFill>
            </a:endParaRPr>
          </a:p>
          <a:p>
            <a:pPr marL="285750" indent="-285750">
              <a:buFont typeface="Courier New" panose="02070309020205020404" pitchFamily="49" charset="0"/>
              <a:buChar char="o"/>
            </a:pPr>
            <a:r>
              <a:rPr lang="nl-NL" sz="2400" b="1" dirty="0" smtClean="0">
                <a:solidFill>
                  <a:schemeClr val="tx1">
                    <a:lumMod val="75000"/>
                    <a:lumOff val="25000"/>
                  </a:schemeClr>
                </a:solidFill>
              </a:rPr>
              <a:t>Delta</a:t>
            </a:r>
            <a:r>
              <a:rPr lang="nl-NL" sz="2400" dirty="0" smtClean="0">
                <a:solidFill>
                  <a:schemeClr val="tx1">
                    <a:lumMod val="75000"/>
                    <a:lumOff val="25000"/>
                  </a:schemeClr>
                </a:solidFill>
              </a:rPr>
              <a:t> file tracks </a:t>
            </a:r>
            <a:r>
              <a:rPr lang="nl-NL" sz="2400" dirty="0" err="1" smtClean="0">
                <a:solidFill>
                  <a:schemeClr val="tx1">
                    <a:lumMod val="75000"/>
                    <a:lumOff val="25000"/>
                  </a:schemeClr>
                </a:solidFill>
              </a:rPr>
              <a:t>deletes</a:t>
            </a:r>
            <a:r>
              <a:rPr lang="nl-NL" sz="2400" dirty="0" smtClean="0">
                <a:solidFill>
                  <a:schemeClr val="tx1">
                    <a:lumMod val="75000"/>
                    <a:lumOff val="25000"/>
                  </a:schemeClr>
                </a:solidFill>
              </a:rPr>
              <a:t> in the </a:t>
            </a:r>
            <a:r>
              <a:rPr lang="nl-NL" sz="2400" b="1" dirty="0" smtClean="0">
                <a:solidFill>
                  <a:schemeClr val="tx1">
                    <a:lumMod val="75000"/>
                    <a:lumOff val="25000"/>
                  </a:schemeClr>
                </a:solidFill>
              </a:rPr>
              <a:t>Data</a:t>
            </a:r>
            <a:r>
              <a:rPr lang="nl-NL" sz="2400" dirty="0" smtClean="0">
                <a:solidFill>
                  <a:schemeClr val="tx1">
                    <a:lumMod val="75000"/>
                    <a:lumOff val="25000"/>
                  </a:schemeClr>
                </a:solidFill>
              </a:rPr>
              <a:t> file</a:t>
            </a:r>
            <a:endParaRPr lang="en-US" sz="2400" b="1" dirty="0">
              <a:solidFill>
                <a:schemeClr val="tx1">
                  <a:lumMod val="75000"/>
                  <a:lumOff val="25000"/>
                </a:schemeClr>
              </a:solidFill>
            </a:endParaRPr>
          </a:p>
        </p:txBody>
      </p:sp>
      <p:sp>
        <p:nvSpPr>
          <p:cNvPr id="8" name="Right Brace 7"/>
          <p:cNvSpPr/>
          <p:nvPr/>
        </p:nvSpPr>
        <p:spPr>
          <a:xfrm>
            <a:off x="7810173" y="3258684"/>
            <a:ext cx="243840" cy="1040537"/>
          </a:xfrm>
          <a:prstGeom prst="rightBrace">
            <a:avLst/>
          </a:prstGeom>
          <a:ln w="38100">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0" name="TextBox 9"/>
          <p:cNvSpPr txBox="1"/>
          <p:nvPr/>
        </p:nvSpPr>
        <p:spPr>
          <a:xfrm>
            <a:off x="8054013" y="3484779"/>
            <a:ext cx="1524000" cy="584775"/>
          </a:xfrm>
          <a:prstGeom prst="rect">
            <a:avLst/>
          </a:prstGeom>
          <a:noFill/>
        </p:spPr>
        <p:txBody>
          <a:bodyPr wrap="square" rtlCol="0">
            <a:spAutoFit/>
          </a:bodyPr>
          <a:lstStyle/>
          <a:p>
            <a:r>
              <a:rPr lang="nl-NL" sz="3200" b="1" dirty="0" smtClean="0"/>
              <a:t>CFP </a:t>
            </a:r>
            <a:endParaRPr lang="en-US" b="1" dirty="0"/>
          </a:p>
        </p:txBody>
      </p:sp>
      <p:sp>
        <p:nvSpPr>
          <p:cNvPr id="11" name="Content Placeholder 1"/>
          <p:cNvSpPr txBox="1">
            <a:spLocks/>
          </p:cNvSpPr>
          <p:nvPr/>
        </p:nvSpPr>
        <p:spPr>
          <a:xfrm>
            <a:off x="457200" y="4453925"/>
            <a:ext cx="8487624" cy="1068689"/>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buFont typeface="Wingdings" panose="05000000000000000000" pitchFamily="2" charset="2"/>
              <a:buChar char="§"/>
            </a:pPr>
            <a:r>
              <a:rPr lang="nl-NL" b="1" dirty="0" smtClean="0">
                <a:solidFill>
                  <a:schemeClr val="tx1">
                    <a:lumMod val="75000"/>
                    <a:lumOff val="25000"/>
                  </a:schemeClr>
                </a:solidFill>
              </a:rPr>
              <a:t>Data</a:t>
            </a:r>
            <a:r>
              <a:rPr lang="nl-NL" dirty="0" smtClean="0">
                <a:solidFill>
                  <a:schemeClr val="tx1">
                    <a:lumMod val="75000"/>
                    <a:lumOff val="25000"/>
                  </a:schemeClr>
                </a:solidFill>
              </a:rPr>
              <a:t> </a:t>
            </a:r>
            <a:r>
              <a:rPr lang="nl-NL" dirty="0" err="1" smtClean="0">
                <a:solidFill>
                  <a:schemeClr val="tx1">
                    <a:lumMod val="75000"/>
                    <a:lumOff val="25000"/>
                  </a:schemeClr>
                </a:solidFill>
              </a:rPr>
              <a:t>and</a:t>
            </a:r>
            <a:r>
              <a:rPr lang="nl-NL" dirty="0" smtClean="0">
                <a:solidFill>
                  <a:schemeClr val="tx1">
                    <a:lumMod val="75000"/>
                    <a:lumOff val="25000"/>
                  </a:schemeClr>
                </a:solidFill>
              </a:rPr>
              <a:t> </a:t>
            </a:r>
            <a:r>
              <a:rPr lang="nl-NL" b="1" dirty="0" smtClean="0">
                <a:solidFill>
                  <a:schemeClr val="tx1">
                    <a:lumMod val="75000"/>
                    <a:lumOff val="25000"/>
                  </a:schemeClr>
                </a:solidFill>
              </a:rPr>
              <a:t>Delta</a:t>
            </a:r>
            <a:r>
              <a:rPr lang="nl-NL" dirty="0" smtClean="0">
                <a:solidFill>
                  <a:schemeClr val="tx1">
                    <a:lumMod val="75000"/>
                    <a:lumOff val="25000"/>
                  </a:schemeClr>
                </a:solidFill>
              </a:rPr>
              <a:t> files are </a:t>
            </a:r>
            <a:r>
              <a:rPr lang="nl-NL" dirty="0" err="1" smtClean="0">
                <a:solidFill>
                  <a:schemeClr val="tx1">
                    <a:lumMod val="75000"/>
                    <a:lumOff val="25000"/>
                  </a:schemeClr>
                </a:solidFill>
              </a:rPr>
              <a:t>saved</a:t>
            </a:r>
            <a:r>
              <a:rPr lang="nl-NL" dirty="0" smtClean="0">
                <a:solidFill>
                  <a:schemeClr val="tx1">
                    <a:lumMod val="75000"/>
                    <a:lumOff val="25000"/>
                  </a:schemeClr>
                </a:solidFill>
              </a:rPr>
              <a:t> </a:t>
            </a:r>
            <a:r>
              <a:rPr lang="nl-NL" dirty="0" err="1" smtClean="0">
                <a:solidFill>
                  <a:schemeClr val="tx1">
                    <a:lumMod val="75000"/>
                    <a:lumOff val="25000"/>
                  </a:schemeClr>
                </a:solidFill>
              </a:rPr>
              <a:t>inside</a:t>
            </a:r>
            <a:r>
              <a:rPr lang="nl-NL" dirty="0" smtClean="0">
                <a:solidFill>
                  <a:schemeClr val="tx1">
                    <a:lumMod val="75000"/>
                    <a:lumOff val="25000"/>
                  </a:schemeClr>
                </a:solidFill>
              </a:rPr>
              <a:t> a </a:t>
            </a:r>
            <a:r>
              <a:rPr lang="nl-NL" dirty="0" err="1" smtClean="0">
                <a:solidFill>
                  <a:schemeClr val="tx1">
                    <a:lumMod val="75000"/>
                    <a:lumOff val="25000"/>
                  </a:schemeClr>
                </a:solidFill>
              </a:rPr>
              <a:t>seperate</a:t>
            </a:r>
            <a:r>
              <a:rPr lang="nl-NL" dirty="0" smtClean="0">
                <a:solidFill>
                  <a:schemeClr val="tx1">
                    <a:lumMod val="75000"/>
                    <a:lumOff val="25000"/>
                  </a:schemeClr>
                </a:solidFill>
              </a:rPr>
              <a:t>, </a:t>
            </a:r>
            <a:br>
              <a:rPr lang="nl-NL" dirty="0" smtClean="0">
                <a:solidFill>
                  <a:schemeClr val="tx1">
                    <a:lumMod val="75000"/>
                    <a:lumOff val="25000"/>
                  </a:schemeClr>
                </a:solidFill>
              </a:rPr>
            </a:br>
            <a:r>
              <a:rPr lang="nl-NL" dirty="0" smtClean="0">
                <a:solidFill>
                  <a:schemeClr val="tx1">
                    <a:lumMod val="75000"/>
                    <a:lumOff val="25000"/>
                  </a:schemeClr>
                </a:solidFill>
              </a:rPr>
              <a:t>Memory-</a:t>
            </a:r>
            <a:r>
              <a:rPr lang="nl-NL" dirty="0" err="1" smtClean="0">
                <a:solidFill>
                  <a:schemeClr val="tx1">
                    <a:lumMod val="75000"/>
                    <a:lumOff val="25000"/>
                  </a:schemeClr>
                </a:solidFill>
              </a:rPr>
              <a:t>Optimized</a:t>
            </a:r>
            <a:r>
              <a:rPr lang="nl-NL" dirty="0" smtClean="0">
                <a:solidFill>
                  <a:schemeClr val="tx1">
                    <a:lumMod val="75000"/>
                    <a:lumOff val="25000"/>
                  </a:schemeClr>
                </a:solidFill>
              </a:rPr>
              <a:t>, </a:t>
            </a:r>
            <a:r>
              <a:rPr lang="nl-NL" dirty="0" err="1" smtClean="0">
                <a:solidFill>
                  <a:schemeClr val="tx1">
                    <a:lumMod val="75000"/>
                    <a:lumOff val="25000"/>
                  </a:schemeClr>
                </a:solidFill>
              </a:rPr>
              <a:t>Filegroup</a:t>
            </a:r>
            <a:r>
              <a:rPr lang="nl-NL" dirty="0" smtClean="0">
                <a:solidFill>
                  <a:schemeClr val="tx1">
                    <a:lumMod val="75000"/>
                    <a:lumOff val="25000"/>
                  </a:schemeClr>
                </a:solidFill>
              </a:rPr>
              <a:t> </a:t>
            </a:r>
            <a:endParaRPr lang="en-US" dirty="0">
              <a:solidFill>
                <a:schemeClr val="tx1">
                  <a:lumMod val="75000"/>
                  <a:lumOff val="25000"/>
                </a:schemeClr>
              </a:solidFill>
            </a:endParaRPr>
          </a:p>
        </p:txBody>
      </p:sp>
    </p:spTree>
    <p:extLst>
      <p:ext uri="{BB962C8B-B14F-4D97-AF65-F5344CB8AC3E}">
        <p14:creationId xmlns:p14="http://schemas.microsoft.com/office/powerpoint/2010/main" val="25713337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500"/>
                                        <p:tgtEl>
                                          <p:spTgt spid="10"/>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1">
                                            <p:txEl>
                                              <p:pRg st="0" end="0"/>
                                            </p:txEl>
                                          </p:spTgt>
                                        </p:tgtEl>
                                        <p:attrNameLst>
                                          <p:attrName>style.visibility</p:attrName>
                                        </p:attrNameLst>
                                      </p:cBhvr>
                                      <p:to>
                                        <p:strVal val="visible"/>
                                      </p:to>
                                    </p:set>
                                    <p:animEffect transition="in" filter="fade">
                                      <p:cBhvr>
                                        <p:cTn id="20" dur="500"/>
                                        <p:tgtEl>
                                          <p:spTgt spid="1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animBg="1"/>
      <p:bldP spid="10"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Memory-Optimized Table Theory</a:t>
            </a:r>
          </a:p>
        </p:txBody>
      </p:sp>
      <p:sp>
        <p:nvSpPr>
          <p:cNvPr id="9" name="Slide Number Placeholder 5"/>
          <p:cNvSpPr>
            <a:spLocks noGrp="1"/>
          </p:cNvSpPr>
          <p:nvPr>
            <p:ph type="sldNum" sz="quarter" idx="4"/>
          </p:nvPr>
        </p:nvSpPr>
        <p:spPr>
          <a:prstGeom prst="rect">
            <a:avLst/>
          </a:prstGeom>
        </p:spPr>
        <p:txBody>
          <a:bodyPr vert="horz" lIns="91440" tIns="45720" rIns="91440" bIns="45720" rtlCol="0" anchor="ctr"/>
          <a:lstStyle>
            <a:lvl1pPr algn="r">
              <a:defRPr sz="1100">
                <a:solidFill>
                  <a:srgbClr val="FFFFFF"/>
                </a:solidFill>
              </a:defRPr>
            </a:lvl1pPr>
          </a:lstStyle>
          <a:p>
            <a:fld id="{87FD5303-69AD-2E4D-B18B-E5EED0F0A60B}" type="slidenum">
              <a:rPr lang="en-US" smtClean="0"/>
              <a:pPr/>
              <a:t>13</a:t>
            </a:fld>
            <a:r>
              <a:rPr lang="en-US" dirty="0" smtClean="0"/>
              <a:t>  |  </a:t>
            </a:r>
            <a:endParaRPr lang="en-US" dirty="0"/>
          </a:p>
        </p:txBody>
      </p:sp>
      <p:sp>
        <p:nvSpPr>
          <p:cNvPr id="6" name="Content Placeholder 1"/>
          <p:cNvSpPr>
            <a:spLocks noGrp="1"/>
          </p:cNvSpPr>
          <p:nvPr>
            <p:ph idx="1"/>
          </p:nvPr>
        </p:nvSpPr>
        <p:spPr>
          <a:xfrm>
            <a:off x="457200" y="1376596"/>
            <a:ext cx="10515600" cy="1072533"/>
          </a:xfrm>
        </p:spPr>
        <p:txBody>
          <a:bodyPr>
            <a:normAutofit/>
          </a:bodyPr>
          <a:lstStyle/>
          <a:p>
            <a:pPr marL="0" indent="0">
              <a:buNone/>
            </a:pPr>
            <a:r>
              <a:rPr lang="en-US" b="1" dirty="0" smtClean="0"/>
              <a:t>Let’s take a closer look at the Data file</a:t>
            </a:r>
          </a:p>
          <a:p>
            <a:pPr marL="457200" indent="-457200">
              <a:buFont typeface="Wingdings" panose="05000000000000000000" pitchFamily="2" charset="2"/>
              <a:buChar char="§"/>
            </a:pPr>
            <a:r>
              <a:rPr lang="en-US" dirty="0" smtClean="0"/>
              <a:t>Characteristics:</a:t>
            </a:r>
            <a:endParaRPr lang="en-US" dirty="0"/>
          </a:p>
        </p:txBody>
      </p:sp>
      <p:sp>
        <p:nvSpPr>
          <p:cNvPr id="7" name="TextBox 6"/>
          <p:cNvSpPr txBox="1"/>
          <p:nvPr/>
        </p:nvSpPr>
        <p:spPr>
          <a:xfrm>
            <a:off x="853440" y="2341653"/>
            <a:ext cx="7833360" cy="1569660"/>
          </a:xfrm>
          <a:prstGeom prst="rect">
            <a:avLst/>
          </a:prstGeom>
          <a:noFill/>
        </p:spPr>
        <p:txBody>
          <a:bodyPr wrap="square" rtlCol="0">
            <a:spAutoFit/>
          </a:bodyPr>
          <a:lstStyle/>
          <a:p>
            <a:pPr marL="285750" indent="-285750">
              <a:buFont typeface="Courier New" panose="02070309020205020404" pitchFamily="49" charset="0"/>
              <a:buChar char="o"/>
            </a:pPr>
            <a:r>
              <a:rPr lang="en-US" sz="2400" dirty="0" smtClean="0">
                <a:solidFill>
                  <a:schemeClr val="tx1">
                    <a:lumMod val="75000"/>
                    <a:lumOff val="25000"/>
                  </a:schemeClr>
                </a:solidFill>
              </a:rPr>
              <a:t>No page structure like ‘traditional’ tables</a:t>
            </a:r>
          </a:p>
          <a:p>
            <a:pPr marL="285750" indent="-285750">
              <a:buFont typeface="Courier New" panose="02070309020205020404" pitchFamily="49" charset="0"/>
              <a:buChar char="o"/>
            </a:pPr>
            <a:r>
              <a:rPr lang="en-US" sz="2400" dirty="0" smtClean="0">
                <a:solidFill>
                  <a:schemeClr val="tx1">
                    <a:lumMod val="75000"/>
                    <a:lumOff val="25000"/>
                  </a:schemeClr>
                </a:solidFill>
              </a:rPr>
              <a:t>Sequential access instead of random</a:t>
            </a:r>
          </a:p>
          <a:p>
            <a:pPr marL="285750" indent="-285750">
              <a:buFont typeface="Courier New" panose="02070309020205020404" pitchFamily="49" charset="0"/>
              <a:buChar char="o"/>
            </a:pPr>
            <a:r>
              <a:rPr lang="en-US" sz="2400" dirty="0" smtClean="0">
                <a:solidFill>
                  <a:schemeClr val="tx1">
                    <a:lumMod val="75000"/>
                    <a:lumOff val="25000"/>
                  </a:schemeClr>
                </a:solidFill>
              </a:rPr>
              <a:t>Multiple Memory-Optimized tables can access </a:t>
            </a:r>
            <a:r>
              <a:rPr lang="en-US" sz="2400" b="1" dirty="0" smtClean="0">
                <a:solidFill>
                  <a:schemeClr val="tx1">
                    <a:lumMod val="75000"/>
                    <a:lumOff val="25000"/>
                  </a:schemeClr>
                </a:solidFill>
              </a:rPr>
              <a:t>one</a:t>
            </a:r>
            <a:r>
              <a:rPr lang="en-US" sz="2400" dirty="0" smtClean="0">
                <a:solidFill>
                  <a:schemeClr val="tx1">
                    <a:lumMod val="75000"/>
                    <a:lumOff val="25000"/>
                  </a:schemeClr>
                </a:solidFill>
              </a:rPr>
              <a:t> Data file</a:t>
            </a:r>
            <a:endParaRPr lang="en-US" sz="2400" dirty="0">
              <a:solidFill>
                <a:schemeClr val="tx1">
                  <a:lumMod val="75000"/>
                  <a:lumOff val="25000"/>
                </a:schemeClr>
              </a:solidFill>
            </a:endParaRPr>
          </a:p>
        </p:txBody>
      </p:sp>
      <p:sp>
        <p:nvSpPr>
          <p:cNvPr id="8" name="Rectangle 7"/>
          <p:cNvSpPr/>
          <p:nvPr/>
        </p:nvSpPr>
        <p:spPr>
          <a:xfrm>
            <a:off x="2876781" y="4012843"/>
            <a:ext cx="2579427" cy="2397634"/>
          </a:xfrm>
          <a:prstGeom prst="rect">
            <a:avLst/>
          </a:prstGeom>
          <a:solidFill>
            <a:schemeClr val="accent1">
              <a:lumMod val="20000"/>
              <a:lumOff val="80000"/>
            </a:schemeClr>
          </a:solidFill>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0" name="Rectangle 9"/>
          <p:cNvSpPr/>
          <p:nvPr/>
        </p:nvSpPr>
        <p:spPr>
          <a:xfrm>
            <a:off x="2999611" y="4139096"/>
            <a:ext cx="2333767" cy="395785"/>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1" name="TextBox 10"/>
          <p:cNvSpPr txBox="1"/>
          <p:nvPr/>
        </p:nvSpPr>
        <p:spPr>
          <a:xfrm>
            <a:off x="2999611" y="4152322"/>
            <a:ext cx="900752" cy="369332"/>
          </a:xfrm>
          <a:prstGeom prst="rect">
            <a:avLst/>
          </a:prstGeom>
          <a:noFill/>
        </p:spPr>
        <p:txBody>
          <a:bodyPr wrap="square" rtlCol="0">
            <a:spAutoFit/>
          </a:bodyPr>
          <a:lstStyle/>
          <a:p>
            <a:r>
              <a:rPr lang="nl-NL" b="1" dirty="0" err="1">
                <a:solidFill>
                  <a:schemeClr val="bg1"/>
                </a:solidFill>
              </a:rPr>
              <a:t>r</a:t>
            </a:r>
            <a:r>
              <a:rPr lang="nl-NL" b="1" dirty="0" err="1" smtClean="0">
                <a:solidFill>
                  <a:schemeClr val="bg1"/>
                </a:solidFill>
              </a:rPr>
              <a:t>ow</a:t>
            </a:r>
            <a:r>
              <a:rPr lang="nl-NL" b="1" dirty="0" smtClean="0">
                <a:solidFill>
                  <a:schemeClr val="bg1"/>
                </a:solidFill>
              </a:rPr>
              <a:t> 1</a:t>
            </a:r>
            <a:endParaRPr lang="nl-NL" b="1" dirty="0">
              <a:solidFill>
                <a:schemeClr val="bg1"/>
              </a:solidFill>
            </a:endParaRPr>
          </a:p>
        </p:txBody>
      </p:sp>
      <p:sp>
        <p:nvSpPr>
          <p:cNvPr id="12" name="Rectangle 11"/>
          <p:cNvSpPr/>
          <p:nvPr/>
        </p:nvSpPr>
        <p:spPr>
          <a:xfrm>
            <a:off x="2999611" y="4661134"/>
            <a:ext cx="2333767" cy="395785"/>
          </a:xfrm>
          <a:prstGeom prst="rec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3" name="TextBox 12"/>
          <p:cNvSpPr txBox="1"/>
          <p:nvPr/>
        </p:nvSpPr>
        <p:spPr>
          <a:xfrm>
            <a:off x="2999611" y="4674360"/>
            <a:ext cx="900752" cy="369332"/>
          </a:xfrm>
          <a:prstGeom prst="rect">
            <a:avLst/>
          </a:prstGeom>
          <a:noFill/>
        </p:spPr>
        <p:txBody>
          <a:bodyPr wrap="square" rtlCol="0">
            <a:spAutoFit/>
          </a:bodyPr>
          <a:lstStyle/>
          <a:p>
            <a:r>
              <a:rPr lang="nl-NL" b="1" dirty="0" err="1">
                <a:solidFill>
                  <a:schemeClr val="bg1"/>
                </a:solidFill>
              </a:rPr>
              <a:t>r</a:t>
            </a:r>
            <a:r>
              <a:rPr lang="nl-NL" b="1" dirty="0" err="1" smtClean="0">
                <a:solidFill>
                  <a:schemeClr val="bg1"/>
                </a:solidFill>
              </a:rPr>
              <a:t>ow</a:t>
            </a:r>
            <a:r>
              <a:rPr lang="nl-NL" b="1" dirty="0" smtClean="0">
                <a:solidFill>
                  <a:schemeClr val="bg1"/>
                </a:solidFill>
              </a:rPr>
              <a:t> 2</a:t>
            </a:r>
            <a:endParaRPr lang="nl-NL" b="1" dirty="0">
              <a:solidFill>
                <a:schemeClr val="bg1"/>
              </a:solidFill>
            </a:endParaRPr>
          </a:p>
        </p:txBody>
      </p:sp>
      <p:sp>
        <p:nvSpPr>
          <p:cNvPr id="14" name="Rectangle 13"/>
          <p:cNvSpPr/>
          <p:nvPr/>
        </p:nvSpPr>
        <p:spPr>
          <a:xfrm>
            <a:off x="2999611" y="5183172"/>
            <a:ext cx="2333767" cy="395785"/>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5" name="TextBox 14"/>
          <p:cNvSpPr txBox="1"/>
          <p:nvPr/>
        </p:nvSpPr>
        <p:spPr>
          <a:xfrm>
            <a:off x="2999611" y="5196398"/>
            <a:ext cx="900752" cy="369332"/>
          </a:xfrm>
          <a:prstGeom prst="rect">
            <a:avLst/>
          </a:prstGeom>
          <a:noFill/>
        </p:spPr>
        <p:txBody>
          <a:bodyPr wrap="square" rtlCol="0">
            <a:spAutoFit/>
          </a:bodyPr>
          <a:lstStyle/>
          <a:p>
            <a:r>
              <a:rPr lang="nl-NL" b="1" dirty="0" err="1">
                <a:solidFill>
                  <a:schemeClr val="bg1"/>
                </a:solidFill>
              </a:rPr>
              <a:t>r</a:t>
            </a:r>
            <a:r>
              <a:rPr lang="nl-NL" b="1" dirty="0" err="1" smtClean="0">
                <a:solidFill>
                  <a:schemeClr val="bg1"/>
                </a:solidFill>
              </a:rPr>
              <a:t>ow</a:t>
            </a:r>
            <a:r>
              <a:rPr lang="nl-NL" b="1" dirty="0" smtClean="0">
                <a:solidFill>
                  <a:schemeClr val="bg1"/>
                </a:solidFill>
              </a:rPr>
              <a:t> 3</a:t>
            </a:r>
            <a:endParaRPr lang="nl-NL" b="1" dirty="0">
              <a:solidFill>
                <a:schemeClr val="bg1"/>
              </a:solidFill>
            </a:endParaRPr>
          </a:p>
        </p:txBody>
      </p:sp>
      <p:cxnSp>
        <p:nvCxnSpPr>
          <p:cNvPr id="16" name="Straight Connector 15"/>
          <p:cNvCxnSpPr/>
          <p:nvPr/>
        </p:nvCxnSpPr>
        <p:spPr>
          <a:xfrm flipV="1">
            <a:off x="5333378" y="4139096"/>
            <a:ext cx="545910" cy="163773"/>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flipV="1">
            <a:off x="5326554" y="4712324"/>
            <a:ext cx="545910" cy="163773"/>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flipV="1">
            <a:off x="5326554" y="5236074"/>
            <a:ext cx="545910" cy="163773"/>
          </a:xfrm>
          <a:prstGeom prst="line">
            <a:avLst/>
          </a:prstGeom>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5872464" y="3950275"/>
            <a:ext cx="1692322" cy="369332"/>
          </a:xfrm>
          <a:prstGeom prst="rect">
            <a:avLst/>
          </a:prstGeom>
          <a:noFill/>
        </p:spPr>
        <p:txBody>
          <a:bodyPr wrap="square" rtlCol="0">
            <a:spAutoFit/>
          </a:bodyPr>
          <a:lstStyle/>
          <a:p>
            <a:r>
              <a:rPr lang="nl-NL" b="1" dirty="0" err="1" smtClean="0">
                <a:solidFill>
                  <a:schemeClr val="accent1">
                    <a:lumMod val="50000"/>
                  </a:schemeClr>
                </a:solidFill>
              </a:rPr>
              <a:t>Table</a:t>
            </a:r>
            <a:r>
              <a:rPr lang="nl-NL" b="1" dirty="0" smtClean="0">
                <a:solidFill>
                  <a:schemeClr val="accent1">
                    <a:lumMod val="50000"/>
                  </a:schemeClr>
                </a:solidFill>
              </a:rPr>
              <a:t> 1</a:t>
            </a:r>
            <a:endParaRPr lang="nl-NL" b="1" dirty="0">
              <a:solidFill>
                <a:schemeClr val="accent1">
                  <a:lumMod val="50000"/>
                </a:schemeClr>
              </a:solidFill>
            </a:endParaRPr>
          </a:p>
        </p:txBody>
      </p:sp>
      <p:sp>
        <p:nvSpPr>
          <p:cNvPr id="20" name="TextBox 19"/>
          <p:cNvSpPr txBox="1"/>
          <p:nvPr/>
        </p:nvSpPr>
        <p:spPr>
          <a:xfrm>
            <a:off x="5872464" y="5017739"/>
            <a:ext cx="1692322" cy="369332"/>
          </a:xfrm>
          <a:prstGeom prst="rect">
            <a:avLst/>
          </a:prstGeom>
          <a:noFill/>
        </p:spPr>
        <p:txBody>
          <a:bodyPr wrap="square" rtlCol="0">
            <a:spAutoFit/>
          </a:bodyPr>
          <a:lstStyle/>
          <a:p>
            <a:r>
              <a:rPr lang="nl-NL" b="1" dirty="0" err="1" smtClean="0">
                <a:solidFill>
                  <a:schemeClr val="accent1">
                    <a:lumMod val="50000"/>
                  </a:schemeClr>
                </a:solidFill>
              </a:rPr>
              <a:t>Table</a:t>
            </a:r>
            <a:r>
              <a:rPr lang="nl-NL" b="1" dirty="0" smtClean="0">
                <a:solidFill>
                  <a:schemeClr val="accent1">
                    <a:lumMod val="50000"/>
                  </a:schemeClr>
                </a:solidFill>
              </a:rPr>
              <a:t> 1</a:t>
            </a:r>
            <a:endParaRPr lang="nl-NL" b="1" dirty="0">
              <a:solidFill>
                <a:schemeClr val="accent1">
                  <a:lumMod val="50000"/>
                </a:schemeClr>
              </a:solidFill>
            </a:endParaRPr>
          </a:p>
        </p:txBody>
      </p:sp>
      <p:sp>
        <p:nvSpPr>
          <p:cNvPr id="21" name="TextBox 20"/>
          <p:cNvSpPr txBox="1"/>
          <p:nvPr/>
        </p:nvSpPr>
        <p:spPr>
          <a:xfrm>
            <a:off x="5879288" y="4484007"/>
            <a:ext cx="1692322" cy="369332"/>
          </a:xfrm>
          <a:prstGeom prst="rect">
            <a:avLst/>
          </a:prstGeom>
          <a:noFill/>
        </p:spPr>
        <p:txBody>
          <a:bodyPr wrap="square" rtlCol="0">
            <a:spAutoFit/>
          </a:bodyPr>
          <a:lstStyle/>
          <a:p>
            <a:r>
              <a:rPr lang="nl-NL" b="1" dirty="0" err="1" smtClean="0">
                <a:solidFill>
                  <a:schemeClr val="accent2">
                    <a:lumMod val="75000"/>
                  </a:schemeClr>
                </a:solidFill>
              </a:rPr>
              <a:t>Table</a:t>
            </a:r>
            <a:r>
              <a:rPr lang="nl-NL" b="1" dirty="0" smtClean="0">
                <a:solidFill>
                  <a:schemeClr val="accent2">
                    <a:lumMod val="75000"/>
                  </a:schemeClr>
                </a:solidFill>
              </a:rPr>
              <a:t> 2</a:t>
            </a:r>
            <a:endParaRPr lang="nl-NL" b="1" dirty="0">
              <a:solidFill>
                <a:schemeClr val="accent2">
                  <a:lumMod val="75000"/>
                </a:schemeClr>
              </a:solidFill>
            </a:endParaRPr>
          </a:p>
        </p:txBody>
      </p:sp>
      <p:sp>
        <p:nvSpPr>
          <p:cNvPr id="22" name="TextBox 21"/>
          <p:cNvSpPr txBox="1"/>
          <p:nvPr/>
        </p:nvSpPr>
        <p:spPr>
          <a:xfrm>
            <a:off x="2822190" y="3673823"/>
            <a:ext cx="2634018" cy="369332"/>
          </a:xfrm>
          <a:prstGeom prst="rect">
            <a:avLst/>
          </a:prstGeom>
          <a:noFill/>
        </p:spPr>
        <p:txBody>
          <a:bodyPr wrap="square" rtlCol="0">
            <a:spAutoFit/>
          </a:bodyPr>
          <a:lstStyle/>
          <a:p>
            <a:pPr algn="ctr"/>
            <a:r>
              <a:rPr lang="nl-NL" b="1" dirty="0" smtClean="0"/>
              <a:t>Data file</a:t>
            </a:r>
            <a:endParaRPr lang="nl-NL" b="1" dirty="0"/>
          </a:p>
        </p:txBody>
      </p:sp>
      <p:cxnSp>
        <p:nvCxnSpPr>
          <p:cNvPr id="23" name="Straight Arrow Connector 22"/>
          <p:cNvCxnSpPr/>
          <p:nvPr/>
        </p:nvCxnSpPr>
        <p:spPr>
          <a:xfrm flipH="1">
            <a:off x="2647575" y="4134941"/>
            <a:ext cx="10160" cy="2275536"/>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4" name="TextBox 23"/>
          <p:cNvSpPr txBox="1"/>
          <p:nvPr/>
        </p:nvSpPr>
        <p:spPr>
          <a:xfrm rot="16200000">
            <a:off x="1723575" y="4388678"/>
            <a:ext cx="1615440" cy="369332"/>
          </a:xfrm>
          <a:prstGeom prst="rect">
            <a:avLst/>
          </a:prstGeom>
          <a:noFill/>
        </p:spPr>
        <p:txBody>
          <a:bodyPr wrap="square" rtlCol="0">
            <a:spAutoFit/>
          </a:bodyPr>
          <a:lstStyle/>
          <a:p>
            <a:r>
              <a:rPr lang="nl-NL" i="1" dirty="0" smtClean="0"/>
              <a:t>transactions</a:t>
            </a:r>
            <a:endParaRPr lang="en-US" i="1" dirty="0"/>
          </a:p>
        </p:txBody>
      </p:sp>
    </p:spTree>
    <p:extLst>
      <p:ext uri="{BB962C8B-B14F-4D97-AF65-F5344CB8AC3E}">
        <p14:creationId xmlns:p14="http://schemas.microsoft.com/office/powerpoint/2010/main" val="42312190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animEffect transition="in" filter="fade">
                                      <p:cBhvr>
                                        <p:cTn id="7" dur="500"/>
                                        <p:tgtEl>
                                          <p:spTgt spid="6">
                                            <p:txEl>
                                              <p:pRg st="1" end="1"/>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22"/>
                                        </p:tgtEl>
                                        <p:attrNameLst>
                                          <p:attrName>style.visibility</p:attrName>
                                        </p:attrNameLst>
                                      </p:cBhvr>
                                      <p:to>
                                        <p:strVal val="visible"/>
                                      </p:to>
                                    </p:set>
                                    <p:animEffect transition="in" filter="fade">
                                      <p:cBhvr>
                                        <p:cTn id="15" dur="500"/>
                                        <p:tgtEl>
                                          <p:spTgt spid="22"/>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500"/>
                                        <p:tgtEl>
                                          <p:spTgt spid="11"/>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500"/>
                                        <p:tgtEl>
                                          <p:spTgt spid="16"/>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9"/>
                                        </p:tgtEl>
                                        <p:attrNameLst>
                                          <p:attrName>style.visibility</p:attrName>
                                        </p:attrNameLst>
                                      </p:cBhvr>
                                      <p:to>
                                        <p:strVal val="visible"/>
                                      </p:to>
                                    </p:set>
                                    <p:animEffect transition="in" filter="fade">
                                      <p:cBhvr>
                                        <p:cTn id="32" dur="500"/>
                                        <p:tgtEl>
                                          <p:spTgt spid="19"/>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4"/>
                                        </p:tgtEl>
                                        <p:attrNameLst>
                                          <p:attrName>style.visibility</p:attrName>
                                        </p:attrNameLst>
                                      </p:cBhvr>
                                      <p:to>
                                        <p:strVal val="visible"/>
                                      </p:to>
                                    </p:set>
                                    <p:animEffect transition="in" filter="fade">
                                      <p:cBhvr>
                                        <p:cTn id="35" dur="500"/>
                                        <p:tgtEl>
                                          <p:spTgt spid="24"/>
                                        </p:tgtEl>
                                      </p:cBhvr>
                                    </p:animEffect>
                                  </p:childTnLst>
                                </p:cTn>
                              </p:par>
                              <p:par>
                                <p:cTn id="36" presetID="10" presetClass="entr" presetSubtype="0" fill="hold" nodeType="withEffect">
                                  <p:stCondLst>
                                    <p:cond delay="0"/>
                                  </p:stCondLst>
                                  <p:childTnLst>
                                    <p:set>
                                      <p:cBhvr>
                                        <p:cTn id="37" dur="1" fill="hold">
                                          <p:stCondLst>
                                            <p:cond delay="0"/>
                                          </p:stCondLst>
                                        </p:cTn>
                                        <p:tgtEl>
                                          <p:spTgt spid="23"/>
                                        </p:tgtEl>
                                        <p:attrNameLst>
                                          <p:attrName>style.visibility</p:attrName>
                                        </p:attrNameLst>
                                      </p:cBhvr>
                                      <p:to>
                                        <p:strVal val="visible"/>
                                      </p:to>
                                    </p:set>
                                    <p:animEffect transition="in" filter="fade">
                                      <p:cBhvr>
                                        <p:cTn id="38" dur="500"/>
                                        <p:tgtEl>
                                          <p:spTgt spid="23"/>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13"/>
                                        </p:tgtEl>
                                        <p:attrNameLst>
                                          <p:attrName>style.visibility</p:attrName>
                                        </p:attrNameLst>
                                      </p:cBhvr>
                                      <p:to>
                                        <p:strVal val="visible"/>
                                      </p:to>
                                    </p:set>
                                    <p:animEffect transition="in" filter="fade">
                                      <p:cBhvr>
                                        <p:cTn id="43" dur="500"/>
                                        <p:tgtEl>
                                          <p:spTgt spid="13"/>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2"/>
                                        </p:tgtEl>
                                        <p:attrNameLst>
                                          <p:attrName>style.visibility</p:attrName>
                                        </p:attrNameLst>
                                      </p:cBhvr>
                                      <p:to>
                                        <p:strVal val="visible"/>
                                      </p:to>
                                    </p:set>
                                    <p:animEffect transition="in" filter="fade">
                                      <p:cBhvr>
                                        <p:cTn id="46" dur="500"/>
                                        <p:tgtEl>
                                          <p:spTgt spid="12"/>
                                        </p:tgtEl>
                                      </p:cBhvr>
                                    </p:animEffect>
                                  </p:childTnLst>
                                </p:cTn>
                              </p:par>
                              <p:par>
                                <p:cTn id="47" presetID="10" presetClass="entr" presetSubtype="0" fill="hold" nodeType="with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500"/>
                                        <p:tgtEl>
                                          <p:spTgt spid="17"/>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21"/>
                                        </p:tgtEl>
                                        <p:attrNameLst>
                                          <p:attrName>style.visibility</p:attrName>
                                        </p:attrNameLst>
                                      </p:cBhvr>
                                      <p:to>
                                        <p:strVal val="visible"/>
                                      </p:to>
                                    </p:set>
                                    <p:animEffect transition="in" filter="fade">
                                      <p:cBhvr>
                                        <p:cTn id="52" dur="500"/>
                                        <p:tgtEl>
                                          <p:spTgt spid="21"/>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15"/>
                                        </p:tgtEl>
                                        <p:attrNameLst>
                                          <p:attrName>style.visibility</p:attrName>
                                        </p:attrNameLst>
                                      </p:cBhvr>
                                      <p:to>
                                        <p:strVal val="visible"/>
                                      </p:to>
                                    </p:set>
                                    <p:animEffect transition="in" filter="fade">
                                      <p:cBhvr>
                                        <p:cTn id="57" dur="500"/>
                                        <p:tgtEl>
                                          <p:spTgt spid="15"/>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14"/>
                                        </p:tgtEl>
                                        <p:attrNameLst>
                                          <p:attrName>style.visibility</p:attrName>
                                        </p:attrNameLst>
                                      </p:cBhvr>
                                      <p:to>
                                        <p:strVal val="visible"/>
                                      </p:to>
                                    </p:set>
                                    <p:animEffect transition="in" filter="fade">
                                      <p:cBhvr>
                                        <p:cTn id="60" dur="500"/>
                                        <p:tgtEl>
                                          <p:spTgt spid="14"/>
                                        </p:tgtEl>
                                      </p:cBhvr>
                                    </p:animEffect>
                                  </p:childTnLst>
                                </p:cTn>
                              </p:par>
                              <p:par>
                                <p:cTn id="61" presetID="10" presetClass="entr" presetSubtype="0" fill="hold" nodeType="withEffect">
                                  <p:stCondLst>
                                    <p:cond delay="0"/>
                                  </p:stCondLst>
                                  <p:childTnLst>
                                    <p:set>
                                      <p:cBhvr>
                                        <p:cTn id="62" dur="1" fill="hold">
                                          <p:stCondLst>
                                            <p:cond delay="0"/>
                                          </p:stCondLst>
                                        </p:cTn>
                                        <p:tgtEl>
                                          <p:spTgt spid="18"/>
                                        </p:tgtEl>
                                        <p:attrNameLst>
                                          <p:attrName>style.visibility</p:attrName>
                                        </p:attrNameLst>
                                      </p:cBhvr>
                                      <p:to>
                                        <p:strVal val="visible"/>
                                      </p:to>
                                    </p:set>
                                    <p:animEffect transition="in" filter="fade">
                                      <p:cBhvr>
                                        <p:cTn id="63" dur="500"/>
                                        <p:tgtEl>
                                          <p:spTgt spid="18"/>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0"/>
                                        </p:tgtEl>
                                        <p:attrNameLst>
                                          <p:attrName>style.visibility</p:attrName>
                                        </p:attrNameLst>
                                      </p:cBhvr>
                                      <p:to>
                                        <p:strVal val="visible"/>
                                      </p:to>
                                    </p:set>
                                    <p:animEffect transition="in" filter="fade">
                                      <p:cBhvr>
                                        <p:cTn id="66"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animBg="1"/>
      <p:bldP spid="10" grpId="0" animBg="1"/>
      <p:bldP spid="11" grpId="0"/>
      <p:bldP spid="12" grpId="0" animBg="1"/>
      <p:bldP spid="13" grpId="0"/>
      <p:bldP spid="14" grpId="0" animBg="1"/>
      <p:bldP spid="15" grpId="0"/>
      <p:bldP spid="19" grpId="0"/>
      <p:bldP spid="20" grpId="0"/>
      <p:bldP spid="21" grpId="0"/>
      <p:bldP spid="22" grpId="0"/>
      <p:bldP spid="24"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Memory-Optimized Table Theory</a:t>
            </a:r>
          </a:p>
        </p:txBody>
      </p:sp>
      <p:sp>
        <p:nvSpPr>
          <p:cNvPr id="5" name="Content Placeholder 4"/>
          <p:cNvSpPr>
            <a:spLocks noGrp="1"/>
          </p:cNvSpPr>
          <p:nvPr>
            <p:ph sz="half" idx="1"/>
          </p:nvPr>
        </p:nvSpPr>
        <p:spPr>
          <a:xfrm>
            <a:off x="457200" y="1417638"/>
            <a:ext cx="8515884" cy="4525963"/>
          </a:xfrm>
        </p:spPr>
        <p:txBody>
          <a:bodyPr>
            <a:normAutofit/>
          </a:bodyPr>
          <a:lstStyle/>
          <a:p>
            <a:pPr marL="0" indent="0">
              <a:buNone/>
            </a:pPr>
            <a:r>
              <a:rPr lang="en-US" b="1" dirty="0"/>
              <a:t>Let’s take a closer look at the Data file</a:t>
            </a:r>
          </a:p>
          <a:p>
            <a:pPr marL="457200" indent="-457200">
              <a:buFont typeface="Wingdings" panose="05000000000000000000" pitchFamily="2" charset="2"/>
              <a:buChar char="§"/>
            </a:pPr>
            <a:r>
              <a:rPr lang="en-US" sz="2400" b="1" dirty="0"/>
              <a:t>Data</a:t>
            </a:r>
            <a:r>
              <a:rPr lang="en-US" sz="2400" dirty="0"/>
              <a:t> files have a maximum size of 128MB when there is more than 16GB RAM inside the server, 16MB when there is less then 16GB</a:t>
            </a:r>
          </a:p>
          <a:p>
            <a:pPr marL="457200" indent="-457200">
              <a:buFont typeface="Wingdings" panose="05000000000000000000" pitchFamily="2" charset="2"/>
              <a:buChar char="§"/>
            </a:pPr>
            <a:r>
              <a:rPr lang="en-US" sz="2400" dirty="0"/>
              <a:t>Whenever a </a:t>
            </a:r>
            <a:r>
              <a:rPr lang="en-US" sz="2400" b="1" dirty="0"/>
              <a:t>Data</a:t>
            </a:r>
            <a:r>
              <a:rPr lang="en-US" sz="2400" dirty="0"/>
              <a:t> file is full, a new one is created together with a </a:t>
            </a:r>
            <a:r>
              <a:rPr lang="en-US" sz="2400" b="1" dirty="0"/>
              <a:t>Delta</a:t>
            </a:r>
            <a:r>
              <a:rPr lang="en-US" sz="2400" dirty="0"/>
              <a:t> file </a:t>
            </a:r>
          </a:p>
          <a:p>
            <a:pPr marL="457200" indent="-457200">
              <a:buFont typeface="Wingdings" panose="05000000000000000000" pitchFamily="2" charset="2"/>
              <a:buChar char="§"/>
            </a:pPr>
            <a:r>
              <a:rPr lang="nl-NL" sz="2400" b="1" dirty="0"/>
              <a:t>Data</a:t>
            </a:r>
            <a:r>
              <a:rPr lang="nl-NL" sz="2400" dirty="0"/>
              <a:t> </a:t>
            </a:r>
            <a:r>
              <a:rPr lang="nl-NL" sz="2400" dirty="0" err="1"/>
              <a:t>and</a:t>
            </a:r>
            <a:r>
              <a:rPr lang="nl-NL" sz="2400" dirty="0"/>
              <a:t> </a:t>
            </a:r>
            <a:r>
              <a:rPr lang="nl-NL" sz="2400" b="1" dirty="0"/>
              <a:t>Delta</a:t>
            </a:r>
            <a:r>
              <a:rPr lang="nl-NL" sz="2400" dirty="0"/>
              <a:t> files </a:t>
            </a:r>
            <a:r>
              <a:rPr lang="nl-NL" sz="2400" dirty="0" err="1"/>
              <a:t>use</a:t>
            </a:r>
            <a:r>
              <a:rPr lang="nl-NL" sz="2400" dirty="0"/>
              <a:t> transaction </a:t>
            </a:r>
            <a:r>
              <a:rPr lang="nl-NL" sz="2400" dirty="0" err="1"/>
              <a:t>commit</a:t>
            </a:r>
            <a:r>
              <a:rPr lang="nl-NL" sz="2400" dirty="0"/>
              <a:t> </a:t>
            </a:r>
            <a:r>
              <a:rPr lang="nl-NL" sz="2400" dirty="0" err="1"/>
              <a:t>timestamps</a:t>
            </a:r>
            <a:r>
              <a:rPr lang="nl-NL" sz="2400" dirty="0"/>
              <a:t> </a:t>
            </a:r>
            <a:r>
              <a:rPr lang="nl-NL" sz="2400" dirty="0" err="1"/>
              <a:t>to</a:t>
            </a:r>
            <a:r>
              <a:rPr lang="nl-NL" sz="2400" dirty="0"/>
              <a:t> keep track of the transactions </a:t>
            </a:r>
            <a:r>
              <a:rPr lang="nl-NL" sz="2400" dirty="0" err="1"/>
              <a:t>inside</a:t>
            </a:r>
            <a:r>
              <a:rPr lang="nl-NL" sz="2400" dirty="0"/>
              <a:t> the files</a:t>
            </a:r>
          </a:p>
          <a:p>
            <a:pPr marL="457200" indent="-457200">
              <a:buFont typeface="Wingdings" panose="05000000000000000000" pitchFamily="2" charset="2"/>
              <a:buChar char="§"/>
            </a:pPr>
            <a:r>
              <a:rPr lang="en-US" sz="2400" dirty="0"/>
              <a:t>When a </a:t>
            </a:r>
            <a:r>
              <a:rPr lang="en-US" sz="2400" b="1" dirty="0"/>
              <a:t>Data</a:t>
            </a:r>
            <a:r>
              <a:rPr lang="en-US" sz="2400" dirty="0"/>
              <a:t> file is full, a new one is automatically created together with a new </a:t>
            </a:r>
            <a:r>
              <a:rPr lang="en-US" sz="2400" b="1" dirty="0"/>
              <a:t>Delta</a:t>
            </a:r>
            <a:r>
              <a:rPr lang="en-US" sz="2400" dirty="0"/>
              <a:t> file</a:t>
            </a:r>
          </a:p>
          <a:p>
            <a:pPr marL="0" indent="0">
              <a:buNone/>
            </a:pPr>
            <a:endParaRPr lang="pt-BR" dirty="0"/>
          </a:p>
        </p:txBody>
      </p:sp>
      <p:sp>
        <p:nvSpPr>
          <p:cNvPr id="9" name="Slide Number Placeholder 5"/>
          <p:cNvSpPr>
            <a:spLocks noGrp="1"/>
          </p:cNvSpPr>
          <p:nvPr>
            <p:ph type="sldNum" sz="quarter" idx="4"/>
          </p:nvPr>
        </p:nvSpPr>
        <p:spPr>
          <a:prstGeom prst="rect">
            <a:avLst/>
          </a:prstGeom>
        </p:spPr>
        <p:txBody>
          <a:bodyPr vert="horz" lIns="91440" tIns="45720" rIns="91440" bIns="45720" rtlCol="0" anchor="ctr"/>
          <a:lstStyle>
            <a:lvl1pPr algn="r">
              <a:defRPr sz="1100">
                <a:solidFill>
                  <a:srgbClr val="FFFFFF"/>
                </a:solidFill>
              </a:defRPr>
            </a:lvl1pPr>
          </a:lstStyle>
          <a:p>
            <a:fld id="{87FD5303-69AD-2E4D-B18B-E5EED0F0A60B}" type="slidenum">
              <a:rPr lang="en-US" smtClean="0"/>
              <a:pPr/>
              <a:t>14</a:t>
            </a:fld>
            <a:r>
              <a:rPr lang="en-US" dirty="0" smtClean="0"/>
              <a:t>  |  </a:t>
            </a:r>
            <a:endParaRPr lang="en-US" dirty="0"/>
          </a:p>
        </p:txBody>
      </p:sp>
    </p:spTree>
    <p:extLst>
      <p:ext uri="{BB962C8B-B14F-4D97-AF65-F5344CB8AC3E}">
        <p14:creationId xmlns:p14="http://schemas.microsoft.com/office/powerpoint/2010/main" val="691656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animEffect transition="in" filter="fade">
                                      <p:cBhvr>
                                        <p:cTn id="7" dur="500"/>
                                        <p:tgtEl>
                                          <p:spTgt spid="5">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3" end="3"/>
                                            </p:txEl>
                                          </p:spTgt>
                                        </p:tgtEl>
                                        <p:attrNameLst>
                                          <p:attrName>style.visibility</p:attrName>
                                        </p:attrNameLst>
                                      </p:cBhvr>
                                      <p:to>
                                        <p:strVal val="visible"/>
                                      </p:to>
                                    </p:set>
                                    <p:animEffect transition="in" filter="fade">
                                      <p:cBhvr>
                                        <p:cTn id="12" dur="500"/>
                                        <p:tgtEl>
                                          <p:spTgt spid="5">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4" end="4"/>
                                            </p:txEl>
                                          </p:spTgt>
                                        </p:tgtEl>
                                        <p:attrNameLst>
                                          <p:attrName>style.visibility</p:attrName>
                                        </p:attrNameLst>
                                      </p:cBhvr>
                                      <p:to>
                                        <p:strVal val="visible"/>
                                      </p:to>
                                    </p:set>
                                    <p:animEffect transition="in" filter="fade">
                                      <p:cBhvr>
                                        <p:cTn id="17" dur="500"/>
                                        <p:tgtEl>
                                          <p:spTgt spid="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Memory-Optimized Table Theory</a:t>
            </a:r>
          </a:p>
        </p:txBody>
      </p:sp>
      <p:sp>
        <p:nvSpPr>
          <p:cNvPr id="9" name="Slide Number Placeholder 5"/>
          <p:cNvSpPr>
            <a:spLocks noGrp="1"/>
          </p:cNvSpPr>
          <p:nvPr>
            <p:ph type="sldNum" sz="quarter" idx="4"/>
          </p:nvPr>
        </p:nvSpPr>
        <p:spPr>
          <a:prstGeom prst="rect">
            <a:avLst/>
          </a:prstGeom>
        </p:spPr>
        <p:txBody>
          <a:bodyPr vert="horz" lIns="91440" tIns="45720" rIns="91440" bIns="45720" rtlCol="0" anchor="ctr"/>
          <a:lstStyle>
            <a:lvl1pPr algn="r">
              <a:defRPr sz="1100">
                <a:solidFill>
                  <a:srgbClr val="FFFFFF"/>
                </a:solidFill>
              </a:defRPr>
            </a:lvl1pPr>
          </a:lstStyle>
          <a:p>
            <a:fld id="{87FD5303-69AD-2E4D-B18B-E5EED0F0A60B}" type="slidenum">
              <a:rPr lang="en-US" smtClean="0"/>
              <a:pPr/>
              <a:t>15</a:t>
            </a:fld>
            <a:r>
              <a:rPr lang="en-US" dirty="0" smtClean="0"/>
              <a:t>  |  </a:t>
            </a:r>
            <a:endParaRPr lang="en-US" dirty="0"/>
          </a:p>
        </p:txBody>
      </p:sp>
      <p:sp>
        <p:nvSpPr>
          <p:cNvPr id="6" name="Content Placeholder 1"/>
          <p:cNvSpPr>
            <a:spLocks noGrp="1"/>
          </p:cNvSpPr>
          <p:nvPr>
            <p:ph idx="1"/>
          </p:nvPr>
        </p:nvSpPr>
        <p:spPr>
          <a:xfrm>
            <a:off x="492066" y="1358423"/>
            <a:ext cx="10515600" cy="633105"/>
          </a:xfrm>
        </p:spPr>
        <p:txBody>
          <a:bodyPr>
            <a:normAutofit/>
          </a:bodyPr>
          <a:lstStyle/>
          <a:p>
            <a:pPr marL="0" indent="0">
              <a:buNone/>
            </a:pPr>
            <a:r>
              <a:rPr lang="en-US" b="1" dirty="0" smtClean="0"/>
              <a:t>Let’s take a closer look at the Data file</a:t>
            </a:r>
          </a:p>
        </p:txBody>
      </p:sp>
      <p:grpSp>
        <p:nvGrpSpPr>
          <p:cNvPr id="7" name="Group 6"/>
          <p:cNvGrpSpPr/>
          <p:nvPr/>
        </p:nvGrpSpPr>
        <p:grpSpPr>
          <a:xfrm>
            <a:off x="1875482" y="2727668"/>
            <a:ext cx="1446379" cy="2222766"/>
            <a:chOff x="6096000" y="3875964"/>
            <a:chExt cx="1446379" cy="2222766"/>
          </a:xfrm>
        </p:grpSpPr>
        <p:grpSp>
          <p:nvGrpSpPr>
            <p:cNvPr id="8" name="Group 7"/>
            <p:cNvGrpSpPr/>
            <p:nvPr/>
          </p:nvGrpSpPr>
          <p:grpSpPr>
            <a:xfrm>
              <a:off x="6223380" y="4168063"/>
              <a:ext cx="1318999" cy="1462585"/>
              <a:chOff x="4872251" y="4039737"/>
              <a:chExt cx="1318999" cy="1462585"/>
            </a:xfrm>
          </p:grpSpPr>
          <p:sp>
            <p:nvSpPr>
              <p:cNvPr id="16" name="Rectangle 15"/>
              <p:cNvSpPr/>
              <p:nvPr/>
            </p:nvSpPr>
            <p:spPr>
              <a:xfrm>
                <a:off x="4872251" y="4039737"/>
                <a:ext cx="1009934" cy="1160060"/>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7" name="Rectangle 16"/>
              <p:cNvSpPr/>
              <p:nvPr/>
            </p:nvSpPr>
            <p:spPr>
              <a:xfrm>
                <a:off x="5086066" y="4342262"/>
                <a:ext cx="1009934" cy="1160060"/>
              </a:xfrm>
              <a:prstGeom prst="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8" name="TextBox 17"/>
              <p:cNvSpPr txBox="1"/>
              <p:nvPr/>
            </p:nvSpPr>
            <p:spPr>
              <a:xfrm>
                <a:off x="4872251" y="4039737"/>
                <a:ext cx="1009934" cy="338554"/>
              </a:xfrm>
              <a:prstGeom prst="rect">
                <a:avLst/>
              </a:prstGeom>
              <a:noFill/>
            </p:spPr>
            <p:txBody>
              <a:bodyPr wrap="square" rtlCol="0">
                <a:spAutoFit/>
              </a:bodyPr>
              <a:lstStyle/>
              <a:p>
                <a:r>
                  <a:rPr lang="nl-NL" sz="1600" dirty="0" smtClean="0"/>
                  <a:t>Data file</a:t>
                </a:r>
                <a:endParaRPr lang="nl-NL" sz="1600" dirty="0"/>
              </a:p>
            </p:txBody>
          </p:sp>
          <p:sp>
            <p:nvSpPr>
              <p:cNvPr id="19" name="TextBox 18"/>
              <p:cNvSpPr txBox="1"/>
              <p:nvPr/>
            </p:nvSpPr>
            <p:spPr>
              <a:xfrm>
                <a:off x="5086066" y="4333579"/>
                <a:ext cx="1105184" cy="338554"/>
              </a:xfrm>
              <a:prstGeom prst="rect">
                <a:avLst/>
              </a:prstGeom>
              <a:noFill/>
            </p:spPr>
            <p:txBody>
              <a:bodyPr wrap="square" rtlCol="0">
                <a:spAutoFit/>
              </a:bodyPr>
              <a:lstStyle/>
              <a:p>
                <a:r>
                  <a:rPr lang="nl-NL" sz="1600" dirty="0" smtClean="0"/>
                  <a:t>Delta file</a:t>
                </a:r>
                <a:endParaRPr lang="nl-NL" sz="1600" dirty="0"/>
              </a:p>
            </p:txBody>
          </p:sp>
        </p:grpSp>
        <p:sp>
          <p:nvSpPr>
            <p:cNvPr id="10" name="TextBox 9"/>
            <p:cNvSpPr txBox="1"/>
            <p:nvPr/>
          </p:nvSpPr>
          <p:spPr>
            <a:xfrm>
              <a:off x="6223380" y="5729398"/>
              <a:ext cx="1223749" cy="369332"/>
            </a:xfrm>
            <a:prstGeom prst="rect">
              <a:avLst/>
            </a:prstGeom>
            <a:noFill/>
          </p:spPr>
          <p:txBody>
            <a:bodyPr wrap="square" rtlCol="0">
              <a:spAutoFit/>
            </a:bodyPr>
            <a:lstStyle/>
            <a:p>
              <a:pPr algn="ctr"/>
              <a:r>
                <a:rPr lang="nl-NL" b="1" dirty="0" smtClean="0"/>
                <a:t>CFP</a:t>
              </a:r>
              <a:endParaRPr lang="nl-NL" b="1" dirty="0"/>
            </a:p>
          </p:txBody>
        </p:sp>
        <p:cxnSp>
          <p:nvCxnSpPr>
            <p:cNvPr id="11" name="Straight Connector 10"/>
            <p:cNvCxnSpPr/>
            <p:nvPr/>
          </p:nvCxnSpPr>
          <p:spPr>
            <a:xfrm>
              <a:off x="6096000" y="3875964"/>
              <a:ext cx="1446379"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flipV="1">
              <a:off x="6096000" y="3875964"/>
              <a:ext cx="0" cy="20381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flipV="1">
              <a:off x="7542379" y="3875964"/>
              <a:ext cx="0" cy="20381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6096000" y="5914064"/>
              <a:ext cx="46857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flipH="1">
              <a:off x="7096837" y="5914064"/>
              <a:ext cx="445542" cy="0"/>
            </a:xfrm>
            <a:prstGeom prst="line">
              <a:avLst/>
            </a:prstGeom>
          </p:spPr>
          <p:style>
            <a:lnRef idx="1">
              <a:schemeClr val="accent1"/>
            </a:lnRef>
            <a:fillRef idx="0">
              <a:schemeClr val="accent1"/>
            </a:fillRef>
            <a:effectRef idx="0">
              <a:schemeClr val="accent1"/>
            </a:effectRef>
            <a:fontRef idx="minor">
              <a:schemeClr val="tx1"/>
            </a:fontRef>
          </p:style>
        </p:cxnSp>
      </p:grpSp>
      <p:sp>
        <p:nvSpPr>
          <p:cNvPr id="20" name="TextBox 19"/>
          <p:cNvSpPr txBox="1"/>
          <p:nvPr/>
        </p:nvSpPr>
        <p:spPr>
          <a:xfrm>
            <a:off x="1875482" y="2386662"/>
            <a:ext cx="245659" cy="369332"/>
          </a:xfrm>
          <a:prstGeom prst="rect">
            <a:avLst/>
          </a:prstGeom>
          <a:noFill/>
        </p:spPr>
        <p:txBody>
          <a:bodyPr wrap="square" rtlCol="0">
            <a:spAutoFit/>
          </a:bodyPr>
          <a:lstStyle/>
          <a:p>
            <a:r>
              <a:rPr lang="nl-NL" i="1" dirty="0"/>
              <a:t>0</a:t>
            </a:r>
          </a:p>
        </p:txBody>
      </p:sp>
      <p:sp>
        <p:nvSpPr>
          <p:cNvPr id="21" name="TextBox 20"/>
          <p:cNvSpPr txBox="1"/>
          <p:nvPr/>
        </p:nvSpPr>
        <p:spPr>
          <a:xfrm>
            <a:off x="2958735" y="2329779"/>
            <a:ext cx="469499" cy="461665"/>
          </a:xfrm>
          <a:prstGeom prst="rect">
            <a:avLst/>
          </a:prstGeom>
          <a:noFill/>
        </p:spPr>
        <p:txBody>
          <a:bodyPr wrap="square" rtlCol="0">
            <a:spAutoFit/>
          </a:bodyPr>
          <a:lstStyle/>
          <a:p>
            <a:r>
              <a:rPr lang="nl-NL" sz="2400" dirty="0"/>
              <a:t>∞</a:t>
            </a:r>
            <a:endParaRPr lang="nl-NL" dirty="0"/>
          </a:p>
        </p:txBody>
      </p:sp>
      <p:grpSp>
        <p:nvGrpSpPr>
          <p:cNvPr id="22" name="Group 21"/>
          <p:cNvGrpSpPr/>
          <p:nvPr/>
        </p:nvGrpSpPr>
        <p:grpSpPr>
          <a:xfrm>
            <a:off x="5670200" y="2727668"/>
            <a:ext cx="1446379" cy="2222766"/>
            <a:chOff x="6096000" y="3875964"/>
            <a:chExt cx="1446379" cy="2222766"/>
          </a:xfrm>
        </p:grpSpPr>
        <p:grpSp>
          <p:nvGrpSpPr>
            <p:cNvPr id="23" name="Group 22"/>
            <p:cNvGrpSpPr/>
            <p:nvPr/>
          </p:nvGrpSpPr>
          <p:grpSpPr>
            <a:xfrm>
              <a:off x="6223380" y="4168063"/>
              <a:ext cx="1318999" cy="1462585"/>
              <a:chOff x="4872251" y="4039737"/>
              <a:chExt cx="1318999" cy="1462585"/>
            </a:xfrm>
          </p:grpSpPr>
          <p:sp>
            <p:nvSpPr>
              <p:cNvPr id="30" name="Rectangle 29"/>
              <p:cNvSpPr/>
              <p:nvPr/>
            </p:nvSpPr>
            <p:spPr>
              <a:xfrm>
                <a:off x="4872251" y="4039737"/>
                <a:ext cx="1009934" cy="1160060"/>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31" name="Rectangle 30"/>
              <p:cNvSpPr/>
              <p:nvPr/>
            </p:nvSpPr>
            <p:spPr>
              <a:xfrm>
                <a:off x="5086066" y="4342262"/>
                <a:ext cx="1009934" cy="1160060"/>
              </a:xfrm>
              <a:prstGeom prst="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32" name="TextBox 31"/>
              <p:cNvSpPr txBox="1"/>
              <p:nvPr/>
            </p:nvSpPr>
            <p:spPr>
              <a:xfrm>
                <a:off x="4872251" y="4039737"/>
                <a:ext cx="1009934" cy="338554"/>
              </a:xfrm>
              <a:prstGeom prst="rect">
                <a:avLst/>
              </a:prstGeom>
              <a:noFill/>
            </p:spPr>
            <p:txBody>
              <a:bodyPr wrap="square" rtlCol="0">
                <a:spAutoFit/>
              </a:bodyPr>
              <a:lstStyle/>
              <a:p>
                <a:r>
                  <a:rPr lang="nl-NL" sz="1600" dirty="0" smtClean="0"/>
                  <a:t>Data file</a:t>
                </a:r>
                <a:endParaRPr lang="nl-NL" sz="1600" dirty="0"/>
              </a:p>
            </p:txBody>
          </p:sp>
          <p:sp>
            <p:nvSpPr>
              <p:cNvPr id="33" name="TextBox 32"/>
              <p:cNvSpPr txBox="1"/>
              <p:nvPr/>
            </p:nvSpPr>
            <p:spPr>
              <a:xfrm>
                <a:off x="5086066" y="4333579"/>
                <a:ext cx="1105184" cy="338554"/>
              </a:xfrm>
              <a:prstGeom prst="rect">
                <a:avLst/>
              </a:prstGeom>
              <a:noFill/>
            </p:spPr>
            <p:txBody>
              <a:bodyPr wrap="square" rtlCol="0">
                <a:spAutoFit/>
              </a:bodyPr>
              <a:lstStyle/>
              <a:p>
                <a:r>
                  <a:rPr lang="nl-NL" sz="1600" dirty="0" smtClean="0"/>
                  <a:t>Delta file</a:t>
                </a:r>
                <a:endParaRPr lang="nl-NL" sz="1600" dirty="0"/>
              </a:p>
            </p:txBody>
          </p:sp>
        </p:grpSp>
        <p:sp>
          <p:nvSpPr>
            <p:cNvPr id="24" name="TextBox 23"/>
            <p:cNvSpPr txBox="1"/>
            <p:nvPr/>
          </p:nvSpPr>
          <p:spPr>
            <a:xfrm>
              <a:off x="6223380" y="5729398"/>
              <a:ext cx="1223749" cy="369332"/>
            </a:xfrm>
            <a:prstGeom prst="rect">
              <a:avLst/>
            </a:prstGeom>
            <a:noFill/>
          </p:spPr>
          <p:txBody>
            <a:bodyPr wrap="square" rtlCol="0">
              <a:spAutoFit/>
            </a:bodyPr>
            <a:lstStyle/>
            <a:p>
              <a:pPr algn="ctr"/>
              <a:r>
                <a:rPr lang="nl-NL" b="1" dirty="0" smtClean="0"/>
                <a:t>CFP</a:t>
              </a:r>
              <a:endParaRPr lang="nl-NL" b="1" dirty="0"/>
            </a:p>
          </p:txBody>
        </p:sp>
        <p:cxnSp>
          <p:nvCxnSpPr>
            <p:cNvPr id="25" name="Straight Connector 24"/>
            <p:cNvCxnSpPr/>
            <p:nvPr/>
          </p:nvCxnSpPr>
          <p:spPr>
            <a:xfrm>
              <a:off x="6096000" y="3875964"/>
              <a:ext cx="1446379"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flipV="1">
              <a:off x="6096000" y="3875964"/>
              <a:ext cx="0" cy="20381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flipV="1">
              <a:off x="7542379" y="3875964"/>
              <a:ext cx="0" cy="20381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a:off x="6096000" y="5914064"/>
              <a:ext cx="46857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flipH="1">
              <a:off x="7096837" y="5914064"/>
              <a:ext cx="445542" cy="0"/>
            </a:xfrm>
            <a:prstGeom prst="line">
              <a:avLst/>
            </a:prstGeom>
          </p:spPr>
          <p:style>
            <a:lnRef idx="1">
              <a:schemeClr val="accent1"/>
            </a:lnRef>
            <a:fillRef idx="0">
              <a:schemeClr val="accent1"/>
            </a:fillRef>
            <a:effectRef idx="0">
              <a:schemeClr val="accent1"/>
            </a:effectRef>
            <a:fontRef idx="minor">
              <a:schemeClr val="tx1"/>
            </a:fontRef>
          </p:style>
        </p:cxnSp>
      </p:grpSp>
      <p:sp>
        <p:nvSpPr>
          <p:cNvPr id="34" name="TextBox 33"/>
          <p:cNvSpPr txBox="1"/>
          <p:nvPr/>
        </p:nvSpPr>
        <p:spPr>
          <a:xfrm>
            <a:off x="5658827" y="2386662"/>
            <a:ext cx="566629" cy="369332"/>
          </a:xfrm>
          <a:prstGeom prst="rect">
            <a:avLst/>
          </a:prstGeom>
          <a:noFill/>
        </p:spPr>
        <p:txBody>
          <a:bodyPr wrap="square" rtlCol="0">
            <a:spAutoFit/>
          </a:bodyPr>
          <a:lstStyle/>
          <a:p>
            <a:r>
              <a:rPr lang="nl-NL" i="1" dirty="0" smtClean="0"/>
              <a:t>101</a:t>
            </a:r>
            <a:endParaRPr lang="nl-NL" i="1" dirty="0"/>
          </a:p>
        </p:txBody>
      </p:sp>
      <p:sp>
        <p:nvSpPr>
          <p:cNvPr id="35" name="TextBox 34"/>
          <p:cNvSpPr txBox="1"/>
          <p:nvPr/>
        </p:nvSpPr>
        <p:spPr>
          <a:xfrm>
            <a:off x="6742080" y="2329779"/>
            <a:ext cx="469499" cy="461665"/>
          </a:xfrm>
          <a:prstGeom prst="rect">
            <a:avLst/>
          </a:prstGeom>
          <a:noFill/>
        </p:spPr>
        <p:txBody>
          <a:bodyPr wrap="square" rtlCol="0">
            <a:spAutoFit/>
          </a:bodyPr>
          <a:lstStyle/>
          <a:p>
            <a:r>
              <a:rPr lang="nl-NL" sz="2400" dirty="0"/>
              <a:t>∞</a:t>
            </a:r>
            <a:endParaRPr lang="nl-NL" dirty="0"/>
          </a:p>
        </p:txBody>
      </p:sp>
      <p:sp>
        <p:nvSpPr>
          <p:cNvPr id="36" name="TextBox 35"/>
          <p:cNvSpPr txBox="1"/>
          <p:nvPr/>
        </p:nvSpPr>
        <p:spPr>
          <a:xfrm>
            <a:off x="2887692" y="2386662"/>
            <a:ext cx="566629" cy="369332"/>
          </a:xfrm>
          <a:prstGeom prst="rect">
            <a:avLst/>
          </a:prstGeom>
          <a:noFill/>
        </p:spPr>
        <p:txBody>
          <a:bodyPr wrap="square" rtlCol="0">
            <a:spAutoFit/>
          </a:bodyPr>
          <a:lstStyle/>
          <a:p>
            <a:r>
              <a:rPr lang="nl-NL" i="1" dirty="0" smtClean="0"/>
              <a:t>100</a:t>
            </a:r>
            <a:endParaRPr lang="nl-NL" i="1" dirty="0"/>
          </a:p>
        </p:txBody>
      </p:sp>
      <p:sp>
        <p:nvSpPr>
          <p:cNvPr id="37" name="Right Arrow 36"/>
          <p:cNvSpPr/>
          <p:nvPr/>
        </p:nvSpPr>
        <p:spPr>
          <a:xfrm>
            <a:off x="3772631" y="3259021"/>
            <a:ext cx="1651379" cy="97539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Tree>
    <p:extLst>
      <p:ext uri="{BB962C8B-B14F-4D97-AF65-F5344CB8AC3E}">
        <p14:creationId xmlns:p14="http://schemas.microsoft.com/office/powerpoint/2010/main" val="26045798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fade">
                                      <p:cBhvr>
                                        <p:cTn id="10" dur="500"/>
                                        <p:tgtEl>
                                          <p:spTgt spid="2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1"/>
                                        </p:tgtEl>
                                        <p:attrNameLst>
                                          <p:attrName>style.visibility</p:attrName>
                                        </p:attrNameLst>
                                      </p:cBhvr>
                                      <p:to>
                                        <p:strVal val="visible"/>
                                      </p:to>
                                    </p:set>
                                    <p:animEffect transition="in" filter="fade">
                                      <p:cBhvr>
                                        <p:cTn id="13" dur="500"/>
                                        <p:tgtEl>
                                          <p:spTgt spid="21"/>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xit" presetSubtype="0" fill="hold" grpId="1" nodeType="clickEffect">
                                  <p:stCondLst>
                                    <p:cond delay="0"/>
                                  </p:stCondLst>
                                  <p:childTnLst>
                                    <p:animEffect transition="out" filter="fade">
                                      <p:cBhvr>
                                        <p:cTn id="17" dur="500"/>
                                        <p:tgtEl>
                                          <p:spTgt spid="21"/>
                                        </p:tgtEl>
                                      </p:cBhvr>
                                    </p:animEffect>
                                    <p:set>
                                      <p:cBhvr>
                                        <p:cTn id="18" dur="1" fill="hold">
                                          <p:stCondLst>
                                            <p:cond delay="499"/>
                                          </p:stCondLst>
                                        </p:cTn>
                                        <p:tgtEl>
                                          <p:spTgt spid="21"/>
                                        </p:tgtEl>
                                        <p:attrNameLst>
                                          <p:attrName>style.visibility</p:attrName>
                                        </p:attrNameLst>
                                      </p:cBhvr>
                                      <p:to>
                                        <p:strVal val="hidden"/>
                                      </p:to>
                                    </p:set>
                                  </p:childTnLst>
                                </p:cTn>
                              </p:par>
                              <p:par>
                                <p:cTn id="19" presetID="10" presetClass="entr" presetSubtype="0" fill="hold" grpId="0" nodeType="withEffect">
                                  <p:stCondLst>
                                    <p:cond delay="0"/>
                                  </p:stCondLst>
                                  <p:childTnLst>
                                    <p:set>
                                      <p:cBhvr>
                                        <p:cTn id="20" dur="1" fill="hold">
                                          <p:stCondLst>
                                            <p:cond delay="0"/>
                                          </p:stCondLst>
                                        </p:cTn>
                                        <p:tgtEl>
                                          <p:spTgt spid="36"/>
                                        </p:tgtEl>
                                        <p:attrNameLst>
                                          <p:attrName>style.visibility</p:attrName>
                                        </p:attrNameLst>
                                      </p:cBhvr>
                                      <p:to>
                                        <p:strVal val="visible"/>
                                      </p:to>
                                    </p:set>
                                    <p:animEffect transition="in" filter="fade">
                                      <p:cBhvr>
                                        <p:cTn id="21" dur="500"/>
                                        <p:tgtEl>
                                          <p:spTgt spid="36"/>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37"/>
                                        </p:tgtEl>
                                        <p:attrNameLst>
                                          <p:attrName>style.visibility</p:attrName>
                                        </p:attrNameLst>
                                      </p:cBhvr>
                                      <p:to>
                                        <p:strVal val="visible"/>
                                      </p:to>
                                    </p:set>
                                    <p:animEffect transition="in" filter="fade">
                                      <p:cBhvr>
                                        <p:cTn id="26" dur="500"/>
                                        <p:tgtEl>
                                          <p:spTgt spid="37"/>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22"/>
                                        </p:tgtEl>
                                        <p:attrNameLst>
                                          <p:attrName>style.visibility</p:attrName>
                                        </p:attrNameLst>
                                      </p:cBhvr>
                                      <p:to>
                                        <p:strVal val="visible"/>
                                      </p:to>
                                    </p:set>
                                    <p:animEffect transition="in" filter="fade">
                                      <p:cBhvr>
                                        <p:cTn id="31" dur="500"/>
                                        <p:tgtEl>
                                          <p:spTgt spid="22"/>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34"/>
                                        </p:tgtEl>
                                        <p:attrNameLst>
                                          <p:attrName>style.visibility</p:attrName>
                                        </p:attrNameLst>
                                      </p:cBhvr>
                                      <p:to>
                                        <p:strVal val="visible"/>
                                      </p:to>
                                    </p:set>
                                    <p:animEffect transition="in" filter="fade">
                                      <p:cBhvr>
                                        <p:cTn id="34" dur="500"/>
                                        <p:tgtEl>
                                          <p:spTgt spid="34"/>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35"/>
                                        </p:tgtEl>
                                        <p:attrNameLst>
                                          <p:attrName>style.visibility</p:attrName>
                                        </p:attrNameLst>
                                      </p:cBhvr>
                                      <p:to>
                                        <p:strVal val="visible"/>
                                      </p:to>
                                    </p:set>
                                    <p:animEffect transition="in" filter="fade">
                                      <p:cBhvr>
                                        <p:cTn id="37"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1" grpId="0"/>
      <p:bldP spid="21" grpId="1"/>
      <p:bldP spid="34" grpId="0"/>
      <p:bldP spid="35" grpId="0"/>
      <p:bldP spid="36" grpId="0"/>
      <p:bldP spid="37"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Memory-Optimized Table Theory</a:t>
            </a:r>
          </a:p>
        </p:txBody>
      </p:sp>
      <p:sp>
        <p:nvSpPr>
          <p:cNvPr id="9" name="Slide Number Placeholder 5"/>
          <p:cNvSpPr>
            <a:spLocks noGrp="1"/>
          </p:cNvSpPr>
          <p:nvPr>
            <p:ph type="sldNum" sz="quarter" idx="4"/>
          </p:nvPr>
        </p:nvSpPr>
        <p:spPr>
          <a:prstGeom prst="rect">
            <a:avLst/>
          </a:prstGeom>
        </p:spPr>
        <p:txBody>
          <a:bodyPr vert="horz" lIns="91440" tIns="45720" rIns="91440" bIns="45720" rtlCol="0" anchor="ctr"/>
          <a:lstStyle>
            <a:lvl1pPr algn="r">
              <a:defRPr sz="1100">
                <a:solidFill>
                  <a:srgbClr val="FFFFFF"/>
                </a:solidFill>
              </a:defRPr>
            </a:lvl1pPr>
          </a:lstStyle>
          <a:p>
            <a:fld id="{87FD5303-69AD-2E4D-B18B-E5EED0F0A60B}" type="slidenum">
              <a:rPr lang="en-US" smtClean="0"/>
              <a:pPr/>
              <a:t>16</a:t>
            </a:fld>
            <a:r>
              <a:rPr lang="en-US" dirty="0" smtClean="0"/>
              <a:t>  |  </a:t>
            </a:r>
            <a:endParaRPr lang="en-US" dirty="0"/>
          </a:p>
        </p:txBody>
      </p:sp>
      <p:sp>
        <p:nvSpPr>
          <p:cNvPr id="6" name="Content Placeholder 1"/>
          <p:cNvSpPr>
            <a:spLocks noGrp="1"/>
          </p:cNvSpPr>
          <p:nvPr>
            <p:ph idx="1"/>
          </p:nvPr>
        </p:nvSpPr>
        <p:spPr>
          <a:xfrm>
            <a:off x="457200" y="1417638"/>
            <a:ext cx="8514784" cy="4151013"/>
          </a:xfrm>
        </p:spPr>
        <p:txBody>
          <a:bodyPr>
            <a:normAutofit/>
          </a:bodyPr>
          <a:lstStyle/>
          <a:p>
            <a:pPr marL="0" indent="0">
              <a:buNone/>
            </a:pPr>
            <a:r>
              <a:rPr lang="en-US" sz="2400" b="1" dirty="0" smtClean="0"/>
              <a:t>What about those Delta files?</a:t>
            </a:r>
          </a:p>
          <a:p>
            <a:pPr marL="457200" indent="-457200">
              <a:buFont typeface="Wingdings" panose="05000000000000000000" pitchFamily="2" charset="2"/>
              <a:buChar char="§"/>
            </a:pPr>
            <a:r>
              <a:rPr lang="en-US" sz="2400" b="1" dirty="0" smtClean="0"/>
              <a:t>Delta</a:t>
            </a:r>
            <a:r>
              <a:rPr lang="en-US" sz="2400" dirty="0" smtClean="0"/>
              <a:t> files track rows that were deleted from the </a:t>
            </a:r>
            <a:r>
              <a:rPr lang="en-US" sz="2400" b="1" dirty="0" smtClean="0"/>
              <a:t>Data</a:t>
            </a:r>
            <a:r>
              <a:rPr lang="en-US" sz="2400" dirty="0" smtClean="0"/>
              <a:t> file, </a:t>
            </a:r>
            <a:br>
              <a:rPr lang="en-US" sz="2400" dirty="0" smtClean="0"/>
            </a:br>
            <a:r>
              <a:rPr lang="en-US" sz="2400" dirty="0" smtClean="0"/>
              <a:t>they are not directly removed from the </a:t>
            </a:r>
            <a:r>
              <a:rPr lang="en-US" sz="2400" b="1" dirty="0" smtClean="0"/>
              <a:t>Data</a:t>
            </a:r>
            <a:r>
              <a:rPr lang="en-US" sz="2400" dirty="0" smtClean="0"/>
              <a:t> file!</a:t>
            </a:r>
          </a:p>
          <a:p>
            <a:pPr marL="457200" indent="-457200">
              <a:buFont typeface="Wingdings" panose="05000000000000000000" pitchFamily="2" charset="2"/>
              <a:buChar char="§"/>
            </a:pPr>
            <a:r>
              <a:rPr lang="nl-NL" sz="2400" dirty="0" err="1" smtClean="0"/>
              <a:t>Eventually</a:t>
            </a:r>
            <a:r>
              <a:rPr lang="nl-NL" sz="2400" dirty="0" smtClean="0"/>
              <a:t>, </a:t>
            </a:r>
            <a:r>
              <a:rPr lang="nl-NL" sz="2400" dirty="0" err="1" smtClean="0"/>
              <a:t>rows</a:t>
            </a:r>
            <a:r>
              <a:rPr lang="nl-NL" sz="2400" dirty="0" smtClean="0"/>
              <a:t> </a:t>
            </a:r>
            <a:r>
              <a:rPr lang="nl-NL" sz="2400" dirty="0" err="1" smtClean="0"/>
              <a:t>that</a:t>
            </a:r>
            <a:r>
              <a:rPr lang="nl-NL" sz="2400" dirty="0" smtClean="0"/>
              <a:t> are </a:t>
            </a:r>
            <a:r>
              <a:rPr lang="nl-NL" sz="2400" dirty="0" err="1" smtClean="0"/>
              <a:t>marked</a:t>
            </a:r>
            <a:r>
              <a:rPr lang="nl-NL" sz="2400" dirty="0" smtClean="0"/>
              <a:t> as </a:t>
            </a:r>
            <a:r>
              <a:rPr lang="nl-NL" sz="2400" dirty="0" err="1" smtClean="0"/>
              <a:t>deleted</a:t>
            </a:r>
            <a:r>
              <a:rPr lang="nl-NL" sz="2400" dirty="0" smtClean="0"/>
              <a:t> in the </a:t>
            </a:r>
            <a:br>
              <a:rPr lang="nl-NL" sz="2400" dirty="0" smtClean="0"/>
            </a:br>
            <a:r>
              <a:rPr lang="nl-NL" sz="2400" b="1" dirty="0" smtClean="0"/>
              <a:t>Delta</a:t>
            </a:r>
            <a:r>
              <a:rPr lang="nl-NL" sz="2400" dirty="0" smtClean="0"/>
              <a:t> file </a:t>
            </a:r>
            <a:r>
              <a:rPr lang="nl-NL" sz="2400" dirty="0" err="1" smtClean="0"/>
              <a:t>will</a:t>
            </a:r>
            <a:r>
              <a:rPr lang="nl-NL" sz="2400" dirty="0" smtClean="0"/>
              <a:t> </a:t>
            </a:r>
            <a:r>
              <a:rPr lang="nl-NL" sz="2400" dirty="0" err="1" smtClean="0"/>
              <a:t>be</a:t>
            </a:r>
            <a:r>
              <a:rPr lang="nl-NL" sz="2400" dirty="0" smtClean="0"/>
              <a:t> </a:t>
            </a:r>
            <a:r>
              <a:rPr lang="nl-NL" sz="2400" dirty="0" err="1" smtClean="0"/>
              <a:t>removed</a:t>
            </a:r>
            <a:r>
              <a:rPr lang="nl-NL" sz="2400" dirty="0" smtClean="0"/>
              <a:t> </a:t>
            </a:r>
            <a:r>
              <a:rPr lang="nl-NL" sz="2400" dirty="0" err="1" smtClean="0"/>
              <a:t>from</a:t>
            </a:r>
            <a:r>
              <a:rPr lang="nl-NL" sz="2400" dirty="0" smtClean="0"/>
              <a:t> the </a:t>
            </a:r>
            <a:r>
              <a:rPr lang="nl-NL" sz="2400" b="1" dirty="0" smtClean="0"/>
              <a:t>Data</a:t>
            </a:r>
            <a:r>
              <a:rPr lang="nl-NL" sz="2400" dirty="0" smtClean="0"/>
              <a:t> file </a:t>
            </a:r>
            <a:r>
              <a:rPr lang="nl-NL" sz="2400" dirty="0" err="1" smtClean="0"/>
              <a:t>using</a:t>
            </a:r>
            <a:r>
              <a:rPr lang="nl-NL" sz="2400" dirty="0" smtClean="0"/>
              <a:t> </a:t>
            </a:r>
            <a:br>
              <a:rPr lang="nl-NL" sz="2400" dirty="0" smtClean="0"/>
            </a:br>
            <a:r>
              <a:rPr lang="nl-NL" sz="2400" dirty="0" smtClean="0"/>
              <a:t>a </a:t>
            </a:r>
            <a:r>
              <a:rPr lang="nl-NL" sz="2400" b="1" dirty="0" smtClean="0"/>
              <a:t>CFP </a:t>
            </a:r>
            <a:r>
              <a:rPr lang="nl-NL" sz="2400" b="1" dirty="0" err="1" smtClean="0"/>
              <a:t>Merge</a:t>
            </a:r>
            <a:r>
              <a:rPr lang="nl-NL" sz="2400" dirty="0" smtClean="0"/>
              <a:t> </a:t>
            </a:r>
            <a:r>
              <a:rPr lang="nl-NL" sz="2400" dirty="0" err="1" smtClean="0"/>
              <a:t>operation</a:t>
            </a:r>
            <a:endParaRPr lang="en-US" sz="2400" dirty="0" smtClean="0"/>
          </a:p>
          <a:p>
            <a:endParaRPr lang="en-US" sz="2400" dirty="0"/>
          </a:p>
        </p:txBody>
      </p:sp>
    </p:spTree>
    <p:extLst>
      <p:ext uri="{BB962C8B-B14F-4D97-AF65-F5344CB8AC3E}">
        <p14:creationId xmlns:p14="http://schemas.microsoft.com/office/powerpoint/2010/main" val="322590980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Memory-Optimized Table Theory</a:t>
            </a:r>
          </a:p>
        </p:txBody>
      </p:sp>
      <p:sp>
        <p:nvSpPr>
          <p:cNvPr id="9" name="Slide Number Placeholder 5"/>
          <p:cNvSpPr>
            <a:spLocks noGrp="1"/>
          </p:cNvSpPr>
          <p:nvPr>
            <p:ph type="sldNum" sz="quarter" idx="4"/>
          </p:nvPr>
        </p:nvSpPr>
        <p:spPr>
          <a:prstGeom prst="rect">
            <a:avLst/>
          </a:prstGeom>
        </p:spPr>
        <p:txBody>
          <a:bodyPr vert="horz" lIns="91440" tIns="45720" rIns="91440" bIns="45720" rtlCol="0" anchor="ctr"/>
          <a:lstStyle>
            <a:lvl1pPr algn="r">
              <a:defRPr sz="1100">
                <a:solidFill>
                  <a:srgbClr val="FFFFFF"/>
                </a:solidFill>
              </a:defRPr>
            </a:lvl1pPr>
          </a:lstStyle>
          <a:p>
            <a:fld id="{87FD5303-69AD-2E4D-B18B-E5EED0F0A60B}" type="slidenum">
              <a:rPr lang="en-US" smtClean="0"/>
              <a:pPr/>
              <a:t>17</a:t>
            </a:fld>
            <a:r>
              <a:rPr lang="en-US" dirty="0" smtClean="0"/>
              <a:t>  |  </a:t>
            </a:r>
            <a:endParaRPr lang="en-US" dirty="0"/>
          </a:p>
        </p:txBody>
      </p:sp>
      <p:pic>
        <p:nvPicPr>
          <p:cNvPr id="6" name="Picture 2" descr="Diagram shows memory optimized table file group"/>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67004" y="2216364"/>
            <a:ext cx="5943600" cy="3105150"/>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p:cNvSpPr txBox="1"/>
          <p:nvPr/>
        </p:nvSpPr>
        <p:spPr>
          <a:xfrm>
            <a:off x="4686124" y="4565864"/>
            <a:ext cx="5110480" cy="276999"/>
          </a:xfrm>
          <a:prstGeom prst="rect">
            <a:avLst/>
          </a:prstGeom>
          <a:noFill/>
        </p:spPr>
        <p:txBody>
          <a:bodyPr wrap="square" rtlCol="0">
            <a:spAutoFit/>
          </a:bodyPr>
          <a:lstStyle/>
          <a:p>
            <a:r>
              <a:rPr lang="en-US" sz="1200" i="1" dirty="0" smtClean="0">
                <a:solidFill>
                  <a:schemeClr val="bg1">
                    <a:lumMod val="65000"/>
                  </a:schemeClr>
                </a:solidFill>
              </a:rPr>
              <a:t>Source: https</a:t>
            </a:r>
            <a:r>
              <a:rPr lang="en-US" sz="1200" i="1" dirty="0">
                <a:solidFill>
                  <a:schemeClr val="bg1">
                    <a:lumMod val="65000"/>
                  </a:schemeClr>
                </a:solidFill>
              </a:rPr>
              <a:t>://msdn.microsoft.com/en-us/dn553125.aspx</a:t>
            </a:r>
          </a:p>
        </p:txBody>
      </p:sp>
    </p:spTree>
    <p:extLst>
      <p:ext uri="{BB962C8B-B14F-4D97-AF65-F5344CB8AC3E}">
        <p14:creationId xmlns:p14="http://schemas.microsoft.com/office/powerpoint/2010/main" val="351165392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Memory-Optimized Table Theory</a:t>
            </a:r>
          </a:p>
        </p:txBody>
      </p:sp>
      <p:sp>
        <p:nvSpPr>
          <p:cNvPr id="5" name="Content Placeholder 4"/>
          <p:cNvSpPr>
            <a:spLocks noGrp="1"/>
          </p:cNvSpPr>
          <p:nvPr>
            <p:ph sz="half" idx="1"/>
          </p:nvPr>
        </p:nvSpPr>
        <p:spPr>
          <a:xfrm>
            <a:off x="457200" y="1417638"/>
            <a:ext cx="8515884" cy="4525963"/>
          </a:xfrm>
        </p:spPr>
        <p:txBody>
          <a:bodyPr>
            <a:normAutofit/>
          </a:bodyPr>
          <a:lstStyle/>
          <a:p>
            <a:pPr marL="457200" indent="-457200">
              <a:buFont typeface="Wingdings" panose="05000000000000000000" pitchFamily="2" charset="2"/>
              <a:buChar char="§"/>
            </a:pPr>
            <a:r>
              <a:rPr lang="en-US" dirty="0"/>
              <a:t>In-Memory OLTP uses </a:t>
            </a:r>
            <a:r>
              <a:rPr lang="en-US" b="1" dirty="0"/>
              <a:t>Snapshot-Based Transaction Isolation</a:t>
            </a:r>
            <a:r>
              <a:rPr lang="en-US" dirty="0"/>
              <a:t> with </a:t>
            </a:r>
            <a:r>
              <a:rPr lang="en-US" b="1" dirty="0"/>
              <a:t>Optimistic Concurrency </a:t>
            </a:r>
            <a:r>
              <a:rPr lang="en-US" dirty="0"/>
              <a:t>control</a:t>
            </a:r>
          </a:p>
          <a:p>
            <a:pPr marL="457200" indent="-457200">
              <a:buFont typeface="Wingdings" panose="05000000000000000000" pitchFamily="2" charset="2"/>
              <a:buChar char="§"/>
            </a:pPr>
            <a:r>
              <a:rPr lang="en-US" dirty="0"/>
              <a:t>This removes the need of </a:t>
            </a:r>
            <a:r>
              <a:rPr lang="en-US" b="1" dirty="0"/>
              <a:t>locks</a:t>
            </a:r>
            <a:r>
              <a:rPr lang="en-US" dirty="0"/>
              <a:t> and </a:t>
            </a:r>
            <a:r>
              <a:rPr lang="en-US" b="1" dirty="0"/>
              <a:t>latches</a:t>
            </a:r>
            <a:r>
              <a:rPr lang="en-US" dirty="0"/>
              <a:t> to protect transaction</a:t>
            </a:r>
            <a:r>
              <a:rPr lang="nl-NL" dirty="0"/>
              <a:t>s</a:t>
            </a:r>
            <a:endParaRPr lang="en-US" dirty="0"/>
          </a:p>
          <a:p>
            <a:pPr marL="457200" indent="-457200">
              <a:buFont typeface="Wingdings" panose="05000000000000000000" pitchFamily="2" charset="2"/>
              <a:buChar char="§"/>
            </a:pPr>
            <a:r>
              <a:rPr lang="en-US" dirty="0"/>
              <a:t>Row versions are stored and maintained inside the </a:t>
            </a:r>
            <a:r>
              <a:rPr lang="en-US" b="1" dirty="0"/>
              <a:t>Data</a:t>
            </a:r>
            <a:r>
              <a:rPr lang="en-US" dirty="0"/>
              <a:t> files instead of </a:t>
            </a:r>
            <a:r>
              <a:rPr lang="en-US" b="1" dirty="0" err="1"/>
              <a:t>TempDB</a:t>
            </a:r>
            <a:endParaRPr lang="en-US" b="1" dirty="0"/>
          </a:p>
          <a:p>
            <a:pPr marL="0" indent="0">
              <a:buNone/>
            </a:pPr>
            <a:endParaRPr lang="pt-BR" dirty="0"/>
          </a:p>
        </p:txBody>
      </p:sp>
      <p:sp>
        <p:nvSpPr>
          <p:cNvPr id="9" name="Slide Number Placeholder 5"/>
          <p:cNvSpPr>
            <a:spLocks noGrp="1"/>
          </p:cNvSpPr>
          <p:nvPr>
            <p:ph type="sldNum" sz="quarter" idx="4"/>
          </p:nvPr>
        </p:nvSpPr>
        <p:spPr>
          <a:prstGeom prst="rect">
            <a:avLst/>
          </a:prstGeom>
        </p:spPr>
        <p:txBody>
          <a:bodyPr vert="horz" lIns="91440" tIns="45720" rIns="91440" bIns="45720" rtlCol="0" anchor="ctr"/>
          <a:lstStyle>
            <a:lvl1pPr algn="r">
              <a:defRPr sz="1100">
                <a:solidFill>
                  <a:srgbClr val="FFFFFF"/>
                </a:solidFill>
              </a:defRPr>
            </a:lvl1pPr>
          </a:lstStyle>
          <a:p>
            <a:fld id="{87FD5303-69AD-2E4D-B18B-E5EED0F0A60B}" type="slidenum">
              <a:rPr lang="en-US" smtClean="0"/>
              <a:pPr/>
              <a:t>18</a:t>
            </a:fld>
            <a:r>
              <a:rPr lang="en-US" dirty="0" smtClean="0"/>
              <a:t>  |  </a:t>
            </a:r>
            <a:endParaRPr lang="en-US" dirty="0"/>
          </a:p>
        </p:txBody>
      </p:sp>
    </p:spTree>
    <p:extLst>
      <p:ext uri="{BB962C8B-B14F-4D97-AF65-F5344CB8AC3E}">
        <p14:creationId xmlns:p14="http://schemas.microsoft.com/office/powerpoint/2010/main" val="27147355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fade">
                                      <p:cBhvr>
                                        <p:cTn id="7" dur="500"/>
                                        <p:tgtEl>
                                          <p:spTgt spid="5">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animEffect transition="in" filter="fade">
                                      <p:cBhvr>
                                        <p:cTn id="12" dur="500"/>
                                        <p:tgtEl>
                                          <p:spTgt spid="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Memory-Optimized Table Theory</a:t>
            </a:r>
          </a:p>
        </p:txBody>
      </p:sp>
      <p:sp>
        <p:nvSpPr>
          <p:cNvPr id="9" name="Slide Number Placeholder 5"/>
          <p:cNvSpPr>
            <a:spLocks noGrp="1"/>
          </p:cNvSpPr>
          <p:nvPr>
            <p:ph type="sldNum" sz="quarter" idx="4"/>
          </p:nvPr>
        </p:nvSpPr>
        <p:spPr>
          <a:prstGeom prst="rect">
            <a:avLst/>
          </a:prstGeom>
        </p:spPr>
        <p:txBody>
          <a:bodyPr vert="horz" lIns="91440" tIns="45720" rIns="91440" bIns="45720" rtlCol="0" anchor="ctr"/>
          <a:lstStyle>
            <a:lvl1pPr algn="r">
              <a:defRPr sz="1100">
                <a:solidFill>
                  <a:srgbClr val="FFFFFF"/>
                </a:solidFill>
              </a:defRPr>
            </a:lvl1pPr>
          </a:lstStyle>
          <a:p>
            <a:fld id="{87FD5303-69AD-2E4D-B18B-E5EED0F0A60B}" type="slidenum">
              <a:rPr lang="en-US" smtClean="0"/>
              <a:pPr/>
              <a:t>19</a:t>
            </a:fld>
            <a:r>
              <a:rPr lang="en-US" dirty="0" smtClean="0"/>
              <a:t>  |  </a:t>
            </a:r>
            <a:endParaRPr lang="en-US" dirty="0"/>
          </a:p>
        </p:txBody>
      </p:sp>
      <p:pic>
        <p:nvPicPr>
          <p:cNvPr id="6" name="Picture 2" descr="http://quicklol.com/wp-content/uploads/2013/01/cat-asking-are-you-awake.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90750" y="1810517"/>
            <a:ext cx="4762500" cy="35718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29707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Creating Memory-Optimized Tables</a:t>
            </a:r>
          </a:p>
        </p:txBody>
      </p:sp>
      <p:sp>
        <p:nvSpPr>
          <p:cNvPr id="9" name="Slide Number Placeholder 5"/>
          <p:cNvSpPr>
            <a:spLocks noGrp="1"/>
          </p:cNvSpPr>
          <p:nvPr>
            <p:ph type="sldNum" sz="quarter" idx="4"/>
          </p:nvPr>
        </p:nvSpPr>
        <p:spPr>
          <a:prstGeom prst="rect">
            <a:avLst/>
          </a:prstGeom>
        </p:spPr>
        <p:txBody>
          <a:bodyPr vert="horz" lIns="91440" tIns="45720" rIns="91440" bIns="45720" rtlCol="0" anchor="ctr"/>
          <a:lstStyle>
            <a:lvl1pPr algn="r">
              <a:defRPr sz="1100">
                <a:solidFill>
                  <a:srgbClr val="FFFFFF"/>
                </a:solidFill>
              </a:defRPr>
            </a:lvl1pPr>
          </a:lstStyle>
          <a:p>
            <a:fld id="{87FD5303-69AD-2E4D-B18B-E5EED0F0A60B}" type="slidenum">
              <a:rPr lang="en-US" smtClean="0"/>
              <a:pPr/>
              <a:t>20</a:t>
            </a:fld>
            <a:r>
              <a:rPr lang="en-US" dirty="0" smtClean="0"/>
              <a:t>  |  </a:t>
            </a:r>
            <a:endParaRPr lang="en-US" dirty="0"/>
          </a:p>
        </p:txBody>
      </p:sp>
      <p:sp>
        <p:nvSpPr>
          <p:cNvPr id="5" name="Rectangle 4"/>
          <p:cNvSpPr/>
          <p:nvPr/>
        </p:nvSpPr>
        <p:spPr>
          <a:xfrm>
            <a:off x="2429426" y="2774057"/>
            <a:ext cx="4285148" cy="1323439"/>
          </a:xfrm>
          <a:prstGeom prst="rect">
            <a:avLst/>
          </a:prstGeom>
        </p:spPr>
        <p:txBody>
          <a:bodyPr wrap="none">
            <a:spAutoFit/>
          </a:bodyPr>
          <a:lstStyle/>
          <a:p>
            <a:pPr algn="ctr"/>
            <a:r>
              <a:rPr lang="en-US" sz="8000" b="1" dirty="0" smtClean="0">
                <a:solidFill>
                  <a:schemeClr val="tx1">
                    <a:lumMod val="50000"/>
                    <a:lumOff val="50000"/>
                  </a:schemeClr>
                </a:solidFill>
              </a:rPr>
              <a:t>[ DEMO ] </a:t>
            </a:r>
            <a:endParaRPr lang="en-US" sz="8000" b="1" dirty="0">
              <a:solidFill>
                <a:schemeClr val="tx1">
                  <a:lumMod val="50000"/>
                  <a:lumOff val="50000"/>
                </a:schemeClr>
              </a:solidFill>
            </a:endParaRPr>
          </a:p>
        </p:txBody>
      </p:sp>
    </p:spTree>
    <p:extLst>
      <p:ext uri="{BB962C8B-B14F-4D97-AF65-F5344CB8AC3E}">
        <p14:creationId xmlns:p14="http://schemas.microsoft.com/office/powerpoint/2010/main" val="1305562706"/>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Hash Indexes</a:t>
            </a:r>
            <a:endParaRPr lang="en-US" dirty="0"/>
          </a:p>
        </p:txBody>
      </p:sp>
      <p:sp>
        <p:nvSpPr>
          <p:cNvPr id="5" name="Content Placeholder 4"/>
          <p:cNvSpPr>
            <a:spLocks noGrp="1"/>
          </p:cNvSpPr>
          <p:nvPr>
            <p:ph sz="half" idx="1"/>
          </p:nvPr>
        </p:nvSpPr>
        <p:spPr>
          <a:xfrm>
            <a:off x="457200" y="1417638"/>
            <a:ext cx="8515884" cy="4525963"/>
          </a:xfrm>
        </p:spPr>
        <p:txBody>
          <a:bodyPr>
            <a:normAutofit/>
          </a:bodyPr>
          <a:lstStyle/>
          <a:p>
            <a:pPr marL="457200" indent="-457200">
              <a:buFont typeface="Wingdings" panose="05000000000000000000" pitchFamily="2" charset="2"/>
              <a:buChar char="§"/>
            </a:pPr>
            <a:r>
              <a:rPr lang="nl-NL" dirty="0" err="1" smtClean="0"/>
              <a:t>Indexes</a:t>
            </a:r>
            <a:r>
              <a:rPr lang="nl-NL" dirty="0" smtClean="0"/>
              <a:t> on Memory-</a:t>
            </a:r>
            <a:r>
              <a:rPr lang="nl-NL" dirty="0" err="1" smtClean="0"/>
              <a:t>Optimized</a:t>
            </a:r>
            <a:r>
              <a:rPr lang="nl-NL" dirty="0" smtClean="0"/>
              <a:t> </a:t>
            </a:r>
            <a:r>
              <a:rPr lang="nl-NL" dirty="0" err="1" smtClean="0"/>
              <a:t>tables</a:t>
            </a:r>
            <a:r>
              <a:rPr lang="nl-NL" dirty="0" smtClean="0"/>
              <a:t> </a:t>
            </a:r>
            <a:r>
              <a:rPr lang="nl-NL" dirty="0" err="1" smtClean="0"/>
              <a:t>need</a:t>
            </a:r>
            <a:r>
              <a:rPr lang="nl-NL" dirty="0" smtClean="0"/>
              <a:t> </a:t>
            </a:r>
            <a:r>
              <a:rPr lang="nl-NL" dirty="0" err="1" smtClean="0"/>
              <a:t>to</a:t>
            </a:r>
            <a:r>
              <a:rPr lang="nl-NL" dirty="0" smtClean="0"/>
              <a:t> </a:t>
            </a:r>
            <a:r>
              <a:rPr lang="nl-NL" dirty="0" err="1" smtClean="0"/>
              <a:t>be</a:t>
            </a:r>
            <a:r>
              <a:rPr lang="nl-NL" dirty="0" smtClean="0"/>
              <a:t> </a:t>
            </a:r>
            <a:r>
              <a:rPr lang="nl-NL" dirty="0" err="1" smtClean="0"/>
              <a:t>created</a:t>
            </a:r>
            <a:r>
              <a:rPr lang="nl-NL" dirty="0" smtClean="0"/>
              <a:t> in the </a:t>
            </a:r>
            <a:r>
              <a:rPr lang="nl-NL" b="1" dirty="0" smtClean="0"/>
              <a:t>CREATE TABLE </a:t>
            </a:r>
            <a:r>
              <a:rPr lang="nl-NL" dirty="0" smtClean="0"/>
              <a:t>statement</a:t>
            </a:r>
          </a:p>
          <a:p>
            <a:pPr marL="457200" indent="-457200">
              <a:buFont typeface="Wingdings" panose="05000000000000000000" pitchFamily="2" charset="2"/>
              <a:buChar char="§"/>
            </a:pPr>
            <a:r>
              <a:rPr lang="nl-NL" dirty="0" err="1" smtClean="0"/>
              <a:t>Indexes</a:t>
            </a:r>
            <a:r>
              <a:rPr lang="nl-NL" dirty="0" smtClean="0"/>
              <a:t> are </a:t>
            </a:r>
            <a:r>
              <a:rPr lang="nl-NL" dirty="0" err="1" smtClean="0"/>
              <a:t>not</a:t>
            </a:r>
            <a:r>
              <a:rPr lang="nl-NL" dirty="0" smtClean="0"/>
              <a:t> </a:t>
            </a:r>
            <a:r>
              <a:rPr lang="en-US" dirty="0" smtClean="0"/>
              <a:t>persisted</a:t>
            </a:r>
            <a:r>
              <a:rPr lang="nl-NL" dirty="0" smtClean="0"/>
              <a:t> on disk</a:t>
            </a:r>
          </a:p>
          <a:p>
            <a:pPr marL="457200" indent="-457200">
              <a:buFont typeface="Wingdings" panose="05000000000000000000" pitchFamily="2" charset="2"/>
              <a:buChar char="§"/>
            </a:pPr>
            <a:r>
              <a:rPr lang="nl-NL" dirty="0" err="1" smtClean="0"/>
              <a:t>Fragmentation</a:t>
            </a:r>
            <a:r>
              <a:rPr lang="nl-NL" dirty="0" smtClean="0"/>
              <a:t> does </a:t>
            </a:r>
            <a:r>
              <a:rPr lang="nl-NL" dirty="0" err="1" smtClean="0"/>
              <a:t>not</a:t>
            </a:r>
            <a:r>
              <a:rPr lang="nl-NL" dirty="0" smtClean="0"/>
              <a:t> matter </a:t>
            </a:r>
            <a:r>
              <a:rPr lang="nl-NL" dirty="0" err="1" smtClean="0"/>
              <a:t>for</a:t>
            </a:r>
            <a:r>
              <a:rPr lang="nl-NL" dirty="0" smtClean="0"/>
              <a:t> Memory-</a:t>
            </a:r>
            <a:r>
              <a:rPr lang="nl-NL" dirty="0" err="1" smtClean="0"/>
              <a:t>Optimized</a:t>
            </a:r>
            <a:r>
              <a:rPr lang="nl-NL" dirty="0" smtClean="0"/>
              <a:t> </a:t>
            </a:r>
            <a:r>
              <a:rPr lang="nl-NL" dirty="0" err="1" smtClean="0"/>
              <a:t>indexes</a:t>
            </a:r>
            <a:endParaRPr lang="nl-NL" dirty="0" smtClean="0"/>
          </a:p>
          <a:p>
            <a:pPr marL="457200" indent="-457200">
              <a:buFont typeface="Wingdings" panose="05000000000000000000" pitchFamily="2" charset="2"/>
              <a:buChar char="§"/>
            </a:pPr>
            <a:r>
              <a:rPr lang="nl-NL" dirty="0" smtClean="0"/>
              <a:t>Memory-</a:t>
            </a:r>
            <a:r>
              <a:rPr lang="nl-NL" dirty="0" err="1" smtClean="0"/>
              <a:t>Optimized</a:t>
            </a:r>
            <a:r>
              <a:rPr lang="nl-NL" dirty="0" smtClean="0"/>
              <a:t> index types:</a:t>
            </a:r>
            <a:endParaRPr lang="en-US" dirty="0"/>
          </a:p>
          <a:p>
            <a:pPr marL="0" indent="0">
              <a:buNone/>
            </a:pPr>
            <a:endParaRPr lang="pt-BR" dirty="0"/>
          </a:p>
        </p:txBody>
      </p:sp>
      <p:sp>
        <p:nvSpPr>
          <p:cNvPr id="9" name="Slide Number Placeholder 5"/>
          <p:cNvSpPr>
            <a:spLocks noGrp="1"/>
          </p:cNvSpPr>
          <p:nvPr>
            <p:ph type="sldNum" sz="quarter" idx="4"/>
          </p:nvPr>
        </p:nvSpPr>
        <p:spPr>
          <a:prstGeom prst="rect">
            <a:avLst/>
          </a:prstGeom>
        </p:spPr>
        <p:txBody>
          <a:bodyPr vert="horz" lIns="91440" tIns="45720" rIns="91440" bIns="45720" rtlCol="0" anchor="ctr"/>
          <a:lstStyle>
            <a:lvl1pPr algn="r">
              <a:defRPr sz="1100">
                <a:solidFill>
                  <a:srgbClr val="FFFFFF"/>
                </a:solidFill>
              </a:defRPr>
            </a:lvl1pPr>
          </a:lstStyle>
          <a:p>
            <a:fld id="{87FD5303-69AD-2E4D-B18B-E5EED0F0A60B}" type="slidenum">
              <a:rPr lang="en-US" smtClean="0"/>
              <a:pPr/>
              <a:t>21</a:t>
            </a:fld>
            <a:r>
              <a:rPr lang="en-US" dirty="0" smtClean="0"/>
              <a:t>  |  </a:t>
            </a:r>
            <a:endParaRPr lang="en-US" dirty="0"/>
          </a:p>
        </p:txBody>
      </p:sp>
      <p:sp>
        <p:nvSpPr>
          <p:cNvPr id="6" name="TextBox 5"/>
          <p:cNvSpPr txBox="1"/>
          <p:nvPr/>
        </p:nvSpPr>
        <p:spPr>
          <a:xfrm>
            <a:off x="981747" y="4313265"/>
            <a:ext cx="7833360" cy="830997"/>
          </a:xfrm>
          <a:prstGeom prst="rect">
            <a:avLst/>
          </a:prstGeom>
          <a:noFill/>
        </p:spPr>
        <p:txBody>
          <a:bodyPr wrap="square" rtlCol="0">
            <a:spAutoFit/>
          </a:bodyPr>
          <a:lstStyle/>
          <a:p>
            <a:pPr marL="285750" indent="-285750">
              <a:buFont typeface="Courier New" panose="02070309020205020404" pitchFamily="49" charset="0"/>
              <a:buChar char="o"/>
            </a:pPr>
            <a:r>
              <a:rPr lang="nl-NL" sz="2400" b="1" dirty="0" smtClean="0">
                <a:solidFill>
                  <a:schemeClr val="tx1">
                    <a:lumMod val="75000"/>
                    <a:lumOff val="25000"/>
                  </a:schemeClr>
                </a:solidFill>
              </a:rPr>
              <a:t>Non-</a:t>
            </a:r>
            <a:r>
              <a:rPr lang="nl-NL" sz="2400" b="1" dirty="0" err="1" smtClean="0">
                <a:solidFill>
                  <a:schemeClr val="tx1">
                    <a:lumMod val="75000"/>
                    <a:lumOff val="25000"/>
                  </a:schemeClr>
                </a:solidFill>
              </a:rPr>
              <a:t>Clustered</a:t>
            </a:r>
            <a:endParaRPr lang="nl-NL" sz="2400" dirty="0" smtClean="0">
              <a:solidFill>
                <a:schemeClr val="tx1">
                  <a:lumMod val="75000"/>
                  <a:lumOff val="25000"/>
                </a:schemeClr>
              </a:solidFill>
            </a:endParaRPr>
          </a:p>
          <a:p>
            <a:pPr marL="285750" indent="-285750">
              <a:buFont typeface="Courier New" panose="02070309020205020404" pitchFamily="49" charset="0"/>
              <a:buChar char="o"/>
            </a:pPr>
            <a:r>
              <a:rPr lang="nl-NL" sz="2400" b="1" dirty="0" smtClean="0">
                <a:solidFill>
                  <a:schemeClr val="tx1">
                    <a:lumMod val="75000"/>
                    <a:lumOff val="25000"/>
                  </a:schemeClr>
                </a:solidFill>
              </a:rPr>
              <a:t>Non-</a:t>
            </a:r>
            <a:r>
              <a:rPr lang="nl-NL" sz="2400" b="1" dirty="0" err="1" smtClean="0">
                <a:solidFill>
                  <a:schemeClr val="tx1">
                    <a:lumMod val="75000"/>
                    <a:lumOff val="25000"/>
                  </a:schemeClr>
                </a:solidFill>
              </a:rPr>
              <a:t>Clustered</a:t>
            </a:r>
            <a:r>
              <a:rPr lang="nl-NL" sz="2400" b="1" dirty="0" smtClean="0">
                <a:solidFill>
                  <a:schemeClr val="tx1">
                    <a:lumMod val="75000"/>
                    <a:lumOff val="25000"/>
                  </a:schemeClr>
                </a:solidFill>
              </a:rPr>
              <a:t> </a:t>
            </a:r>
            <a:r>
              <a:rPr lang="nl-NL" sz="2400" b="1" dirty="0" err="1" smtClean="0">
                <a:solidFill>
                  <a:schemeClr val="tx1">
                    <a:lumMod val="75000"/>
                    <a:lumOff val="25000"/>
                  </a:schemeClr>
                </a:solidFill>
              </a:rPr>
              <a:t>Hash</a:t>
            </a:r>
            <a:endParaRPr lang="en-US" sz="2400" b="1" dirty="0">
              <a:solidFill>
                <a:schemeClr val="tx1">
                  <a:lumMod val="75000"/>
                  <a:lumOff val="25000"/>
                </a:schemeClr>
              </a:solidFill>
            </a:endParaRPr>
          </a:p>
        </p:txBody>
      </p:sp>
    </p:spTree>
    <p:extLst>
      <p:ext uri="{BB962C8B-B14F-4D97-AF65-F5344CB8AC3E}">
        <p14:creationId xmlns:p14="http://schemas.microsoft.com/office/powerpoint/2010/main" val="1069316731"/>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Hash Indexes</a:t>
            </a:r>
            <a:endParaRPr lang="en-US" dirty="0"/>
          </a:p>
        </p:txBody>
      </p:sp>
      <p:sp>
        <p:nvSpPr>
          <p:cNvPr id="5" name="Content Placeholder 4"/>
          <p:cNvSpPr>
            <a:spLocks noGrp="1"/>
          </p:cNvSpPr>
          <p:nvPr>
            <p:ph sz="half" idx="1"/>
          </p:nvPr>
        </p:nvSpPr>
        <p:spPr>
          <a:xfrm>
            <a:off x="457200" y="1417638"/>
            <a:ext cx="8515884" cy="4525963"/>
          </a:xfrm>
        </p:spPr>
        <p:txBody>
          <a:bodyPr>
            <a:normAutofit/>
          </a:bodyPr>
          <a:lstStyle/>
          <a:p>
            <a:pPr marL="457200" indent="-457200">
              <a:buFont typeface="Wingdings" panose="05000000000000000000" pitchFamily="2" charset="2"/>
              <a:buChar char="§"/>
            </a:pPr>
            <a:r>
              <a:rPr lang="nl-NL" b="1" dirty="0" err="1" smtClean="0"/>
              <a:t>Hash</a:t>
            </a:r>
            <a:r>
              <a:rPr lang="nl-NL" b="1" dirty="0" smtClean="0"/>
              <a:t> </a:t>
            </a:r>
            <a:r>
              <a:rPr lang="nl-NL" b="1" dirty="0" err="1" smtClean="0"/>
              <a:t>indexes</a:t>
            </a:r>
            <a:r>
              <a:rPr lang="nl-NL" b="1" dirty="0" smtClean="0"/>
              <a:t> </a:t>
            </a:r>
            <a:r>
              <a:rPr lang="nl-NL" dirty="0" smtClean="0"/>
              <a:t>do no </a:t>
            </a:r>
            <a:r>
              <a:rPr lang="nl-NL" dirty="0" err="1" smtClean="0"/>
              <a:t>use</a:t>
            </a:r>
            <a:r>
              <a:rPr lang="nl-NL" dirty="0" smtClean="0"/>
              <a:t> pages </a:t>
            </a:r>
            <a:r>
              <a:rPr lang="nl-NL" dirty="0" err="1" smtClean="0"/>
              <a:t>to</a:t>
            </a:r>
            <a:r>
              <a:rPr lang="nl-NL" dirty="0" smtClean="0"/>
              <a:t> save </a:t>
            </a:r>
            <a:r>
              <a:rPr lang="nl-NL" dirty="0" err="1" smtClean="0"/>
              <a:t>their</a:t>
            </a:r>
            <a:r>
              <a:rPr lang="nl-NL" dirty="0" smtClean="0"/>
              <a:t> data</a:t>
            </a:r>
          </a:p>
          <a:p>
            <a:pPr marL="457200" indent="-457200">
              <a:buFont typeface="Wingdings" panose="05000000000000000000" pitchFamily="2" charset="2"/>
              <a:buChar char="§"/>
            </a:pPr>
            <a:r>
              <a:rPr lang="nl-NL" dirty="0" err="1" smtClean="0"/>
              <a:t>Rows</a:t>
            </a:r>
            <a:r>
              <a:rPr lang="nl-NL" dirty="0" smtClean="0"/>
              <a:t> are </a:t>
            </a:r>
            <a:r>
              <a:rPr lang="nl-NL" dirty="0" err="1" smtClean="0"/>
              <a:t>stored</a:t>
            </a:r>
            <a:r>
              <a:rPr lang="nl-NL" dirty="0" smtClean="0"/>
              <a:t> in </a:t>
            </a:r>
            <a:r>
              <a:rPr lang="nl-NL" b="1" dirty="0" smtClean="0"/>
              <a:t>buckets</a:t>
            </a:r>
          </a:p>
          <a:p>
            <a:pPr marL="457200" indent="-457200">
              <a:buFont typeface="Wingdings" panose="05000000000000000000" pitchFamily="2" charset="2"/>
              <a:buChar char="§"/>
            </a:pPr>
            <a:r>
              <a:rPr lang="nl-NL" dirty="0" smtClean="0"/>
              <a:t>The </a:t>
            </a:r>
            <a:r>
              <a:rPr lang="nl-NL" b="1" dirty="0" smtClean="0"/>
              <a:t>bucket </a:t>
            </a:r>
            <a:r>
              <a:rPr lang="nl-NL" b="1" dirty="0" err="1" smtClean="0"/>
              <a:t>amount</a:t>
            </a:r>
            <a:r>
              <a:rPr lang="nl-NL" b="1" dirty="0" smtClean="0"/>
              <a:t> </a:t>
            </a:r>
            <a:r>
              <a:rPr lang="nl-NL" dirty="0" err="1" smtClean="0"/>
              <a:t>needs</a:t>
            </a:r>
            <a:r>
              <a:rPr lang="nl-NL" dirty="0" smtClean="0"/>
              <a:t> </a:t>
            </a:r>
            <a:r>
              <a:rPr lang="nl-NL" dirty="0" err="1" smtClean="0"/>
              <a:t>to</a:t>
            </a:r>
            <a:r>
              <a:rPr lang="nl-NL" dirty="0" smtClean="0"/>
              <a:t> </a:t>
            </a:r>
            <a:r>
              <a:rPr lang="nl-NL" dirty="0" err="1" smtClean="0"/>
              <a:t>be</a:t>
            </a:r>
            <a:r>
              <a:rPr lang="nl-NL" dirty="0" smtClean="0"/>
              <a:t> </a:t>
            </a:r>
            <a:r>
              <a:rPr lang="nl-NL" dirty="0" err="1" smtClean="0"/>
              <a:t>specified</a:t>
            </a:r>
            <a:r>
              <a:rPr lang="nl-NL" dirty="0" smtClean="0"/>
              <a:t> </a:t>
            </a:r>
            <a:r>
              <a:rPr lang="nl-NL" dirty="0" err="1" smtClean="0"/>
              <a:t>when</a:t>
            </a:r>
            <a:r>
              <a:rPr lang="nl-NL" dirty="0" smtClean="0"/>
              <a:t> </a:t>
            </a:r>
            <a:r>
              <a:rPr lang="nl-NL" dirty="0" err="1" smtClean="0"/>
              <a:t>creating</a:t>
            </a:r>
            <a:r>
              <a:rPr lang="nl-NL" dirty="0" smtClean="0"/>
              <a:t> the </a:t>
            </a:r>
            <a:r>
              <a:rPr lang="nl-NL" dirty="0" err="1" smtClean="0"/>
              <a:t>table</a:t>
            </a:r>
            <a:endParaRPr lang="nl-NL" dirty="0" smtClean="0"/>
          </a:p>
          <a:p>
            <a:pPr marL="457200" indent="-457200">
              <a:buFont typeface="Wingdings" panose="05000000000000000000" pitchFamily="2" charset="2"/>
              <a:buChar char="§"/>
            </a:pPr>
            <a:r>
              <a:rPr lang="nl-NL" dirty="0" smtClean="0"/>
              <a:t>General </a:t>
            </a:r>
            <a:r>
              <a:rPr lang="nl-NL" dirty="0" err="1" smtClean="0"/>
              <a:t>guideline</a:t>
            </a:r>
            <a:r>
              <a:rPr lang="nl-NL" dirty="0" smtClean="0"/>
              <a:t> </a:t>
            </a:r>
            <a:r>
              <a:rPr lang="nl-NL" dirty="0" err="1" smtClean="0"/>
              <a:t>for</a:t>
            </a:r>
            <a:r>
              <a:rPr lang="nl-NL" dirty="0" smtClean="0"/>
              <a:t> bucket </a:t>
            </a:r>
            <a:r>
              <a:rPr lang="nl-NL" dirty="0" err="1" smtClean="0"/>
              <a:t>amount</a:t>
            </a:r>
            <a:r>
              <a:rPr lang="nl-NL" dirty="0" smtClean="0"/>
              <a:t>: 1-2 </a:t>
            </a:r>
            <a:r>
              <a:rPr lang="nl-NL" dirty="0" err="1" smtClean="0"/>
              <a:t>times</a:t>
            </a:r>
            <a:r>
              <a:rPr lang="nl-NL" dirty="0" smtClean="0"/>
              <a:t> </a:t>
            </a:r>
            <a:r>
              <a:rPr lang="nl-NL" dirty="0" err="1" smtClean="0"/>
              <a:t>number</a:t>
            </a:r>
            <a:r>
              <a:rPr lang="nl-NL" dirty="0" smtClean="0"/>
              <a:t> of </a:t>
            </a:r>
            <a:r>
              <a:rPr lang="nl-NL" dirty="0" err="1" smtClean="0"/>
              <a:t>distinct</a:t>
            </a:r>
            <a:r>
              <a:rPr lang="nl-NL" dirty="0" smtClean="0"/>
              <a:t> </a:t>
            </a:r>
            <a:r>
              <a:rPr lang="nl-NL" dirty="0" err="1" smtClean="0"/>
              <a:t>values</a:t>
            </a:r>
            <a:r>
              <a:rPr lang="nl-NL" dirty="0" smtClean="0"/>
              <a:t> </a:t>
            </a:r>
            <a:r>
              <a:rPr lang="nl-NL" dirty="0" err="1" smtClean="0"/>
              <a:t>for</a:t>
            </a:r>
            <a:r>
              <a:rPr lang="nl-NL" dirty="0" smtClean="0"/>
              <a:t> index </a:t>
            </a:r>
            <a:r>
              <a:rPr lang="nl-NL" dirty="0" err="1" smtClean="0"/>
              <a:t>key</a:t>
            </a:r>
            <a:endParaRPr lang="en-US" dirty="0"/>
          </a:p>
          <a:p>
            <a:pPr marL="0" indent="0">
              <a:buNone/>
            </a:pPr>
            <a:endParaRPr lang="pt-BR" dirty="0"/>
          </a:p>
        </p:txBody>
      </p:sp>
      <p:sp>
        <p:nvSpPr>
          <p:cNvPr id="9" name="Slide Number Placeholder 5"/>
          <p:cNvSpPr>
            <a:spLocks noGrp="1"/>
          </p:cNvSpPr>
          <p:nvPr>
            <p:ph type="sldNum" sz="quarter" idx="4"/>
          </p:nvPr>
        </p:nvSpPr>
        <p:spPr>
          <a:prstGeom prst="rect">
            <a:avLst/>
          </a:prstGeom>
        </p:spPr>
        <p:txBody>
          <a:bodyPr vert="horz" lIns="91440" tIns="45720" rIns="91440" bIns="45720" rtlCol="0" anchor="ctr"/>
          <a:lstStyle>
            <a:lvl1pPr algn="r">
              <a:defRPr sz="1100">
                <a:solidFill>
                  <a:srgbClr val="FFFFFF"/>
                </a:solidFill>
              </a:defRPr>
            </a:lvl1pPr>
          </a:lstStyle>
          <a:p>
            <a:fld id="{87FD5303-69AD-2E4D-B18B-E5EED0F0A60B}" type="slidenum">
              <a:rPr lang="en-US" smtClean="0"/>
              <a:pPr/>
              <a:t>22</a:t>
            </a:fld>
            <a:r>
              <a:rPr lang="en-US" dirty="0" smtClean="0"/>
              <a:t>  |  </a:t>
            </a:r>
            <a:endParaRPr lang="en-US" dirty="0"/>
          </a:p>
        </p:txBody>
      </p:sp>
    </p:spTree>
    <p:extLst>
      <p:ext uri="{BB962C8B-B14F-4D97-AF65-F5344CB8AC3E}">
        <p14:creationId xmlns:p14="http://schemas.microsoft.com/office/powerpoint/2010/main" val="1068212891"/>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Hash Indexes</a:t>
            </a:r>
            <a:endParaRPr lang="en-US" dirty="0"/>
          </a:p>
        </p:txBody>
      </p:sp>
      <p:sp>
        <p:nvSpPr>
          <p:cNvPr id="5" name="Content Placeholder 4"/>
          <p:cNvSpPr>
            <a:spLocks noGrp="1"/>
          </p:cNvSpPr>
          <p:nvPr>
            <p:ph sz="half" idx="1"/>
          </p:nvPr>
        </p:nvSpPr>
        <p:spPr>
          <a:xfrm>
            <a:off x="457200" y="1417638"/>
            <a:ext cx="8515884" cy="4525963"/>
          </a:xfrm>
        </p:spPr>
        <p:txBody>
          <a:bodyPr>
            <a:normAutofit/>
          </a:bodyPr>
          <a:lstStyle/>
          <a:p>
            <a:pPr marL="0" indent="0">
              <a:buNone/>
            </a:pPr>
            <a:r>
              <a:rPr lang="en-US" b="1" dirty="0" smtClean="0"/>
              <a:t>So how do they work?</a:t>
            </a:r>
            <a:endParaRPr lang="en-US" b="1" dirty="0"/>
          </a:p>
          <a:p>
            <a:pPr marL="457200" indent="-457200">
              <a:buFont typeface="Wingdings" panose="05000000000000000000" pitchFamily="2" charset="2"/>
              <a:buChar char="§"/>
            </a:pPr>
            <a:r>
              <a:rPr lang="nl-NL" sz="2400" dirty="0" err="1" smtClean="0"/>
              <a:t>Hash</a:t>
            </a:r>
            <a:r>
              <a:rPr lang="nl-NL" sz="2400" dirty="0" smtClean="0"/>
              <a:t> </a:t>
            </a:r>
            <a:r>
              <a:rPr lang="nl-NL" sz="2400" dirty="0" err="1" smtClean="0"/>
              <a:t>Indexes</a:t>
            </a:r>
            <a:r>
              <a:rPr lang="nl-NL" sz="2400" dirty="0" smtClean="0"/>
              <a:t> </a:t>
            </a:r>
            <a:r>
              <a:rPr lang="nl-NL" sz="2400" dirty="0" err="1" smtClean="0"/>
              <a:t>use</a:t>
            </a:r>
            <a:r>
              <a:rPr lang="nl-NL" sz="2400" dirty="0" smtClean="0"/>
              <a:t> a </a:t>
            </a:r>
            <a:r>
              <a:rPr lang="nl-NL" sz="2400" dirty="0" err="1" smtClean="0"/>
              <a:t>hash</a:t>
            </a:r>
            <a:r>
              <a:rPr lang="nl-NL" sz="2400" dirty="0" smtClean="0"/>
              <a:t> </a:t>
            </a:r>
            <a:r>
              <a:rPr lang="nl-NL" sz="2400" dirty="0" err="1" smtClean="0"/>
              <a:t>function</a:t>
            </a:r>
            <a:r>
              <a:rPr lang="nl-NL" sz="2400" dirty="0" smtClean="0"/>
              <a:t> </a:t>
            </a:r>
            <a:r>
              <a:rPr lang="nl-NL" sz="2400" dirty="0" err="1" smtClean="0"/>
              <a:t>to</a:t>
            </a:r>
            <a:r>
              <a:rPr lang="nl-NL" sz="2400" dirty="0" smtClean="0"/>
              <a:t> </a:t>
            </a:r>
            <a:r>
              <a:rPr lang="nl-NL" sz="2400" dirty="0" err="1" smtClean="0"/>
              <a:t>place</a:t>
            </a:r>
            <a:r>
              <a:rPr lang="nl-NL" sz="2400" dirty="0" smtClean="0"/>
              <a:t> a </a:t>
            </a:r>
            <a:r>
              <a:rPr lang="nl-NL" sz="2400" dirty="0" err="1" smtClean="0"/>
              <a:t>row</a:t>
            </a:r>
            <a:r>
              <a:rPr lang="nl-NL" sz="2400" dirty="0" smtClean="0"/>
              <a:t> </a:t>
            </a:r>
            <a:r>
              <a:rPr lang="nl-NL" sz="2400" dirty="0" err="1" smtClean="0"/>
              <a:t>inside</a:t>
            </a:r>
            <a:r>
              <a:rPr lang="nl-NL" sz="2400" dirty="0" smtClean="0"/>
              <a:t> a </a:t>
            </a:r>
            <a:r>
              <a:rPr lang="nl-NL" sz="2400" dirty="0" err="1" smtClean="0"/>
              <a:t>specific</a:t>
            </a:r>
            <a:r>
              <a:rPr lang="nl-NL" sz="2400" dirty="0" smtClean="0"/>
              <a:t> bucket</a:t>
            </a:r>
            <a:endParaRPr lang="en-US" sz="2400" dirty="0"/>
          </a:p>
          <a:p>
            <a:pPr marL="0" indent="0">
              <a:buNone/>
            </a:pPr>
            <a:endParaRPr lang="pt-BR" dirty="0"/>
          </a:p>
        </p:txBody>
      </p:sp>
      <p:sp>
        <p:nvSpPr>
          <p:cNvPr id="9" name="Slide Number Placeholder 5"/>
          <p:cNvSpPr>
            <a:spLocks noGrp="1"/>
          </p:cNvSpPr>
          <p:nvPr>
            <p:ph type="sldNum" sz="quarter" idx="4"/>
          </p:nvPr>
        </p:nvSpPr>
        <p:spPr>
          <a:prstGeom prst="rect">
            <a:avLst/>
          </a:prstGeom>
        </p:spPr>
        <p:txBody>
          <a:bodyPr vert="horz" lIns="91440" tIns="45720" rIns="91440" bIns="45720" rtlCol="0" anchor="ctr"/>
          <a:lstStyle>
            <a:lvl1pPr algn="r">
              <a:defRPr sz="1100">
                <a:solidFill>
                  <a:srgbClr val="FFFFFF"/>
                </a:solidFill>
              </a:defRPr>
            </a:lvl1pPr>
          </a:lstStyle>
          <a:p>
            <a:fld id="{87FD5303-69AD-2E4D-B18B-E5EED0F0A60B}" type="slidenum">
              <a:rPr lang="en-US" smtClean="0"/>
              <a:pPr/>
              <a:t>23</a:t>
            </a:fld>
            <a:r>
              <a:rPr lang="en-US" dirty="0" smtClean="0"/>
              <a:t>  |  </a:t>
            </a:r>
            <a:endParaRPr lang="en-US" dirty="0"/>
          </a:p>
        </p:txBody>
      </p:sp>
    </p:spTree>
    <p:extLst>
      <p:ext uri="{BB962C8B-B14F-4D97-AF65-F5344CB8AC3E}">
        <p14:creationId xmlns:p14="http://schemas.microsoft.com/office/powerpoint/2010/main" val="3534420611"/>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Hash Indexes</a:t>
            </a:r>
            <a:endParaRPr lang="en-US" dirty="0"/>
          </a:p>
        </p:txBody>
      </p:sp>
      <p:sp>
        <p:nvSpPr>
          <p:cNvPr id="9" name="Slide Number Placeholder 5"/>
          <p:cNvSpPr>
            <a:spLocks noGrp="1"/>
          </p:cNvSpPr>
          <p:nvPr>
            <p:ph type="sldNum" sz="quarter" idx="4"/>
          </p:nvPr>
        </p:nvSpPr>
        <p:spPr>
          <a:prstGeom prst="rect">
            <a:avLst/>
          </a:prstGeom>
        </p:spPr>
        <p:txBody>
          <a:bodyPr vert="horz" lIns="91440" tIns="45720" rIns="91440" bIns="45720" rtlCol="0" anchor="ctr"/>
          <a:lstStyle>
            <a:lvl1pPr algn="r">
              <a:defRPr sz="1100">
                <a:solidFill>
                  <a:srgbClr val="FFFFFF"/>
                </a:solidFill>
              </a:defRPr>
            </a:lvl1pPr>
          </a:lstStyle>
          <a:p>
            <a:fld id="{87FD5303-69AD-2E4D-B18B-E5EED0F0A60B}" type="slidenum">
              <a:rPr lang="en-US" smtClean="0"/>
              <a:pPr/>
              <a:t>24</a:t>
            </a:fld>
            <a:r>
              <a:rPr lang="en-US" dirty="0" smtClean="0"/>
              <a:t>  |  </a:t>
            </a:r>
            <a:endParaRPr lang="en-US" dirty="0"/>
          </a:p>
        </p:txBody>
      </p:sp>
      <p:pic>
        <p:nvPicPr>
          <p:cNvPr id="3" name="Picture 2"/>
          <p:cNvPicPr>
            <a:picLocks noChangeAspect="1"/>
          </p:cNvPicPr>
          <p:nvPr/>
        </p:nvPicPr>
        <p:blipFill>
          <a:blip r:embed="rId3"/>
          <a:stretch>
            <a:fillRect/>
          </a:stretch>
        </p:blipFill>
        <p:spPr>
          <a:xfrm>
            <a:off x="28575" y="1647825"/>
            <a:ext cx="9086850" cy="3562350"/>
          </a:xfrm>
          <a:prstGeom prst="rect">
            <a:avLst/>
          </a:prstGeom>
        </p:spPr>
      </p:pic>
      <p:cxnSp>
        <p:nvCxnSpPr>
          <p:cNvPr id="7" name="Straight Connector 6"/>
          <p:cNvCxnSpPr/>
          <p:nvPr/>
        </p:nvCxnSpPr>
        <p:spPr>
          <a:xfrm flipV="1">
            <a:off x="2670772" y="2806574"/>
            <a:ext cx="1348967" cy="936358"/>
          </a:xfrm>
          <a:prstGeom prst="line">
            <a:avLst/>
          </a:prstGeom>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164594" y="2632656"/>
            <a:ext cx="1059256" cy="338554"/>
          </a:xfrm>
          <a:prstGeom prst="rect">
            <a:avLst/>
          </a:prstGeom>
          <a:noFill/>
        </p:spPr>
        <p:txBody>
          <a:bodyPr wrap="square" rtlCol="0">
            <a:spAutoFit/>
          </a:bodyPr>
          <a:lstStyle/>
          <a:p>
            <a:r>
              <a:rPr lang="nl-NL" sz="1600" b="1" dirty="0" smtClean="0"/>
              <a:t>Peter = 5</a:t>
            </a:r>
            <a:endParaRPr lang="en-US" sz="1600" b="1" dirty="0"/>
          </a:p>
        </p:txBody>
      </p:sp>
      <p:cxnSp>
        <p:nvCxnSpPr>
          <p:cNvPr id="11" name="Straight Connector 10"/>
          <p:cNvCxnSpPr>
            <a:stCxn id="8" idx="3"/>
          </p:cNvCxnSpPr>
          <p:nvPr/>
        </p:nvCxnSpPr>
        <p:spPr>
          <a:xfrm>
            <a:off x="5223850" y="2801933"/>
            <a:ext cx="1294645" cy="1026531"/>
          </a:xfrm>
          <a:prstGeom prst="line">
            <a:avLst/>
          </a:prstGeom>
        </p:spPr>
        <p:style>
          <a:lnRef idx="2">
            <a:schemeClr val="accent1"/>
          </a:lnRef>
          <a:fillRef idx="0">
            <a:schemeClr val="accent1"/>
          </a:fillRef>
          <a:effectRef idx="1">
            <a:schemeClr val="accent1"/>
          </a:effectRef>
          <a:fontRef idx="minor">
            <a:schemeClr val="tx1"/>
          </a:fontRef>
        </p:style>
      </p:cxnSp>
      <p:cxnSp>
        <p:nvCxnSpPr>
          <p:cNvPr id="14" name="Straight Connector 13"/>
          <p:cNvCxnSpPr/>
          <p:nvPr/>
        </p:nvCxnSpPr>
        <p:spPr>
          <a:xfrm flipV="1">
            <a:off x="2743200" y="3429000"/>
            <a:ext cx="1276539" cy="83745"/>
          </a:xfrm>
          <a:prstGeom prst="line">
            <a:avLst/>
          </a:prstGeom>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4164594" y="3259723"/>
            <a:ext cx="1059256" cy="338554"/>
          </a:xfrm>
          <a:prstGeom prst="rect">
            <a:avLst/>
          </a:prstGeom>
          <a:noFill/>
        </p:spPr>
        <p:txBody>
          <a:bodyPr wrap="square" rtlCol="0">
            <a:spAutoFit/>
          </a:bodyPr>
          <a:lstStyle/>
          <a:p>
            <a:r>
              <a:rPr lang="nl-NL" sz="1600" b="1" dirty="0" err="1" smtClean="0"/>
              <a:t>Jim</a:t>
            </a:r>
            <a:r>
              <a:rPr lang="nl-NL" sz="1600" b="1" dirty="0" smtClean="0"/>
              <a:t> = 3</a:t>
            </a:r>
            <a:endParaRPr lang="en-US" sz="1600" b="1" dirty="0"/>
          </a:p>
        </p:txBody>
      </p:sp>
      <p:cxnSp>
        <p:nvCxnSpPr>
          <p:cNvPr id="18" name="Straight Connector 17"/>
          <p:cNvCxnSpPr/>
          <p:nvPr/>
        </p:nvCxnSpPr>
        <p:spPr>
          <a:xfrm flipV="1">
            <a:off x="5088048" y="3213980"/>
            <a:ext cx="1430447" cy="215020"/>
          </a:xfrm>
          <a:prstGeom prst="line">
            <a:avLst/>
          </a:prstGeom>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V="1">
            <a:off x="2670772" y="4246075"/>
            <a:ext cx="1276539" cy="126749"/>
          </a:xfrm>
          <a:prstGeom prst="line">
            <a:avLst/>
          </a:prstGeom>
          <a:ln>
            <a:solidFill>
              <a:srgbClr val="FF0000"/>
            </a:solidFill>
          </a:ln>
        </p:spPr>
        <p:style>
          <a:lnRef idx="3">
            <a:schemeClr val="accent6"/>
          </a:lnRef>
          <a:fillRef idx="0">
            <a:schemeClr val="accent6"/>
          </a:fillRef>
          <a:effectRef idx="2">
            <a:schemeClr val="accent6"/>
          </a:effectRef>
          <a:fontRef idx="minor">
            <a:schemeClr val="tx1"/>
          </a:fontRef>
        </p:style>
      </p:cxnSp>
      <p:sp>
        <p:nvSpPr>
          <p:cNvPr id="21" name="TextBox 20"/>
          <p:cNvSpPr txBox="1"/>
          <p:nvPr/>
        </p:nvSpPr>
        <p:spPr>
          <a:xfrm>
            <a:off x="4042372" y="4065672"/>
            <a:ext cx="1059256" cy="338554"/>
          </a:xfrm>
          <a:prstGeom prst="rect">
            <a:avLst/>
          </a:prstGeom>
          <a:noFill/>
        </p:spPr>
        <p:txBody>
          <a:bodyPr wrap="square" rtlCol="0">
            <a:spAutoFit/>
          </a:bodyPr>
          <a:lstStyle/>
          <a:p>
            <a:r>
              <a:rPr lang="nl-NL" sz="1600" b="1" dirty="0" smtClean="0"/>
              <a:t>Chris = </a:t>
            </a:r>
            <a:r>
              <a:rPr lang="nl-NL" sz="1600" b="1" dirty="0"/>
              <a:t>5</a:t>
            </a:r>
            <a:endParaRPr lang="en-US" sz="1600" b="1" dirty="0"/>
          </a:p>
        </p:txBody>
      </p:sp>
      <p:cxnSp>
        <p:nvCxnSpPr>
          <p:cNvPr id="25" name="Straight Connector 24"/>
          <p:cNvCxnSpPr/>
          <p:nvPr/>
        </p:nvCxnSpPr>
        <p:spPr>
          <a:xfrm flipV="1">
            <a:off x="5223850" y="3828464"/>
            <a:ext cx="1246407" cy="406485"/>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906743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5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500"/>
                                        <p:tgtEl>
                                          <p:spTgt spid="14"/>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5" dur="500"/>
                                        <p:tgtEl>
                                          <p:spTgt spid="16"/>
                                        </p:tgtEl>
                                      </p:cBhvr>
                                    </p:animEffect>
                                  </p:childTnLst>
                                </p:cTn>
                              </p:par>
                              <p:par>
                                <p:cTn id="26" presetID="10" presetClass="entr" presetSubtype="0" fill="hold" nodeType="withEffect">
                                  <p:stCondLst>
                                    <p:cond delay="0"/>
                                  </p:stCondLst>
                                  <p:childTnLst>
                                    <p:set>
                                      <p:cBhvr>
                                        <p:cTn id="27" dur="1" fill="hold">
                                          <p:stCondLst>
                                            <p:cond delay="0"/>
                                          </p:stCondLst>
                                        </p:cTn>
                                        <p:tgtEl>
                                          <p:spTgt spid="18"/>
                                        </p:tgtEl>
                                        <p:attrNameLst>
                                          <p:attrName>style.visibility</p:attrName>
                                        </p:attrNameLst>
                                      </p:cBhvr>
                                      <p:to>
                                        <p:strVal val="visible"/>
                                      </p:to>
                                    </p:set>
                                    <p:animEffect transition="in" filter="fade">
                                      <p:cBhvr>
                                        <p:cTn id="28" dur="500"/>
                                        <p:tgtEl>
                                          <p:spTgt spid="18"/>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20"/>
                                        </p:tgtEl>
                                        <p:attrNameLst>
                                          <p:attrName>style.visibility</p:attrName>
                                        </p:attrNameLst>
                                      </p:cBhvr>
                                      <p:to>
                                        <p:strVal val="visible"/>
                                      </p:to>
                                    </p:set>
                                    <p:animEffect transition="in" filter="fade">
                                      <p:cBhvr>
                                        <p:cTn id="33" dur="500"/>
                                        <p:tgtEl>
                                          <p:spTgt spid="20"/>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21"/>
                                        </p:tgtEl>
                                        <p:attrNameLst>
                                          <p:attrName>style.visibility</p:attrName>
                                        </p:attrNameLst>
                                      </p:cBhvr>
                                      <p:to>
                                        <p:strVal val="visible"/>
                                      </p:to>
                                    </p:set>
                                    <p:animEffect transition="in" filter="fade">
                                      <p:cBhvr>
                                        <p:cTn id="36" dur="500"/>
                                        <p:tgtEl>
                                          <p:spTgt spid="21"/>
                                        </p:tgtEl>
                                      </p:cBhvr>
                                    </p:animEffect>
                                  </p:childTnLst>
                                </p:cTn>
                              </p:par>
                              <p:par>
                                <p:cTn id="37" presetID="10" presetClass="entr" presetSubtype="0" fill="hold" nodeType="withEffect">
                                  <p:stCondLst>
                                    <p:cond delay="0"/>
                                  </p:stCondLst>
                                  <p:childTnLst>
                                    <p:set>
                                      <p:cBhvr>
                                        <p:cTn id="38" dur="1" fill="hold">
                                          <p:stCondLst>
                                            <p:cond delay="0"/>
                                          </p:stCondLst>
                                        </p:cTn>
                                        <p:tgtEl>
                                          <p:spTgt spid="25"/>
                                        </p:tgtEl>
                                        <p:attrNameLst>
                                          <p:attrName>style.visibility</p:attrName>
                                        </p:attrNameLst>
                                      </p:cBhvr>
                                      <p:to>
                                        <p:strVal val="visible"/>
                                      </p:to>
                                    </p:set>
                                    <p:animEffect transition="in" filter="fade">
                                      <p:cBhvr>
                                        <p:cTn id="39"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6" grpId="0"/>
      <p:bldP spid="21"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Hash Indexes</a:t>
            </a:r>
            <a:endParaRPr lang="en-US" dirty="0"/>
          </a:p>
        </p:txBody>
      </p:sp>
      <p:sp>
        <p:nvSpPr>
          <p:cNvPr id="9" name="Slide Number Placeholder 5"/>
          <p:cNvSpPr>
            <a:spLocks noGrp="1"/>
          </p:cNvSpPr>
          <p:nvPr>
            <p:ph type="sldNum" sz="quarter" idx="4"/>
          </p:nvPr>
        </p:nvSpPr>
        <p:spPr>
          <a:prstGeom prst="rect">
            <a:avLst/>
          </a:prstGeom>
        </p:spPr>
        <p:txBody>
          <a:bodyPr vert="horz" lIns="91440" tIns="45720" rIns="91440" bIns="45720" rtlCol="0" anchor="ctr"/>
          <a:lstStyle>
            <a:lvl1pPr algn="r">
              <a:defRPr sz="1100">
                <a:solidFill>
                  <a:srgbClr val="FFFFFF"/>
                </a:solidFill>
              </a:defRPr>
            </a:lvl1pPr>
          </a:lstStyle>
          <a:p>
            <a:fld id="{87FD5303-69AD-2E4D-B18B-E5EED0F0A60B}" type="slidenum">
              <a:rPr lang="en-US" smtClean="0"/>
              <a:pPr/>
              <a:t>25</a:t>
            </a:fld>
            <a:r>
              <a:rPr lang="en-US" dirty="0" smtClean="0"/>
              <a:t>  |  </a:t>
            </a:r>
            <a:endParaRPr lang="en-US" dirty="0"/>
          </a:p>
        </p:txBody>
      </p:sp>
      <p:pic>
        <p:nvPicPr>
          <p:cNvPr id="2" name="Picture 1"/>
          <p:cNvPicPr>
            <a:picLocks noChangeAspect="1"/>
          </p:cNvPicPr>
          <p:nvPr/>
        </p:nvPicPr>
        <p:blipFill>
          <a:blip r:embed="rId3"/>
          <a:stretch>
            <a:fillRect/>
          </a:stretch>
        </p:blipFill>
        <p:spPr>
          <a:xfrm>
            <a:off x="133350" y="1738312"/>
            <a:ext cx="8877300" cy="3381375"/>
          </a:xfrm>
          <a:prstGeom prst="rect">
            <a:avLst/>
          </a:prstGeom>
        </p:spPr>
      </p:pic>
      <p:sp>
        <p:nvSpPr>
          <p:cNvPr id="15" name="TextBox 14"/>
          <p:cNvSpPr txBox="1"/>
          <p:nvPr/>
        </p:nvSpPr>
        <p:spPr>
          <a:xfrm>
            <a:off x="832926" y="2632656"/>
            <a:ext cx="1059256" cy="338554"/>
          </a:xfrm>
          <a:prstGeom prst="rect">
            <a:avLst/>
          </a:prstGeom>
          <a:noFill/>
        </p:spPr>
        <p:txBody>
          <a:bodyPr wrap="square" rtlCol="0">
            <a:spAutoFit/>
          </a:bodyPr>
          <a:lstStyle/>
          <a:p>
            <a:r>
              <a:rPr lang="nl-NL" sz="1600" b="1" dirty="0" smtClean="0"/>
              <a:t>Peter = 5</a:t>
            </a:r>
            <a:endParaRPr lang="en-US" sz="1600" b="1" dirty="0"/>
          </a:p>
        </p:txBody>
      </p:sp>
      <p:cxnSp>
        <p:nvCxnSpPr>
          <p:cNvPr id="17" name="Straight Connector 16"/>
          <p:cNvCxnSpPr>
            <a:stCxn id="15" idx="3"/>
          </p:cNvCxnSpPr>
          <p:nvPr/>
        </p:nvCxnSpPr>
        <p:spPr>
          <a:xfrm>
            <a:off x="1892182" y="2801933"/>
            <a:ext cx="1294645" cy="1026531"/>
          </a:xfrm>
          <a:prstGeom prst="line">
            <a:avLst/>
          </a:prstGeom>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832926" y="3259723"/>
            <a:ext cx="1059256" cy="338554"/>
          </a:xfrm>
          <a:prstGeom prst="rect">
            <a:avLst/>
          </a:prstGeom>
          <a:noFill/>
        </p:spPr>
        <p:txBody>
          <a:bodyPr wrap="square" rtlCol="0">
            <a:spAutoFit/>
          </a:bodyPr>
          <a:lstStyle/>
          <a:p>
            <a:r>
              <a:rPr lang="nl-NL" sz="1600" b="1" dirty="0" err="1" smtClean="0"/>
              <a:t>Jim</a:t>
            </a:r>
            <a:r>
              <a:rPr lang="nl-NL" sz="1600" b="1" dirty="0" smtClean="0"/>
              <a:t> = 3</a:t>
            </a:r>
            <a:endParaRPr lang="en-US" sz="1600" b="1" dirty="0"/>
          </a:p>
        </p:txBody>
      </p:sp>
      <p:cxnSp>
        <p:nvCxnSpPr>
          <p:cNvPr id="22" name="Straight Connector 21"/>
          <p:cNvCxnSpPr/>
          <p:nvPr/>
        </p:nvCxnSpPr>
        <p:spPr>
          <a:xfrm flipV="1">
            <a:off x="1756380" y="3213980"/>
            <a:ext cx="1430447" cy="215020"/>
          </a:xfrm>
          <a:prstGeom prst="line">
            <a:avLst/>
          </a:prstGeom>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710704" y="4065672"/>
            <a:ext cx="1059256" cy="338554"/>
          </a:xfrm>
          <a:prstGeom prst="rect">
            <a:avLst/>
          </a:prstGeom>
          <a:noFill/>
        </p:spPr>
        <p:txBody>
          <a:bodyPr wrap="square" rtlCol="0">
            <a:spAutoFit/>
          </a:bodyPr>
          <a:lstStyle/>
          <a:p>
            <a:r>
              <a:rPr lang="nl-NL" sz="1600" b="1" dirty="0" smtClean="0"/>
              <a:t>Chris = </a:t>
            </a:r>
            <a:r>
              <a:rPr lang="nl-NL" sz="1600" b="1" dirty="0"/>
              <a:t>5</a:t>
            </a:r>
            <a:endParaRPr lang="en-US" sz="1600" b="1" dirty="0"/>
          </a:p>
        </p:txBody>
      </p:sp>
      <p:cxnSp>
        <p:nvCxnSpPr>
          <p:cNvPr id="24" name="Straight Connector 23"/>
          <p:cNvCxnSpPr/>
          <p:nvPr/>
        </p:nvCxnSpPr>
        <p:spPr>
          <a:xfrm flipV="1">
            <a:off x="1892182" y="3828464"/>
            <a:ext cx="1246407" cy="406485"/>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6" name="Straight Connector 5"/>
          <p:cNvCxnSpPr/>
          <p:nvPr/>
        </p:nvCxnSpPr>
        <p:spPr>
          <a:xfrm>
            <a:off x="5450186" y="3213980"/>
            <a:ext cx="570368" cy="0"/>
          </a:xfrm>
          <a:prstGeom prst="line">
            <a:avLst/>
          </a:prstGeom>
        </p:spPr>
        <p:style>
          <a:lnRef idx="1">
            <a:schemeClr val="dk1"/>
          </a:lnRef>
          <a:fillRef idx="0">
            <a:schemeClr val="dk1"/>
          </a:fillRef>
          <a:effectRef idx="0">
            <a:schemeClr val="dk1"/>
          </a:effectRef>
          <a:fontRef idx="minor">
            <a:schemeClr val="tx1"/>
          </a:fontRef>
        </p:style>
      </p:cxnSp>
      <p:cxnSp>
        <p:nvCxnSpPr>
          <p:cNvPr id="12" name="Straight Connector 11"/>
          <p:cNvCxnSpPr/>
          <p:nvPr/>
        </p:nvCxnSpPr>
        <p:spPr>
          <a:xfrm>
            <a:off x="5450186" y="3828464"/>
            <a:ext cx="570368" cy="0"/>
          </a:xfrm>
          <a:prstGeom prst="line">
            <a:avLst/>
          </a:prstGeom>
        </p:spPr>
        <p:style>
          <a:lnRef idx="1">
            <a:schemeClr val="dk1"/>
          </a:lnRef>
          <a:fillRef idx="0">
            <a:schemeClr val="dk1"/>
          </a:fillRef>
          <a:effectRef idx="0">
            <a:schemeClr val="dk1"/>
          </a:effectRef>
          <a:fontRef idx="minor">
            <a:schemeClr val="tx1"/>
          </a:fontRef>
        </p:style>
      </p:cxnSp>
      <p:cxnSp>
        <p:nvCxnSpPr>
          <p:cNvPr id="26" name="Straight Connector 25"/>
          <p:cNvCxnSpPr/>
          <p:nvPr/>
        </p:nvCxnSpPr>
        <p:spPr>
          <a:xfrm>
            <a:off x="6708618" y="3947311"/>
            <a:ext cx="0" cy="208230"/>
          </a:xfrm>
          <a:prstGeom prst="line">
            <a:avLst/>
          </a:prstGeom>
        </p:spPr>
        <p:style>
          <a:lnRef idx="1">
            <a:schemeClr val="dk1"/>
          </a:lnRef>
          <a:fillRef idx="0">
            <a:schemeClr val="dk1"/>
          </a:fillRef>
          <a:effectRef idx="0">
            <a:schemeClr val="dk1"/>
          </a:effectRef>
          <a:fontRef idx="minor">
            <a:schemeClr val="tx1"/>
          </a:fontRef>
        </p:style>
      </p:cxnSp>
      <p:pic>
        <p:nvPicPr>
          <p:cNvPr id="29" name="Picture 28"/>
          <p:cNvPicPr>
            <a:picLocks noChangeAspect="1"/>
          </p:cNvPicPr>
          <p:nvPr/>
        </p:nvPicPr>
        <p:blipFill>
          <a:blip r:embed="rId4"/>
          <a:stretch>
            <a:fillRect/>
          </a:stretch>
        </p:blipFill>
        <p:spPr>
          <a:xfrm>
            <a:off x="8345731" y="3803400"/>
            <a:ext cx="284501" cy="287822"/>
          </a:xfrm>
          <a:prstGeom prst="rect">
            <a:avLst/>
          </a:prstGeom>
        </p:spPr>
      </p:pic>
    </p:spTree>
    <p:extLst>
      <p:ext uri="{BB962C8B-B14F-4D97-AF65-F5344CB8AC3E}">
        <p14:creationId xmlns:p14="http://schemas.microsoft.com/office/powerpoint/2010/main" val="1565088108"/>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The End</a:t>
            </a:r>
            <a:endParaRPr lang="en-US" dirty="0"/>
          </a:p>
        </p:txBody>
      </p:sp>
      <p:sp>
        <p:nvSpPr>
          <p:cNvPr id="9" name="Slide Number Placeholder 5"/>
          <p:cNvSpPr>
            <a:spLocks noGrp="1"/>
          </p:cNvSpPr>
          <p:nvPr>
            <p:ph type="sldNum" sz="quarter" idx="4"/>
          </p:nvPr>
        </p:nvSpPr>
        <p:spPr>
          <a:prstGeom prst="rect">
            <a:avLst/>
          </a:prstGeom>
        </p:spPr>
        <p:txBody>
          <a:bodyPr vert="horz" lIns="91440" tIns="45720" rIns="91440" bIns="45720" rtlCol="0" anchor="ctr"/>
          <a:lstStyle>
            <a:lvl1pPr algn="r">
              <a:defRPr sz="1100">
                <a:solidFill>
                  <a:srgbClr val="FFFFFF"/>
                </a:solidFill>
              </a:defRPr>
            </a:lvl1pPr>
          </a:lstStyle>
          <a:p>
            <a:fld id="{87FD5303-69AD-2E4D-B18B-E5EED0F0A60B}" type="slidenum">
              <a:rPr lang="en-US" smtClean="0"/>
              <a:pPr/>
              <a:t>26</a:t>
            </a:fld>
            <a:r>
              <a:rPr lang="en-US" dirty="0" smtClean="0"/>
              <a:t>  |  </a:t>
            </a:r>
            <a:endParaRPr lang="en-US" dirty="0"/>
          </a:p>
        </p:txBody>
      </p:sp>
      <p:sp>
        <p:nvSpPr>
          <p:cNvPr id="5" name="Rectangle 4"/>
          <p:cNvSpPr/>
          <p:nvPr/>
        </p:nvSpPr>
        <p:spPr>
          <a:xfrm>
            <a:off x="773528" y="2774057"/>
            <a:ext cx="7596951" cy="1323439"/>
          </a:xfrm>
          <a:prstGeom prst="rect">
            <a:avLst/>
          </a:prstGeom>
        </p:spPr>
        <p:txBody>
          <a:bodyPr wrap="none">
            <a:spAutoFit/>
          </a:bodyPr>
          <a:lstStyle/>
          <a:p>
            <a:pPr algn="ctr"/>
            <a:r>
              <a:rPr lang="en-US" sz="8000" b="1" dirty="0" smtClean="0">
                <a:solidFill>
                  <a:schemeClr val="tx1">
                    <a:lumMod val="50000"/>
                    <a:lumOff val="50000"/>
                  </a:schemeClr>
                </a:solidFill>
              </a:rPr>
              <a:t>End of Session</a:t>
            </a:r>
            <a:endParaRPr lang="en-US" sz="8000" b="1" dirty="0">
              <a:solidFill>
                <a:schemeClr val="tx1">
                  <a:lumMod val="50000"/>
                  <a:lumOff val="50000"/>
                </a:schemeClr>
              </a:solidFill>
            </a:endParaRPr>
          </a:p>
        </p:txBody>
      </p:sp>
    </p:spTree>
    <p:extLst>
      <p:ext uri="{BB962C8B-B14F-4D97-AF65-F5344CB8AC3E}">
        <p14:creationId xmlns:p14="http://schemas.microsoft.com/office/powerpoint/2010/main" val="96150066"/>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2892" y="363571"/>
            <a:ext cx="8229600" cy="1143000"/>
          </a:xfrm>
        </p:spPr>
        <p:txBody>
          <a:bodyPr/>
          <a:lstStyle/>
          <a:p>
            <a:r>
              <a:rPr lang="en-US" dirty="0" smtClean="0"/>
              <a:t>Sponsors</a:t>
            </a:r>
            <a:endParaRPr lang="pt-BR" dirty="0"/>
          </a:p>
        </p:txBody>
      </p:sp>
      <p:pic>
        <p:nvPicPr>
          <p:cNvPr id="1026" name="Picture 2" descr="C:\Users\Public\Pictures\SQLSaturday\MS\MSFT_logo_rgb_C-Gray.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0040" y="1629742"/>
            <a:ext cx="2662907" cy="979399"/>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p:cNvPicPr>
            <a:picLocks noChangeAspect="1"/>
          </p:cNvPicPr>
          <p:nvPr/>
        </p:nvPicPr>
        <p:blipFill>
          <a:blip r:embed="rId4"/>
          <a:stretch>
            <a:fillRect/>
          </a:stretch>
        </p:blipFill>
        <p:spPr>
          <a:xfrm>
            <a:off x="6691910" y="1453548"/>
            <a:ext cx="1538476" cy="1323230"/>
          </a:xfrm>
          <a:prstGeom prst="rect">
            <a:avLst/>
          </a:prstGeom>
        </p:spPr>
      </p:pic>
      <p:pic>
        <p:nvPicPr>
          <p:cNvPr id="1030" name="Picture 6" descr="http://media.infragistics.com/community/SQLSaturday/icn-logo-170x60.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94797" y="2796748"/>
            <a:ext cx="2189678" cy="772830"/>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14" descr="http://www.sqlmasteracademy.com/files/image/sqlmalogo170x60pxv_2.jp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910432" y="9862252"/>
            <a:ext cx="1619250" cy="571501"/>
          </a:xfrm>
          <a:prstGeom prst="rect">
            <a:avLst/>
          </a:prstGeom>
          <a:noFill/>
          <a:extLst>
            <a:ext uri="{909E8E84-426E-40DD-AFC4-6F175D3DCCD1}">
              <a14:hiddenFill xmlns:a14="http://schemas.microsoft.com/office/drawing/2010/main">
                <a:solidFill>
                  <a:srgbClr val="FFFFFF"/>
                </a:solidFill>
              </a14:hiddenFill>
            </a:ext>
          </a:extLst>
        </p:spPr>
      </p:pic>
      <p:pic>
        <p:nvPicPr>
          <p:cNvPr id="1040" name="Picture 16" descr="http://media.infragistics.com/community/SQLSaturday/mentormate-logo.png"/>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303016" y="1719830"/>
            <a:ext cx="2414470" cy="852167"/>
          </a:xfrm>
          <a:prstGeom prst="rect">
            <a:avLst/>
          </a:prstGeom>
          <a:noFill/>
          <a:extLst>
            <a:ext uri="{909E8E84-426E-40DD-AFC4-6F175D3DCCD1}">
              <a14:hiddenFill xmlns:a14="http://schemas.microsoft.com/office/drawing/2010/main">
                <a:solidFill>
                  <a:srgbClr val="FFFFFF"/>
                </a:solidFill>
              </a14:hiddenFill>
            </a:ext>
          </a:extLst>
        </p:spPr>
      </p:pic>
      <p:pic>
        <p:nvPicPr>
          <p:cNvPr id="1044" name="Picture 20" descr="http://s.pluralsight.com/mn/img/logo/pluralsight-fullcolor-175x39-v1.png"/>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546579" y="5398297"/>
            <a:ext cx="1348032" cy="300419"/>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 descr="Adastra"/>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55575" y="-144463"/>
            <a:ext cx="2628900" cy="304801"/>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4367905" y="3427765"/>
            <a:ext cx="9525" cy="9525"/>
          </a:xfrm>
          <a:prstGeom prst="rect">
            <a:avLst/>
          </a:prstGeom>
        </p:spPr>
      </p:pic>
      <p:pic>
        <p:nvPicPr>
          <p:cNvPr id="1028" name="Picture 4" descr="http://media.infragistics.com/community/SQLSaturday/adastra-170x60.jpg"/>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81608" y="4149387"/>
            <a:ext cx="1688123" cy="556088"/>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6" descr="https://www.wintellectnow.com/assets/img/winnow-logo-cropped.png"/>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94797" y="5285284"/>
            <a:ext cx="1112926" cy="526446"/>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http://media.infragistics.com/community/SQLSaturday/ApexSQL_Logo%20png.png"/>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345453" y="5353972"/>
            <a:ext cx="1653546" cy="389070"/>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SBTECH"/>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546579" y="2995237"/>
            <a:ext cx="1683807" cy="594286"/>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4" descr="Cozy Roc"/>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582380" y="3019917"/>
            <a:ext cx="2063588" cy="505035"/>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6" descr="GymRealm Technology AD"/>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634781" y="4158483"/>
            <a:ext cx="1485297" cy="524223"/>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p:cNvSpPr txBox="1"/>
          <p:nvPr/>
        </p:nvSpPr>
        <p:spPr>
          <a:xfrm>
            <a:off x="527538" y="1442135"/>
            <a:ext cx="1978270" cy="369332"/>
          </a:xfrm>
          <a:prstGeom prst="rect">
            <a:avLst/>
          </a:prstGeom>
          <a:noFill/>
        </p:spPr>
        <p:txBody>
          <a:bodyPr wrap="square" rtlCol="0">
            <a:spAutoFit/>
          </a:bodyPr>
          <a:lstStyle/>
          <a:p>
            <a:r>
              <a:rPr lang="en-US" dirty="0" smtClean="0"/>
              <a:t>Gold Sponsors:</a:t>
            </a:r>
            <a:endParaRPr lang="en-US" dirty="0"/>
          </a:p>
        </p:txBody>
      </p:sp>
      <p:sp>
        <p:nvSpPr>
          <p:cNvPr id="26" name="TextBox 25"/>
          <p:cNvSpPr txBox="1"/>
          <p:nvPr/>
        </p:nvSpPr>
        <p:spPr>
          <a:xfrm>
            <a:off x="480889" y="3659437"/>
            <a:ext cx="2227141" cy="369332"/>
          </a:xfrm>
          <a:prstGeom prst="rect">
            <a:avLst/>
          </a:prstGeom>
          <a:noFill/>
        </p:spPr>
        <p:txBody>
          <a:bodyPr wrap="square" rtlCol="0">
            <a:spAutoFit/>
          </a:bodyPr>
          <a:lstStyle/>
          <a:p>
            <a:r>
              <a:rPr lang="en-US" dirty="0" smtClean="0"/>
              <a:t>Bronze Sponsors:</a:t>
            </a:r>
            <a:endParaRPr lang="en-US" dirty="0"/>
          </a:p>
        </p:txBody>
      </p:sp>
      <p:sp>
        <p:nvSpPr>
          <p:cNvPr id="27" name="TextBox 26"/>
          <p:cNvSpPr txBox="1"/>
          <p:nvPr/>
        </p:nvSpPr>
        <p:spPr>
          <a:xfrm>
            <a:off x="527538" y="4810713"/>
            <a:ext cx="2227141" cy="369332"/>
          </a:xfrm>
          <a:prstGeom prst="rect">
            <a:avLst/>
          </a:prstGeom>
          <a:noFill/>
        </p:spPr>
        <p:txBody>
          <a:bodyPr wrap="square" rtlCol="0">
            <a:spAutoFit/>
          </a:bodyPr>
          <a:lstStyle/>
          <a:p>
            <a:r>
              <a:rPr lang="en-US" dirty="0" smtClean="0"/>
              <a:t>Swag Sponsors:</a:t>
            </a:r>
            <a:endParaRPr lang="en-US" dirty="0"/>
          </a:p>
        </p:txBody>
      </p:sp>
    </p:spTree>
    <p:extLst>
      <p:ext uri="{BB962C8B-B14F-4D97-AF65-F5344CB8AC3E}">
        <p14:creationId xmlns:p14="http://schemas.microsoft.com/office/powerpoint/2010/main" val="1375148846"/>
      </p:ext>
    </p:extLst>
  </p:cSld>
  <p:clrMapOvr>
    <a:masterClrMapping/>
  </p:clrMapOvr>
  <p:timing>
    <p:tnLst>
      <p:par>
        <p:cTn id="1" dur="indefinite" restart="never" nodeType="tmRoot"/>
      </p:par>
    </p:tnLst>
  </p:timing>
</p:sld>
</file>

<file path=ppt/theme/theme1.xml><?xml version="1.0" encoding="utf-8"?>
<a:theme xmlns:a="http://schemas.openxmlformats.org/drawingml/2006/main" name="SQL Server 2012">
  <a:themeElements>
    <a:clrScheme name="Custom 1">
      <a:dk1>
        <a:sysClr val="windowText" lastClr="000000"/>
      </a:dk1>
      <a:lt1>
        <a:sysClr val="window" lastClr="FFFFFF"/>
      </a:lt1>
      <a:dk2>
        <a:srgbClr val="474947"/>
      </a:dk2>
      <a:lt2>
        <a:srgbClr val="EEECE1"/>
      </a:lt2>
      <a:accent1>
        <a:srgbClr val="163764"/>
      </a:accent1>
      <a:accent2>
        <a:srgbClr val="75982F"/>
      </a:accent2>
      <a:accent3>
        <a:srgbClr val="16223C"/>
      </a:accent3>
      <a:accent4>
        <a:srgbClr val="B18126"/>
      </a:accent4>
      <a:accent5>
        <a:srgbClr val="00517C"/>
      </a:accent5>
      <a:accent6>
        <a:srgbClr val="F79646"/>
      </a:accent6>
      <a:hlink>
        <a:srgbClr val="75982F"/>
      </a:hlink>
      <a:folHlink>
        <a:srgbClr val="75982F"/>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SQLSat384Varna-template.potx" id="{376C381A-F06B-4193-B151-D8BA1D2B5706}" vid="{C382C184-9260-4DB9-BFA0-3B0131DE379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SQLSat384Varna-template</Template>
  <TotalTime>86</TotalTime>
  <Words>1105</Words>
  <Application>Microsoft Office PowerPoint</Application>
  <PresentationFormat>On-screen Show (4:3)</PresentationFormat>
  <Paragraphs>224</Paragraphs>
  <Slides>27</Slides>
  <Notes>16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27</vt:i4>
      </vt:variant>
    </vt:vector>
  </HeadingPairs>
  <TitlesOfParts>
    <vt:vector size="32" baseType="lpstr">
      <vt:lpstr>Arial</vt:lpstr>
      <vt:lpstr>Calibri</vt:lpstr>
      <vt:lpstr>Courier New</vt:lpstr>
      <vt:lpstr>Wingdings</vt:lpstr>
      <vt:lpstr>SQL Server 2012</vt:lpstr>
      <vt:lpstr>Memory-Optimized Tables</vt:lpstr>
      <vt:lpstr>Sponsors</vt:lpstr>
      <vt:lpstr>About me</vt:lpstr>
      <vt:lpstr>Agenda</vt:lpstr>
      <vt:lpstr>Introduction to In-Memory OLTP</vt:lpstr>
      <vt:lpstr>Introduction to In-Memory OLTP</vt:lpstr>
      <vt:lpstr>Introduction to In-Memory OLTP</vt:lpstr>
      <vt:lpstr>(a couple) Limitations</vt:lpstr>
      <vt:lpstr>Memory Optimization Advisor</vt:lpstr>
      <vt:lpstr>Memory-Optimized Table Theory</vt:lpstr>
      <vt:lpstr>Memory-Optimized Table Theory</vt:lpstr>
      <vt:lpstr>Memory-Optimized Table Theory</vt:lpstr>
      <vt:lpstr>Memory-Optimized Table Theory</vt:lpstr>
      <vt:lpstr>Memory-Optimized Table Theory</vt:lpstr>
      <vt:lpstr>Memory-Optimized Table Theory</vt:lpstr>
      <vt:lpstr>Memory-Optimized Table Theory</vt:lpstr>
      <vt:lpstr>Memory-Optimized Table Theory</vt:lpstr>
      <vt:lpstr>Memory-Optimized Table Theory</vt:lpstr>
      <vt:lpstr>Memory-Optimized Table Theory</vt:lpstr>
      <vt:lpstr>Creating Memory-Optimized Tables</vt:lpstr>
      <vt:lpstr>Hash Indexes</vt:lpstr>
      <vt:lpstr>Hash Indexes</vt:lpstr>
      <vt:lpstr>Hash Indexes</vt:lpstr>
      <vt:lpstr>Hash Indexes</vt:lpstr>
      <vt:lpstr>Hash Indexes</vt:lpstr>
      <vt:lpstr>The End</vt:lpstr>
      <vt:lpstr>Sponsors</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Enrico van de Laar</dc:creator>
  <cp:lastModifiedBy>Enrico van de Laar</cp:lastModifiedBy>
  <cp:revision>15</cp:revision>
  <dcterms:created xsi:type="dcterms:W3CDTF">2015-05-21T13:00:41Z</dcterms:created>
  <dcterms:modified xsi:type="dcterms:W3CDTF">2015-05-28T09:01:07Z</dcterms:modified>
</cp:coreProperties>
</file>