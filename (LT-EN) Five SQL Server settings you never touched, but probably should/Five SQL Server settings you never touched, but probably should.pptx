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035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nl-NL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253" y="1493837"/>
            <a:ext cx="5959494" cy="128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2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9101"/>
            <a:ext cx="10515600" cy="54689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7364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theme" Target="../theme/theme1.xml"/><Relationship Id="rId7" Type="http://schemas.openxmlformats.org/officeDocument/2006/relationships/hyperlink" Target="http://www.dotnine.n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witter.com/evdlaar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hyperlink" Target="http://bit.ly/1v0AfAr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4001"/>
            <a:ext cx="10515600" cy="575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6183719"/>
            <a:ext cx="2489200" cy="537756"/>
          </a:xfrm>
          <a:prstGeom prst="rect">
            <a:avLst/>
          </a:prstGeom>
        </p:spPr>
      </p:pic>
      <p:pic>
        <p:nvPicPr>
          <p:cNvPr id="1026" name="Picture 2" descr="http://www.antiquorum.com/static/images/branding/twitter-icon-small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75" y="6356350"/>
            <a:ext cx="2286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8610600" y="6309796"/>
            <a:ext cx="977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6"/>
              </a:rPr>
              <a:t>@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hlinkClick r:id="rId6"/>
              </a:rPr>
              <a:t>evdlaar</a:t>
            </a:r>
            <a:endParaRPr lang="nl-N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680200" y="6309796"/>
            <a:ext cx="170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7"/>
              </a:rPr>
              <a:t>www.dotnine.nl</a:t>
            </a:r>
            <a:endParaRPr lang="nl-NL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8" name="Picture 4" descr="http://www.thegef.org/gef/sites/thegef.org/files/Images/youtube-icon_small.jp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035" y="6369345"/>
            <a:ext cx="208180" cy="22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 userDrawn="1"/>
        </p:nvSpPr>
        <p:spPr>
          <a:xfrm>
            <a:off x="9855200" y="6309796"/>
            <a:ext cx="191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smtClean="0">
                <a:solidFill>
                  <a:schemeClr val="tx1">
                    <a:lumMod val="50000"/>
                    <a:lumOff val="50000"/>
                  </a:schemeClr>
                </a:solidFill>
                <a:hlinkClick r:id="rId9"/>
              </a:rPr>
              <a:t>http://bit.ly/1v0AfAr</a:t>
            </a:r>
            <a:endParaRPr lang="nl-NL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17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 smtClean="0"/>
          </a:p>
          <a:p>
            <a:endParaRPr lang="nl-NL" dirty="0"/>
          </a:p>
          <a:p>
            <a:pPr algn="ctr"/>
            <a:endParaRPr lang="en-US" sz="4000" b="1" dirty="0" smtClean="0"/>
          </a:p>
          <a:p>
            <a:pPr algn="ctr"/>
            <a:r>
              <a:rPr lang="en-US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Five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SQL Server settings you never touched, </a:t>
            </a:r>
            <a:r>
              <a:rPr lang="en-US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but 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probably </a:t>
            </a:r>
            <a:r>
              <a:rPr lang="en-US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should!</a:t>
            </a:r>
          </a:p>
          <a:p>
            <a:pPr algn="ctr"/>
            <a:r>
              <a:rPr lang="en-US" sz="1800" b="1" i="1" dirty="0" smtClean="0">
                <a:solidFill>
                  <a:schemeClr val="bg1">
                    <a:lumMod val="65000"/>
                  </a:schemeClr>
                </a:solidFill>
              </a:rPr>
              <a:t>Enrico van de Laar</a:t>
            </a:r>
            <a:endParaRPr lang="en-US" sz="1600" b="1" i="1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" name="Picture 2" descr="P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" y="138444"/>
            <a:ext cx="1200481" cy="93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0073133" y="298765"/>
            <a:ext cx="2425452" cy="599263"/>
            <a:chOff x="10073133" y="298765"/>
            <a:chExt cx="2425452" cy="599263"/>
          </a:xfrm>
        </p:grpSpPr>
        <p:pic>
          <p:nvPicPr>
            <p:cNvPr id="2050" name="Picture 2" descr="http://www.clipartbest.com/cliparts/Kin/eGz/KineGzeiq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1580" y="329727"/>
              <a:ext cx="341603" cy="485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10073133" y="298765"/>
              <a:ext cx="1388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Lightning</a:t>
              </a:r>
              <a:endParaRPr lang="en-US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110032" y="528696"/>
              <a:ext cx="1388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Talk</a:t>
              </a:r>
              <a:endParaRPr lang="en-US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53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nl-NL" dirty="0" smtClean="0"/>
              <a:t>Enrico van de Laar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nl-NL" dirty="0" smtClean="0"/>
              <a:t>Microsoft SQL Server MVP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nl-NL" dirty="0" smtClean="0"/>
              <a:t>Database Technology Specialist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nl-NL" dirty="0" err="1" smtClean="0"/>
              <a:t>Blogger</a:t>
            </a:r>
            <a:endParaRPr lang="nl-NL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nl-NL" dirty="0" smtClean="0"/>
              <a:t>Author</a:t>
            </a:r>
            <a:endParaRPr lang="nl-NL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Introduction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2402" y="1602088"/>
            <a:ext cx="2001691" cy="30331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815" y="878186"/>
            <a:ext cx="914402" cy="14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2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Instant File Initialization removes the need to fill data files with 0’s before they can be used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Adding the SQL Server Service account to the policy will dramatically speed up database creation, backup and </a:t>
            </a:r>
            <a:r>
              <a:rPr lang="en-US" sz="2400" dirty="0" smtClean="0"/>
              <a:t>restore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r>
              <a:rPr lang="en-US" sz="2400" b="1" dirty="0" smtClean="0"/>
              <a:t>Where?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Local Policy – </a:t>
            </a:r>
            <a:br>
              <a:rPr lang="en-US" sz="2400" dirty="0" smtClean="0"/>
            </a:br>
            <a:r>
              <a:rPr lang="en-US" sz="2400" dirty="0" smtClean="0"/>
              <a:t>User Right Assignment – </a:t>
            </a:r>
            <a:br>
              <a:rPr lang="en-US" sz="2400" dirty="0" smtClean="0"/>
            </a:br>
            <a:r>
              <a:rPr lang="en-US" sz="2400" dirty="0" smtClean="0"/>
              <a:t>Perform Volume Maintenance Tasks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Number I – Instant File Initialization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838" y="3488886"/>
            <a:ext cx="5016379" cy="173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Optimize fo</a:t>
            </a:r>
            <a:r>
              <a:rPr lang="en-US" sz="2400" dirty="0" smtClean="0"/>
              <a:t>r ad hoc workloads creates a stub when an Execution Plan is first compiled instead of saving the entire Execution Plan to the Plan Cache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This can save a lot of memory if your workload consists of many ad hoc queries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r>
              <a:rPr lang="en-US" sz="2400" b="1" dirty="0" smtClean="0"/>
              <a:t>Where?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Instance Properties –</a:t>
            </a:r>
            <a:br>
              <a:rPr lang="en-US" sz="2400" dirty="0" smtClean="0"/>
            </a:br>
            <a:r>
              <a:rPr lang="en-US" sz="2400" dirty="0" smtClean="0"/>
              <a:t>Advanced –</a:t>
            </a:r>
            <a:br>
              <a:rPr lang="en-US" sz="2400" dirty="0" smtClean="0"/>
            </a:br>
            <a:r>
              <a:rPr lang="en-US" sz="2400" dirty="0" smtClean="0"/>
              <a:t>Optimize for Ad hoc Workloads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Number II – Optimize for ad hoc workloads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583" y="2879567"/>
            <a:ext cx="5380634" cy="28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0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The Dedicated Admin Connection (DAC) will make it possible to connect to your SQL Server Instance when it is unresponsive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The DAC has it’s own scheduler and threads available, giving you a way to troubleshoot when no user threads are available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r>
              <a:rPr lang="en-US" sz="2400" b="1" dirty="0" smtClean="0"/>
              <a:t>Where?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T-SQL: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Number III – Dedicated Admin Connection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73" y="4182593"/>
            <a:ext cx="3758602" cy="17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3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Max Degree of Parallelism determines if parallelism can be used by queries, and how many logical processors can get used in a parallel operation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Default of “0” means every logical processor can be used in parallel operations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You don’t always want parallelism to occur…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r>
              <a:rPr lang="en-US" sz="2400" b="1" dirty="0" smtClean="0"/>
              <a:t>Where?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Instance Properties –</a:t>
            </a:r>
            <a:br>
              <a:rPr lang="en-US" sz="2400" dirty="0"/>
            </a:br>
            <a:r>
              <a:rPr lang="en-US" sz="2400" dirty="0"/>
              <a:t>Advanced </a:t>
            </a:r>
            <a:r>
              <a:rPr lang="en-US" sz="2400" dirty="0" smtClean="0"/>
              <a:t>–</a:t>
            </a:r>
            <a:br>
              <a:rPr lang="en-US" sz="2400" dirty="0" smtClean="0"/>
            </a:br>
            <a:r>
              <a:rPr lang="en-US" sz="2400" dirty="0" smtClean="0"/>
              <a:t>Max Degree of Parallelism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Number IV – Max Degree of Parallelism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621" y="4174449"/>
            <a:ext cx="5107962" cy="119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1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878186"/>
            <a:ext cx="10515600" cy="500985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Cost threshold for Parallelism determines the how high the query execution cost should be for SQL Server to considerate running the query using parallelism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To low value and everything will run using parallelism, to high and every will be executed serially 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  <a:p>
            <a:r>
              <a:rPr lang="en-US" sz="2400" b="1" dirty="0" smtClean="0"/>
              <a:t>Where?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Instance Properties –</a:t>
            </a:r>
            <a:br>
              <a:rPr lang="en-US" sz="2400" dirty="0"/>
            </a:br>
            <a:r>
              <a:rPr lang="en-US" sz="2400" dirty="0"/>
              <a:t>Advanced </a:t>
            </a:r>
            <a:r>
              <a:rPr lang="en-US" sz="2400" dirty="0" smtClean="0"/>
              <a:t>–</a:t>
            </a:r>
            <a:br>
              <a:rPr lang="en-US" sz="2400" dirty="0" smtClean="0"/>
            </a:br>
            <a:r>
              <a:rPr lang="en-US" sz="2400" dirty="0" smtClean="0"/>
              <a:t>Cost Threshold for Parallelism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sz="2400" b="1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738617" y="213191"/>
            <a:ext cx="10515600" cy="421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990000"/>
                </a:solidFill>
              </a:rPr>
              <a:t>Number V – Cost Threshold for Parallelism</a:t>
            </a:r>
            <a:endParaRPr lang="nl-NL" sz="3200" b="1" dirty="0">
              <a:solidFill>
                <a:srgbClr val="99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80265"/>
            <a:ext cx="1051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965" y="4065336"/>
            <a:ext cx="5243788" cy="109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4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nl-NL" sz="4400" b="1" dirty="0" smtClean="0"/>
          </a:p>
          <a:p>
            <a:pPr algn="ctr"/>
            <a:endParaRPr lang="nl-NL" sz="4400" b="1" dirty="0"/>
          </a:p>
          <a:p>
            <a:pPr algn="ctr"/>
            <a:endParaRPr lang="nl-NL" sz="4400" b="1" dirty="0" smtClean="0"/>
          </a:p>
          <a:p>
            <a:pPr algn="ctr"/>
            <a:r>
              <a:rPr lang="nl-NL" sz="6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The End</a:t>
            </a:r>
            <a:endParaRPr lang="nl-NL" sz="6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Picture 2" descr="P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" y="138444"/>
            <a:ext cx="1200481" cy="93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0073133" y="298765"/>
            <a:ext cx="2425452" cy="599263"/>
            <a:chOff x="10073133" y="298765"/>
            <a:chExt cx="2425452" cy="599263"/>
          </a:xfrm>
        </p:grpSpPr>
        <p:pic>
          <p:nvPicPr>
            <p:cNvPr id="5" name="Picture 2" descr="http://www.clipartbest.com/cliparts/Kin/eGz/KineGzeiq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21580" y="329727"/>
              <a:ext cx="341603" cy="485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0073133" y="298765"/>
              <a:ext cx="1388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Lightning</a:t>
              </a:r>
              <a:endParaRPr lang="en-US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110032" y="528696"/>
              <a:ext cx="1388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Talk</a:t>
              </a:r>
              <a:endParaRPr lang="en-US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867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5707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284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Aharoni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Enrico van de Laar</cp:lastModifiedBy>
  <cp:revision>16</cp:revision>
  <dcterms:created xsi:type="dcterms:W3CDTF">2014-11-28T08:50:42Z</dcterms:created>
  <dcterms:modified xsi:type="dcterms:W3CDTF">2015-05-07T12:52:05Z</dcterms:modified>
</cp:coreProperties>
</file>