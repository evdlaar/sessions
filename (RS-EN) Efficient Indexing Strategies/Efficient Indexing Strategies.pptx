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78" r:id="rId3"/>
    <p:sldId id="259" r:id="rId4"/>
    <p:sldId id="257" r:id="rId5"/>
    <p:sldId id="281" r:id="rId6"/>
    <p:sldId id="264" r:id="rId7"/>
    <p:sldId id="263" r:id="rId8"/>
    <p:sldId id="282" r:id="rId9"/>
    <p:sldId id="261" r:id="rId10"/>
    <p:sldId id="262" r:id="rId11"/>
    <p:sldId id="267" r:id="rId12"/>
    <p:sldId id="283" r:id="rId13"/>
    <p:sldId id="265" r:id="rId14"/>
    <p:sldId id="266" r:id="rId15"/>
    <p:sldId id="269" r:id="rId16"/>
    <p:sldId id="270" r:id="rId17"/>
    <p:sldId id="271" r:id="rId18"/>
    <p:sldId id="272" r:id="rId19"/>
    <p:sldId id="273" r:id="rId20"/>
    <p:sldId id="274" r:id="rId21"/>
    <p:sldId id="284" r:id="rId22"/>
    <p:sldId id="268" r:id="rId23"/>
    <p:sldId id="276" r:id="rId24"/>
    <p:sldId id="277" r:id="rId25"/>
    <p:sldId id="285" r:id="rId26"/>
    <p:sldId id="275" r:id="rId27"/>
    <p:sldId id="287" r:id="rId28"/>
    <p:sldId id="288" r:id="rId29"/>
    <p:sldId id="289" r:id="rId30"/>
    <p:sldId id="290" r:id="rId31"/>
    <p:sldId id="286" r:id="rId32"/>
    <p:sldId id="291" r:id="rId33"/>
    <p:sldId id="292" r:id="rId34"/>
    <p:sldId id="280" r:id="rId35"/>
    <p:sldId id="279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7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F9F9AF-FC2E-405C-A47B-9FD8B3C1DC24}" type="datetimeFigureOut">
              <a:rPr lang="en-US" smtClean="0"/>
              <a:t>08/26/2015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F74631-FA81-4ED7-A4FF-297F28D86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77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smtClean="0"/>
              <a:t>Platinum: Capgemini, </a:t>
            </a:r>
            <a:r>
              <a:rPr lang="nb-NO" dirty="0" err="1" smtClean="0"/>
              <a:t>Evry</a:t>
            </a:r>
            <a:endParaRPr lang="nb-NO" dirty="0" smtClean="0"/>
          </a:p>
          <a:p>
            <a:r>
              <a:rPr lang="nb-NO" dirty="0" smtClean="0"/>
              <a:t>Gold: Microsoft, </a:t>
            </a:r>
            <a:r>
              <a:rPr lang="nb-NO" dirty="0" err="1" smtClean="0"/>
              <a:t>Webstep</a:t>
            </a:r>
            <a:r>
              <a:rPr lang="nb-NO" dirty="0" smtClean="0"/>
              <a:t>, </a:t>
            </a:r>
            <a:r>
              <a:rPr lang="nb-NO" dirty="0" err="1" smtClean="0"/>
              <a:t>Glasspaper</a:t>
            </a:r>
            <a:r>
              <a:rPr lang="nb-NO" dirty="0" smtClean="0"/>
              <a:t>, </a:t>
            </a:r>
            <a:r>
              <a:rPr lang="nb-NO" dirty="0" err="1" smtClean="0"/>
              <a:t>NextBridge</a:t>
            </a:r>
            <a:r>
              <a:rPr lang="nb-NO" dirty="0" smtClean="0"/>
              <a:t>, </a:t>
            </a:r>
            <a:r>
              <a:rPr lang="nb-NO" dirty="0" err="1" smtClean="0"/>
              <a:t>Violin</a:t>
            </a:r>
            <a:r>
              <a:rPr lang="nb-NO" dirty="0" smtClean="0"/>
              <a:t> Memory</a:t>
            </a:r>
          </a:p>
          <a:p>
            <a:r>
              <a:rPr lang="nb-NO" dirty="0" smtClean="0"/>
              <a:t>Silver: Computas</a:t>
            </a:r>
          </a:p>
          <a:p>
            <a:r>
              <a:rPr lang="nb-NO" dirty="0" err="1" smtClean="0"/>
              <a:t>Bronze</a:t>
            </a:r>
            <a:r>
              <a:rPr lang="nb-NO" dirty="0" smtClean="0"/>
              <a:t>: </a:t>
            </a:r>
            <a:r>
              <a:rPr lang="nb-NO" dirty="0" err="1" smtClean="0"/>
              <a:t>Varigence</a:t>
            </a:r>
            <a:r>
              <a:rPr lang="nb-NO" dirty="0" smtClean="0"/>
              <a:t>,</a:t>
            </a:r>
            <a:r>
              <a:rPr lang="nb-NO" baseline="0" dirty="0" smtClean="0"/>
              <a:t> </a:t>
            </a:r>
            <a:r>
              <a:rPr lang="nb-NO" baseline="0" dirty="0" err="1" smtClean="0"/>
              <a:t>SQLSentry</a:t>
            </a:r>
            <a:r>
              <a:rPr lang="nb-NO" baseline="0" dirty="0" smtClean="0"/>
              <a:t>, </a:t>
            </a:r>
            <a:r>
              <a:rPr lang="nb-NO" baseline="0" dirty="0" err="1" smtClean="0"/>
              <a:t>Cozyroc</a:t>
            </a:r>
            <a:endParaRPr lang="nb-NO" baseline="0" dirty="0" smtClean="0"/>
          </a:p>
          <a:p>
            <a:r>
              <a:rPr lang="nb-NO" baseline="0" dirty="0" err="1" smtClean="0"/>
              <a:t>Swag</a:t>
            </a:r>
            <a:r>
              <a:rPr lang="nb-NO" baseline="0" dirty="0" smtClean="0"/>
              <a:t>: </a:t>
            </a:r>
            <a:r>
              <a:rPr lang="nb-NO" baseline="0" dirty="0" err="1" smtClean="0"/>
              <a:t>ApexSQL</a:t>
            </a:r>
            <a:r>
              <a:rPr lang="nb-NO" baseline="0" dirty="0" smtClean="0"/>
              <a:t>, SQL Cruise, </a:t>
            </a:r>
            <a:r>
              <a:rPr lang="nb-NO" baseline="0" dirty="0" err="1" smtClean="0"/>
              <a:t>Pluralsight</a:t>
            </a:r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58C0D-5023-4A24-9F5B-E9E4526624AC}" type="slidenum">
              <a:rPr lang="nb-NO" smtClean="0"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74186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F74631-FA81-4ED7-A4FF-297F28D8614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513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 avoid grammar</a:t>
            </a:r>
            <a:r>
              <a:rPr lang="en-US" baseline="0" dirty="0" smtClean="0"/>
              <a:t> arguments….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F74631-FA81-4ED7-A4FF-297F28D8614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455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How much faster? Check</a:t>
            </a:r>
            <a:r>
              <a:rPr lang="en-US" baseline="0" dirty="0" smtClean="0"/>
              <a:t> </a:t>
            </a:r>
            <a:r>
              <a:rPr lang="en-US" dirty="0" smtClean="0"/>
              <a:t>Demo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F74631-FA81-4ED7-A4FF-297F28D8614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017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F74631-FA81-4ED7-A4FF-297F28D8614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830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Index performance depends on many things:</a:t>
            </a:r>
            <a:br>
              <a:rPr lang="en-US" dirty="0" smtClean="0"/>
            </a:br>
            <a:r>
              <a:rPr lang="en-US" dirty="0" smtClean="0"/>
              <a:t>- query workload</a:t>
            </a:r>
            <a:br>
              <a:rPr lang="en-US" dirty="0" smtClean="0"/>
            </a:br>
            <a:r>
              <a:rPr lang="en-US" dirty="0" smtClean="0"/>
              <a:t>- query behavior (many read</a:t>
            </a:r>
            <a:r>
              <a:rPr lang="en-US" baseline="0" dirty="0" smtClean="0"/>
              <a:t> operations or many modifications)</a:t>
            </a:r>
            <a:br>
              <a:rPr lang="en-US" baseline="0" dirty="0" smtClean="0"/>
            </a:br>
            <a:r>
              <a:rPr lang="en-US" baseline="0" dirty="0" smtClean="0"/>
              <a:t>- index usage by the query optimizer</a:t>
            </a:r>
          </a:p>
          <a:p>
            <a:r>
              <a:rPr lang="en-US" baseline="0" dirty="0" smtClean="0"/>
              <a:t>- Selectivity and cardinality of the data</a:t>
            </a:r>
            <a:br>
              <a:rPr lang="en-US" baseline="0" dirty="0" smtClean="0"/>
            </a:br>
            <a:r>
              <a:rPr lang="en-US" baseline="0" dirty="0" smtClean="0"/>
              <a:t>- </a:t>
            </a:r>
            <a:r>
              <a:rPr lang="en-US" baseline="0" dirty="0" err="1" smtClean="0"/>
              <a:t>etc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etc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F74631-FA81-4ED7-A4FF-297F28D8614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0928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F74631-FA81-4ED7-A4FF-297F28D8614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8965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F74631-FA81-4ED7-A4FF-297F28D8614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1908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Index types in SQL Server 2016 CTP2, we are only going to focus on 3</a:t>
            </a:r>
            <a:r>
              <a:rPr lang="en-US" baseline="0" dirty="0" smtClean="0"/>
              <a:t> types in this session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F74631-FA81-4ED7-A4FF-297F28D8614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915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Important! You can query a Heap</a:t>
            </a:r>
            <a:r>
              <a:rPr lang="en-US" baseline="0" dirty="0" smtClean="0"/>
              <a:t> table and assume the order is the order of row inserts, this does NOT have to be true!</a:t>
            </a:r>
            <a:br>
              <a:rPr lang="en-US" baseline="0" dirty="0" smtClean="0"/>
            </a:br>
            <a:r>
              <a:rPr lang="en-US" baseline="0" dirty="0" smtClean="0"/>
              <a:t>There is no order inside a Heap</a:t>
            </a:r>
            <a:br>
              <a:rPr lang="en-US" baseline="0" dirty="0" smtClean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F74631-FA81-4ED7-A4FF-297F28D8614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5539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IAM = Index Allocation Map</a:t>
            </a:r>
            <a:br>
              <a:rPr lang="en-US" dirty="0" smtClean="0"/>
            </a:br>
            <a:r>
              <a:rPr lang="en-US" dirty="0" smtClean="0"/>
              <a:t>SQL</a:t>
            </a:r>
            <a:r>
              <a:rPr lang="en-US" baseline="0" dirty="0" smtClean="0"/>
              <a:t> Server will need to go through all the data pages to find the row you are looking for.</a:t>
            </a:r>
            <a:br>
              <a:rPr lang="en-US" baseline="0" dirty="0" smtClean="0"/>
            </a:br>
            <a:r>
              <a:rPr lang="en-US" baseline="0" dirty="0" smtClean="0"/>
              <a:t>This is extremely costly!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F74631-FA81-4ED7-A4FF-297F28D8614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4459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Maximum amount of </a:t>
            </a:r>
            <a:r>
              <a:rPr lang="en-US" dirty="0" err="1" smtClean="0"/>
              <a:t>Nonclustered</a:t>
            </a:r>
            <a:r>
              <a:rPr lang="en-US" baseline="0" dirty="0" smtClean="0"/>
              <a:t> indexes on a table is 999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F74631-FA81-4ED7-A4FF-297F28D8614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1712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Say hello to the B-tree (Balanced) structure</a:t>
            </a:r>
            <a:r>
              <a:rPr lang="en-US" baseline="0" dirty="0" smtClean="0"/>
              <a:t> indexes use.</a:t>
            </a:r>
            <a:br>
              <a:rPr lang="en-US" baseline="0" dirty="0" smtClean="0"/>
            </a:br>
            <a:r>
              <a:rPr lang="en-US" baseline="0" dirty="0" smtClean="0"/>
              <a:t>The B-tree is used to navigate to the requested data page as fast as possible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F74631-FA81-4ED7-A4FF-297F28D8614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4580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You can only have </a:t>
            </a:r>
            <a:r>
              <a:rPr lang="en-US" b="1" dirty="0" smtClean="0"/>
              <a:t>one</a:t>
            </a:r>
            <a:r>
              <a:rPr lang="en-US" b="0" dirty="0" smtClean="0"/>
              <a:t> Clustered Index</a:t>
            </a:r>
            <a:r>
              <a:rPr lang="en-US" b="0" baseline="0" dirty="0" smtClean="0"/>
              <a:t> per table</a:t>
            </a:r>
            <a:br>
              <a:rPr lang="en-US" b="0" baseline="0" dirty="0" smtClean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F74631-FA81-4ED7-A4FF-297F28D8614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9336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Clustered indexes eliminates</a:t>
            </a:r>
            <a:r>
              <a:rPr lang="en-US" baseline="0" dirty="0" smtClean="0"/>
              <a:t> the extra step of navigating to the data pages themselves since row data is stored inside the B-tree.</a:t>
            </a:r>
            <a:br>
              <a:rPr lang="en-US" baseline="0" dirty="0" smtClean="0"/>
            </a:br>
            <a:r>
              <a:rPr lang="en-US" b="0" baseline="0" dirty="0" smtClean="0"/>
              <a:t>Main advantages of a Clustered Index is that data is stored ordered based on index key, this makes locating data much faster when querying for a range of ID’s for instance.</a:t>
            </a:r>
            <a:br>
              <a:rPr lang="en-US" b="0" baseline="0" dirty="0" smtClean="0"/>
            </a:br>
            <a:r>
              <a:rPr lang="en-US" b="0" baseline="0" dirty="0" smtClean="0"/>
              <a:t>(sequential, instead of random reads)</a:t>
            </a:r>
          </a:p>
          <a:p>
            <a:r>
              <a:rPr lang="en-US" b="0" baseline="0" dirty="0" smtClean="0"/>
              <a:t>See Demo 2 for performance difference between </a:t>
            </a:r>
            <a:r>
              <a:rPr lang="en-US" b="0" baseline="0" dirty="0" err="1" smtClean="0"/>
              <a:t>Nonclustered</a:t>
            </a:r>
            <a:r>
              <a:rPr lang="en-US" b="0" baseline="0" dirty="0" smtClean="0"/>
              <a:t> and Clustered index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F74631-FA81-4ED7-A4FF-297F28D8614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032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order of the Clustered Index must be maintained,</a:t>
            </a:r>
            <a:r>
              <a:rPr lang="en-US" baseline="0" dirty="0" smtClean="0"/>
              <a:t> thus adding rows in the middle of the index means moving pages around to make sure the order is correct</a:t>
            </a:r>
            <a:r>
              <a:rPr lang="en-US" b="0" baseline="0" dirty="0" smtClean="0"/>
              <a:t/>
            </a:r>
            <a:br>
              <a:rPr lang="en-US" b="0" baseline="0" dirty="0" smtClean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F74631-FA81-4ED7-A4FF-297F28D8614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6795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F74631-FA81-4ED7-A4FF-297F28D8614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915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Should the developer or DBA be responsible for indexing?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F74631-FA81-4ED7-A4FF-297F28D8614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4010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Narrow -&gt; Small</a:t>
            </a:r>
            <a:r>
              <a:rPr lang="en-US" baseline="0" dirty="0" smtClean="0"/>
              <a:t> in term of index key storage. The larger the index key the more levels inside the B-tree and the more storage is needed</a:t>
            </a:r>
            <a:br>
              <a:rPr lang="en-US" baseline="0" dirty="0" smtClean="0"/>
            </a:br>
            <a:r>
              <a:rPr lang="en-US" baseline="0" dirty="0" smtClean="0"/>
              <a:t>Unique -&gt; If the index key is not unique, SQL Server will add a </a:t>
            </a:r>
            <a:r>
              <a:rPr lang="en-US" baseline="0" dirty="0" err="1" smtClean="0"/>
              <a:t>uniqueifier</a:t>
            </a:r>
            <a:r>
              <a:rPr lang="en-US" baseline="0" dirty="0" smtClean="0"/>
              <a:t> (4 bytes) on duplicate entries</a:t>
            </a:r>
            <a:br>
              <a:rPr lang="en-US" baseline="0" dirty="0" smtClean="0"/>
            </a:br>
            <a:r>
              <a:rPr lang="en-US" baseline="0" dirty="0" smtClean="0"/>
              <a:t>Ever-increasing -&gt; Ever-increasing index keys means new rows will always be inserted at the end of the index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F74631-FA81-4ED7-A4FF-297F28D8614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1113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Selectivity means uniqueness.</a:t>
            </a:r>
            <a:br>
              <a:rPr lang="en-US" dirty="0" smtClean="0"/>
            </a:br>
            <a:r>
              <a:rPr lang="en-US" dirty="0" smtClean="0"/>
              <a:t>Low</a:t>
            </a:r>
            <a:r>
              <a:rPr lang="en-US" baseline="0" dirty="0" smtClean="0"/>
              <a:t> selectivity means high percent of matches, high selectivity low percent of matches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Demos for index</a:t>
            </a:r>
            <a:r>
              <a:rPr lang="en-US" baseline="0" dirty="0" smtClean="0"/>
              <a:t> key size and included columns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F74631-FA81-4ED7-A4FF-297F28D8614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121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F74631-FA81-4ED7-A4FF-297F28D8614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0270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Demos Index hints + DTA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F74631-FA81-4ED7-A4FF-297F28D8614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6471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Demo Index usage script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F74631-FA81-4ED7-A4FF-297F28D8614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7843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Demo Duplicate/Overlapping</a:t>
            </a:r>
            <a:r>
              <a:rPr lang="en-US" baseline="0" dirty="0" smtClean="0"/>
              <a:t> </a:t>
            </a:r>
            <a:r>
              <a:rPr lang="en-US" dirty="0" smtClean="0"/>
              <a:t>indexes script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F74631-FA81-4ED7-A4FF-297F28D8614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4895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F74631-FA81-4ED7-A4FF-297F28D8614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4010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External</a:t>
            </a:r>
            <a:r>
              <a:rPr lang="en-US" baseline="0" dirty="0" smtClean="0"/>
              <a:t> fragmentation means that more pages need to be read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F74631-FA81-4ED7-A4FF-297F28D8614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4008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External</a:t>
            </a:r>
            <a:r>
              <a:rPr lang="en-US" baseline="0" dirty="0" smtClean="0"/>
              <a:t> fragmentation means that more pages need to be read</a:t>
            </a:r>
            <a:br>
              <a:rPr lang="en-US" baseline="0" dirty="0" smtClean="0"/>
            </a:br>
            <a:r>
              <a:rPr lang="en-US" baseline="0" dirty="0" smtClean="0"/>
              <a:t>Guidelines are &gt;30% fragmentation = Rebuild, lower = Reorganize</a:t>
            </a:r>
            <a:br>
              <a:rPr lang="en-US" baseline="0" dirty="0" smtClean="0"/>
            </a:br>
            <a:r>
              <a:rPr lang="en-US" baseline="0" dirty="0" smtClean="0"/>
              <a:t>Rebuild creates an entire new index structure (offline operation in Standard)</a:t>
            </a:r>
            <a:br>
              <a:rPr lang="en-US" baseline="0" dirty="0" smtClean="0"/>
            </a:br>
            <a:r>
              <a:rPr lang="en-US" baseline="0" dirty="0" err="1" smtClean="0"/>
              <a:t>Reorginze</a:t>
            </a:r>
            <a:r>
              <a:rPr lang="en-US" baseline="0" dirty="0" smtClean="0"/>
              <a:t> fixed ordering in leaf level of the index</a:t>
            </a:r>
            <a:br>
              <a:rPr lang="en-US" baseline="0" dirty="0" smtClean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F74631-FA81-4ED7-A4FF-297F28D8614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3413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smtClean="0"/>
              <a:t>Platinum: Capgemini, </a:t>
            </a:r>
            <a:r>
              <a:rPr lang="nb-NO" dirty="0" err="1" smtClean="0"/>
              <a:t>Evry</a:t>
            </a:r>
            <a:endParaRPr lang="nb-NO" dirty="0" smtClean="0"/>
          </a:p>
          <a:p>
            <a:r>
              <a:rPr lang="nb-NO" dirty="0" smtClean="0"/>
              <a:t>Gold: Microsoft, </a:t>
            </a:r>
            <a:r>
              <a:rPr lang="nb-NO" dirty="0" err="1" smtClean="0"/>
              <a:t>Webstep</a:t>
            </a:r>
            <a:r>
              <a:rPr lang="nb-NO" dirty="0" smtClean="0"/>
              <a:t>, </a:t>
            </a:r>
            <a:r>
              <a:rPr lang="nb-NO" dirty="0" err="1" smtClean="0"/>
              <a:t>Glasspaper</a:t>
            </a:r>
            <a:r>
              <a:rPr lang="nb-NO" dirty="0" smtClean="0"/>
              <a:t>, </a:t>
            </a:r>
            <a:r>
              <a:rPr lang="nb-NO" dirty="0" err="1" smtClean="0"/>
              <a:t>NextBridge</a:t>
            </a:r>
            <a:r>
              <a:rPr lang="nb-NO" dirty="0" smtClean="0"/>
              <a:t>, </a:t>
            </a:r>
            <a:r>
              <a:rPr lang="nb-NO" dirty="0" err="1" smtClean="0"/>
              <a:t>Violin</a:t>
            </a:r>
            <a:r>
              <a:rPr lang="nb-NO" dirty="0" smtClean="0"/>
              <a:t> Memory</a:t>
            </a:r>
          </a:p>
          <a:p>
            <a:r>
              <a:rPr lang="nb-NO" dirty="0" smtClean="0"/>
              <a:t>Silver: Computas</a:t>
            </a:r>
          </a:p>
          <a:p>
            <a:r>
              <a:rPr lang="nb-NO" dirty="0" err="1" smtClean="0"/>
              <a:t>Bronze</a:t>
            </a:r>
            <a:r>
              <a:rPr lang="nb-NO" dirty="0" smtClean="0"/>
              <a:t>: </a:t>
            </a:r>
            <a:r>
              <a:rPr lang="nb-NO" dirty="0" err="1" smtClean="0"/>
              <a:t>Varigence</a:t>
            </a:r>
            <a:r>
              <a:rPr lang="nb-NO" dirty="0" smtClean="0"/>
              <a:t>,</a:t>
            </a:r>
            <a:r>
              <a:rPr lang="nb-NO" baseline="0" dirty="0" smtClean="0"/>
              <a:t> </a:t>
            </a:r>
            <a:r>
              <a:rPr lang="nb-NO" baseline="0" dirty="0" err="1" smtClean="0"/>
              <a:t>SQLSentry</a:t>
            </a:r>
            <a:r>
              <a:rPr lang="nb-NO" baseline="0" dirty="0" smtClean="0"/>
              <a:t>, </a:t>
            </a:r>
            <a:r>
              <a:rPr lang="nb-NO" baseline="0" dirty="0" err="1" smtClean="0"/>
              <a:t>Cozyroc</a:t>
            </a:r>
            <a:endParaRPr lang="nb-NO" baseline="0" dirty="0" smtClean="0"/>
          </a:p>
          <a:p>
            <a:r>
              <a:rPr lang="nb-NO" baseline="0" dirty="0" err="1" smtClean="0"/>
              <a:t>Swag</a:t>
            </a:r>
            <a:r>
              <a:rPr lang="nb-NO" baseline="0" dirty="0" smtClean="0"/>
              <a:t>: </a:t>
            </a:r>
            <a:r>
              <a:rPr lang="nb-NO" baseline="0" dirty="0" err="1" smtClean="0"/>
              <a:t>ApexSQL</a:t>
            </a:r>
            <a:r>
              <a:rPr lang="nb-NO" baseline="0" dirty="0" smtClean="0"/>
              <a:t>, SQL Cruise, </a:t>
            </a:r>
            <a:r>
              <a:rPr lang="nb-NO" baseline="0" dirty="0" err="1" smtClean="0"/>
              <a:t>Pluralsight</a:t>
            </a:r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58C0D-5023-4A24-9F5B-E9E4526624AC}" type="slidenum">
              <a:rPr lang="nb-NO" smtClean="0"/>
              <a:t>35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85612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547"/>
            <a:ext cx="9143999" cy="675860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0825" y="188912"/>
            <a:ext cx="8640000" cy="1800000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5" y="1972118"/>
            <a:ext cx="8640000" cy="1800000"/>
          </a:xfrm>
        </p:spPr>
        <p:txBody>
          <a:bodyPr>
            <a:normAutofit/>
          </a:bodyPr>
          <a:lstStyle>
            <a:lvl1pPr marL="0" indent="0" algn="l">
              <a:buNone/>
              <a:defRPr sz="3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3034" y="5649926"/>
            <a:ext cx="2247900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7303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Font typeface="Wingdings" charset="2"/>
              <a:buChar char="§"/>
              <a:defRPr>
                <a:solidFill>
                  <a:schemeClr val="tx2"/>
                </a:solidFill>
              </a:defRPr>
            </a:lvl1pPr>
            <a:lvl2pPr marL="742950" indent="-285750">
              <a:buFont typeface="Wingdings" charset="2"/>
              <a:buChar char="§"/>
              <a:defRPr>
                <a:solidFill>
                  <a:srgbClr val="474947"/>
                </a:solidFill>
              </a:defRPr>
            </a:lvl2pPr>
            <a:lvl3pPr marL="1143000" indent="-228600">
              <a:buFont typeface="Wingdings" charset="2"/>
              <a:buChar char="§"/>
              <a:defRPr>
                <a:solidFill>
                  <a:srgbClr val="474947"/>
                </a:solidFill>
              </a:defRPr>
            </a:lvl3pPr>
            <a:lvl4pPr marL="1600200" indent="-228600">
              <a:buFont typeface="Wingdings" charset="2"/>
              <a:buChar char="§"/>
              <a:defRPr>
                <a:solidFill>
                  <a:srgbClr val="474947"/>
                </a:solidFill>
              </a:defRPr>
            </a:lvl4pPr>
            <a:lvl5pPr marL="2057400" indent="-228600">
              <a:buFont typeface="Wingdings" charset="2"/>
              <a:buChar char="§"/>
              <a:defRPr>
                <a:solidFill>
                  <a:srgbClr val="474947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1406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3175" y="3962322"/>
            <a:ext cx="8640000" cy="1440000"/>
          </a:xfrm>
        </p:spPr>
        <p:txBody>
          <a:bodyPr anchor="t"/>
          <a:lstStyle>
            <a:lvl1pPr algn="l">
              <a:defRPr sz="4000" b="0" i="0" cap="all">
                <a:latin typeface="Arial"/>
                <a:cs typeface="Arial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5525" y="2522322"/>
            <a:ext cx="8640000" cy="144000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05963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0825" y="1269338"/>
            <a:ext cx="4320000" cy="486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269338"/>
            <a:ext cx="4320000" cy="486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9830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5377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69863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" y="6136729"/>
            <a:ext cx="9143995" cy="72127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3175" y="188913"/>
            <a:ext cx="864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0825" y="1282467"/>
            <a:ext cx="8640000" cy="48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1260044" y="122030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002" y="6136729"/>
            <a:ext cx="1480173" cy="721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766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charset="2"/>
        <a:buChar char="§"/>
        <a:defRPr sz="30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Wingdings" charset="2"/>
        <a:buChar char="§"/>
        <a:defRPr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Wingdings" charset="2"/>
        <a:buChar char="§"/>
        <a:defRPr sz="22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Wingdings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Wingdings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5602" userDrawn="1">
          <p15:clr>
            <a:srgbClr val="F26B43"/>
          </p15:clr>
        </p15:guide>
        <p15:guide id="4" pos="158" userDrawn="1">
          <p15:clr>
            <a:srgbClr val="F26B43"/>
          </p15:clr>
        </p15:guide>
        <p15:guide id="5" orient="horz" pos="119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11" Type="http://schemas.openxmlformats.org/officeDocument/2006/relationships/image" Target="../media/image12.jp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evdlaar" TargetMode="External"/><Relationship Id="rId7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hyperlink" Target="http://www.dotnine.nl/" TargetMode="External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ola.hallengren.com/sql-server-index-and-statistics-maintenance.html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17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11" Type="http://schemas.openxmlformats.org/officeDocument/2006/relationships/image" Target="../media/image12.jp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8408" y="597500"/>
            <a:ext cx="8203153" cy="1470025"/>
          </a:xfrm>
        </p:spPr>
        <p:txBody>
          <a:bodyPr/>
          <a:lstStyle/>
          <a:p>
            <a:r>
              <a:rPr lang="en-US" dirty="0" smtClean="0"/>
              <a:t>Efficient Indexing Strategies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8408" y="2067525"/>
            <a:ext cx="7925349" cy="1752600"/>
          </a:xfrm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60678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Thank you to our sponsors!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127" y="1179313"/>
            <a:ext cx="3493698" cy="98636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967" y="1362466"/>
            <a:ext cx="1760146" cy="9123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0725" y="2897355"/>
            <a:ext cx="1713407" cy="3045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5084" y="2799274"/>
            <a:ext cx="2418350" cy="50069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937" y="3415999"/>
            <a:ext cx="1932553" cy="63368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102" y="3543904"/>
            <a:ext cx="1457276" cy="45682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2" t="24855" r="9762" b="24488"/>
          <a:stretch/>
        </p:blipFill>
        <p:spPr>
          <a:xfrm>
            <a:off x="1000122" y="2762828"/>
            <a:ext cx="2477211" cy="57358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25" y="5398569"/>
            <a:ext cx="1440000" cy="49040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825" y="5358545"/>
            <a:ext cx="1440000" cy="475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6825" y="5563190"/>
            <a:ext cx="1440000" cy="21831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9" t="10768" r="5405" b="12896"/>
          <a:stretch/>
        </p:blipFill>
        <p:spPr>
          <a:xfrm>
            <a:off x="5434825" y="5527493"/>
            <a:ext cx="1080000" cy="23255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1" t="19022" b="17292"/>
          <a:stretch/>
        </p:blipFill>
        <p:spPr>
          <a:xfrm>
            <a:off x="7810825" y="5551974"/>
            <a:ext cx="1080000" cy="2216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2825" y="5283770"/>
            <a:ext cx="720000" cy="7200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084" y="4359042"/>
            <a:ext cx="2160000" cy="69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42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me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Enrico van de Laar</a:t>
            </a:r>
          </a:p>
          <a:p>
            <a:r>
              <a:rPr lang="nl-NL" dirty="0"/>
              <a:t>Microsoft SQL Server MVP</a:t>
            </a:r>
          </a:p>
          <a:p>
            <a:r>
              <a:rPr lang="nl-NL" dirty="0"/>
              <a:t>Database Technology </a:t>
            </a:r>
            <a:r>
              <a:rPr lang="nl-NL" dirty="0" smtClean="0"/>
              <a:t>Specialist</a:t>
            </a:r>
          </a:p>
          <a:p>
            <a:r>
              <a:rPr lang="nl-NL" dirty="0" smtClean="0"/>
              <a:t>CEO DotNine SQL Server Training</a:t>
            </a:r>
            <a:endParaRPr lang="nl-NL" dirty="0"/>
          </a:p>
          <a:p>
            <a:r>
              <a:rPr lang="nl-NL" dirty="0" err="1"/>
              <a:t>Blogger</a:t>
            </a:r>
            <a:endParaRPr lang="nl-NL" dirty="0"/>
          </a:p>
          <a:p>
            <a:r>
              <a:rPr lang="nl-NL" dirty="0" smtClean="0"/>
              <a:t>Author</a:t>
            </a:r>
            <a:endParaRPr lang="en-US" dirty="0"/>
          </a:p>
        </p:txBody>
      </p:sp>
      <p:pic>
        <p:nvPicPr>
          <p:cNvPr id="4" name="Picture 4" descr="http://dublincore.org/images/twitt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194" y="4873645"/>
            <a:ext cx="576470" cy="576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39664" y="4968204"/>
            <a:ext cx="2199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hlinkClick r:id="rId3"/>
              </a:rPr>
              <a:t>@evdlaar</a:t>
            </a:r>
            <a:endParaRPr lang="nl-NL" sz="2000" dirty="0"/>
          </a:p>
        </p:txBody>
      </p:sp>
      <p:pic>
        <p:nvPicPr>
          <p:cNvPr id="6" name="Picture 6" descr="http://upload.wikimedia.org/wikipedia/commons/thumb/7/70/Applications-internet.svg/250px-Applications-internet.sv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05" y="5450115"/>
            <a:ext cx="439048" cy="439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935489" y="5450115"/>
            <a:ext cx="2561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hlinkClick r:id="rId5"/>
              </a:rPr>
              <a:t>http://www.dotnine.nl</a:t>
            </a:r>
            <a:endParaRPr lang="nl-NL" sz="20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558" y="1282954"/>
            <a:ext cx="2001691" cy="303313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971" y="559052"/>
            <a:ext cx="914402" cy="144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34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	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are indexes and why use them?</a:t>
            </a:r>
          </a:p>
          <a:p>
            <a:r>
              <a:rPr lang="en-US" dirty="0" smtClean="0"/>
              <a:t>The double-edged sword called indexing</a:t>
            </a:r>
          </a:p>
          <a:p>
            <a:r>
              <a:rPr lang="en-US" dirty="0" smtClean="0"/>
              <a:t>Index types &amp; internals</a:t>
            </a:r>
          </a:p>
          <a:p>
            <a:r>
              <a:rPr lang="en-US" dirty="0" smtClean="0"/>
              <a:t>Designing efficient and effective indexes</a:t>
            </a:r>
          </a:p>
          <a:p>
            <a:r>
              <a:rPr lang="en-US" dirty="0" smtClean="0"/>
              <a:t>Index analysis</a:t>
            </a:r>
          </a:p>
          <a:p>
            <a:r>
              <a:rPr lang="en-US" dirty="0" smtClean="0"/>
              <a:t>Index maintenance	</a:t>
            </a:r>
          </a:p>
        </p:txBody>
      </p:sp>
    </p:spTree>
    <p:extLst>
      <p:ext uri="{BB962C8B-B14F-4D97-AF65-F5344CB8AC3E}">
        <p14:creationId xmlns:p14="http://schemas.microsoft.com/office/powerpoint/2010/main" val="3880213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245860" y="2572113"/>
            <a:ext cx="8640000" cy="720000"/>
          </a:xfrm>
        </p:spPr>
        <p:txBody>
          <a:bodyPr/>
          <a:lstStyle/>
          <a:p>
            <a:r>
              <a:rPr lang="en-US" dirty="0" smtClean="0"/>
              <a:t>What are indexes and why use them?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324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indexes and why use them?	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Before we get started…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15224" y="2453490"/>
            <a:ext cx="75958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/>
              <a:t>Indexes </a:t>
            </a:r>
            <a:r>
              <a:rPr lang="en-GB" dirty="0"/>
              <a:t>and </a:t>
            </a:r>
            <a:r>
              <a:rPr lang="en-GB" b="1" i="1" dirty="0"/>
              <a:t>indices </a:t>
            </a:r>
            <a:r>
              <a:rPr lang="en-GB" dirty="0"/>
              <a:t>are both accepted and widely used plurals of the noun </a:t>
            </a:r>
            <a:r>
              <a:rPr lang="en-GB" i="1" dirty="0"/>
              <a:t>index</a:t>
            </a:r>
            <a:r>
              <a:rPr lang="en-GB" dirty="0"/>
              <a:t>. Both appear throughout the English-speaking world, but </a:t>
            </a:r>
            <a:r>
              <a:rPr lang="en-GB" i="1" dirty="0" smtClean="0"/>
              <a:t>indices </a:t>
            </a:r>
            <a:r>
              <a:rPr lang="en-GB" dirty="0" smtClean="0"/>
              <a:t>prevails</a:t>
            </a:r>
            <a:r>
              <a:rPr lang="en-GB" dirty="0"/>
              <a:t> in varieties of English from outside North America, while </a:t>
            </a:r>
            <a:r>
              <a:rPr lang="en-GB" i="1" dirty="0"/>
              <a:t>indexes </a:t>
            </a:r>
            <a:r>
              <a:rPr lang="en-GB" dirty="0"/>
              <a:t>is more common in American and Canadian English. Meanwhile, </a:t>
            </a:r>
            <a:r>
              <a:rPr lang="en-GB" i="1" dirty="0"/>
              <a:t>indices </a:t>
            </a:r>
            <a:r>
              <a:rPr lang="en-GB" dirty="0"/>
              <a:t>is generally preferred in mathematical, financial, and technical contexts, while </a:t>
            </a:r>
            <a:r>
              <a:rPr lang="en-GB" i="1" dirty="0"/>
              <a:t>indexes </a:t>
            </a:r>
            <a:r>
              <a:rPr lang="en-GB" dirty="0"/>
              <a:t>is relatively common in general usage.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53175" y="2005742"/>
            <a:ext cx="55976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 smtClean="0"/>
              <a:t>“</a:t>
            </a:r>
            <a:endParaRPr lang="en-US" sz="8800" dirty="0"/>
          </a:p>
        </p:txBody>
      </p:sp>
      <p:sp>
        <p:nvSpPr>
          <p:cNvPr id="4" name="TextBox 3"/>
          <p:cNvSpPr txBox="1"/>
          <p:nvPr/>
        </p:nvSpPr>
        <p:spPr>
          <a:xfrm>
            <a:off x="8031196" y="3712467"/>
            <a:ext cx="55976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 smtClean="0"/>
              <a:t>”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2526156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indexes and why use them?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000" dirty="0" smtClean="0"/>
          </a:p>
          <a:p>
            <a:pPr marL="0" indent="0" algn="ctr">
              <a:buNone/>
            </a:pPr>
            <a:endParaRPr lang="en-US" sz="4000" dirty="0"/>
          </a:p>
          <a:p>
            <a:pPr marL="0" indent="0" algn="ctr">
              <a:buNone/>
            </a:pPr>
            <a:r>
              <a:rPr lang="en-US" sz="4400" dirty="0" smtClean="0"/>
              <a:t>Indexes are used to speed up </a:t>
            </a:r>
            <a:r>
              <a:rPr lang="en-US" sz="4400" b="1" dirty="0" smtClean="0"/>
              <a:t>read</a:t>
            </a:r>
            <a:r>
              <a:rPr lang="en-US" sz="4400" dirty="0" smtClean="0"/>
              <a:t> access to row data</a:t>
            </a:r>
          </a:p>
        </p:txBody>
      </p:sp>
    </p:spTree>
    <p:extLst>
      <p:ext uri="{BB962C8B-B14F-4D97-AF65-F5344CB8AC3E}">
        <p14:creationId xmlns:p14="http://schemas.microsoft.com/office/powerpoint/2010/main" val="2672578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245860" y="2572113"/>
            <a:ext cx="8640000" cy="720000"/>
          </a:xfrm>
        </p:spPr>
        <p:txBody>
          <a:bodyPr/>
          <a:lstStyle/>
          <a:p>
            <a:r>
              <a:rPr lang="en-US" dirty="0"/>
              <a:t>The double-edged sword called indexing</a:t>
            </a:r>
          </a:p>
        </p:txBody>
      </p:sp>
    </p:spTree>
    <p:extLst>
      <p:ext uri="{BB962C8B-B14F-4D97-AF65-F5344CB8AC3E}">
        <p14:creationId xmlns:p14="http://schemas.microsoft.com/office/powerpoint/2010/main" val="3215258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double-edged sword called indexing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Did you notice the bold </a:t>
            </a:r>
            <a:r>
              <a:rPr lang="en-US" b="1" dirty="0" smtClean="0"/>
              <a:t>read</a:t>
            </a:r>
            <a:r>
              <a:rPr lang="en-US" dirty="0" smtClean="0"/>
              <a:t> access in the previous slide?</a:t>
            </a:r>
          </a:p>
          <a:p>
            <a:r>
              <a:rPr lang="en-US" dirty="0" smtClean="0"/>
              <a:t>For reading row data indexes are </a:t>
            </a:r>
            <a:r>
              <a:rPr lang="en-US" b="1" dirty="0" smtClean="0"/>
              <a:t>awesome</a:t>
            </a:r>
            <a:r>
              <a:rPr lang="en-US" dirty="0" smtClean="0"/>
              <a:t>!</a:t>
            </a:r>
          </a:p>
          <a:p>
            <a:r>
              <a:rPr lang="en-US" dirty="0" smtClean="0"/>
              <a:t>For modifying row data indexes are </a:t>
            </a:r>
            <a:r>
              <a:rPr lang="en-US" b="1" dirty="0" smtClean="0"/>
              <a:t>evil</a:t>
            </a:r>
            <a:r>
              <a:rPr lang="en-US" dirty="0" smtClean="0"/>
              <a:t>!</a:t>
            </a:r>
          </a:p>
          <a:p>
            <a:r>
              <a:rPr lang="en-US" dirty="0" smtClean="0"/>
              <a:t>This introduces an interesting dilemma…</a:t>
            </a:r>
          </a:p>
        </p:txBody>
      </p:sp>
      <p:pic>
        <p:nvPicPr>
          <p:cNvPr id="1026" name="Picture 2" descr="http://neven1.typepad.com/.a/6a0133f03a1e37970b01348416951d970c-p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9057" y="4092165"/>
            <a:ext cx="1387016" cy="185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816182" y="4128317"/>
            <a:ext cx="1502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smtClean="0"/>
              <a:t>To index</a:t>
            </a:r>
            <a:endParaRPr lang="en-US" sz="2400" b="1" i="1" dirty="0"/>
          </a:p>
        </p:txBody>
      </p:sp>
      <p:sp>
        <p:nvSpPr>
          <p:cNvPr id="6" name="TextBox 5"/>
          <p:cNvSpPr txBox="1"/>
          <p:nvPr/>
        </p:nvSpPr>
        <p:spPr>
          <a:xfrm>
            <a:off x="4706073" y="5354119"/>
            <a:ext cx="26725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smtClean="0"/>
              <a:t>Or not to index</a:t>
            </a:r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96903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double-edged sword called indexing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250825" y="1282467"/>
            <a:ext cx="8640000" cy="700242"/>
          </a:xfrm>
        </p:spPr>
        <p:txBody>
          <a:bodyPr/>
          <a:lstStyle/>
          <a:p>
            <a:r>
              <a:rPr lang="en-US" dirty="0" smtClean="0"/>
              <a:t>The answer? </a:t>
            </a:r>
            <a:endParaRPr lang="en-US" b="1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2565482" y="2706986"/>
            <a:ext cx="40106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“It depends</a:t>
            </a:r>
            <a:r>
              <a:rPr lang="en-US" sz="4000" b="1" dirty="0" smtClean="0"/>
              <a:t>….”</a:t>
            </a:r>
            <a:endParaRPr lang="en-US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1104523" y="47349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359652" y="2706986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©</a:t>
            </a:r>
          </a:p>
        </p:txBody>
      </p:sp>
    </p:spTree>
    <p:extLst>
      <p:ext uri="{BB962C8B-B14F-4D97-AF65-F5344CB8AC3E}">
        <p14:creationId xmlns:p14="http://schemas.microsoft.com/office/powerpoint/2010/main" val="3505757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double-edged sword called indexing</a:t>
            </a:r>
            <a:endParaRPr lang="en-US" dirty="0"/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0564084"/>
              </p:ext>
            </p:extLst>
          </p:nvPr>
        </p:nvGraphicFramePr>
        <p:xfrm>
          <a:off x="250825" y="1282702"/>
          <a:ext cx="8640762" cy="267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254"/>
                <a:gridCol w="2880254"/>
                <a:gridCol w="2880254"/>
              </a:tblGrid>
              <a:tr h="376080">
                <a:tc>
                  <a:txBody>
                    <a:bodyPr/>
                    <a:lstStyle/>
                    <a:p>
                      <a:r>
                        <a:rPr lang="en-US" dirty="0" smtClean="0"/>
                        <a:t>The Good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 Bad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 Ugly</a:t>
                      </a:r>
                      <a:endParaRPr lang="en-US" dirty="0"/>
                    </a:p>
                  </a:txBody>
                  <a:tcPr/>
                </a:tc>
              </a:tr>
              <a:tr h="376080">
                <a:tc>
                  <a:txBody>
                    <a:bodyPr/>
                    <a:lstStyle/>
                    <a:p>
                      <a:r>
                        <a:rPr lang="en-US" dirty="0" smtClean="0"/>
                        <a:t>Faster read queries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Slower modification queries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Indexes need maintenance</a:t>
                      </a:r>
                      <a:endParaRPr lang="en-US" dirty="0"/>
                    </a:p>
                  </a:txBody>
                  <a:tcPr/>
                </a:tc>
              </a:tr>
              <a:tr h="376080">
                <a:tc>
                  <a:txBody>
                    <a:bodyPr/>
                    <a:lstStyle/>
                    <a:p>
                      <a:r>
                        <a:rPr lang="en-US" dirty="0" smtClean="0"/>
                        <a:t>Less storage</a:t>
                      </a:r>
                      <a:r>
                        <a:rPr lang="en-US" baseline="0" dirty="0" smtClean="0"/>
                        <a:t> IO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r>
                        <a:rPr lang="en-US" baseline="0" dirty="0" smtClean="0"/>
                        <a:t> order can lead to bad execution plans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Indexes take up additional space</a:t>
                      </a:r>
                      <a:endParaRPr lang="en-US" dirty="0"/>
                    </a:p>
                  </a:txBody>
                  <a:tcPr/>
                </a:tc>
              </a:tr>
              <a:tr h="376080">
                <a:tc>
                  <a:txBody>
                    <a:bodyPr/>
                    <a:lstStyle/>
                    <a:p>
                      <a:r>
                        <a:rPr lang="en-US" dirty="0" smtClean="0"/>
                        <a:t>Potentially</a:t>
                      </a:r>
                      <a:r>
                        <a:rPr lang="en-US" baseline="0" dirty="0" smtClean="0"/>
                        <a:t> less locking and blocking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Indexes are</a:t>
                      </a:r>
                      <a:r>
                        <a:rPr lang="en-US" baseline="0" dirty="0" smtClean="0"/>
                        <a:t> not necessarily used</a:t>
                      </a:r>
                      <a:endParaRPr lang="en-US" dirty="0"/>
                    </a:p>
                  </a:txBody>
                  <a:tcPr/>
                </a:tc>
              </a:tr>
              <a:tr h="3760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4523" y="47349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Content Placeholder 18"/>
          <p:cNvSpPr txBox="1">
            <a:spLocks/>
          </p:cNvSpPr>
          <p:nvPr/>
        </p:nvSpPr>
        <p:spPr>
          <a:xfrm>
            <a:off x="253175" y="4896064"/>
            <a:ext cx="8640000" cy="700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Wingdings" charset="2"/>
              <a:buChar char="§"/>
              <a:defRPr sz="3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Wingdings" charset="2"/>
              <a:buChar char="§"/>
              <a:defRPr sz="2600" kern="1200">
                <a:solidFill>
                  <a:srgbClr val="4749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Wingdings" charset="2"/>
              <a:buChar char="§"/>
              <a:defRPr sz="2200" kern="1200">
                <a:solidFill>
                  <a:srgbClr val="474947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Wingdings" charset="2"/>
              <a:buChar char="§"/>
              <a:defRPr sz="2000" kern="1200">
                <a:solidFill>
                  <a:srgbClr val="474947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Wingdings" charset="2"/>
              <a:buChar char="§"/>
              <a:defRPr sz="1800" kern="1200">
                <a:solidFill>
                  <a:srgbClr val="474947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Designing an indexing strategy is an art!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617590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245860" y="2572113"/>
            <a:ext cx="8640000" cy="720000"/>
          </a:xfrm>
        </p:spPr>
        <p:txBody>
          <a:bodyPr/>
          <a:lstStyle/>
          <a:p>
            <a:pPr algn="ctr"/>
            <a:r>
              <a:rPr lang="en-US" dirty="0"/>
              <a:t>Index types and internals	</a:t>
            </a:r>
          </a:p>
        </p:txBody>
      </p:sp>
    </p:spTree>
    <p:extLst>
      <p:ext uri="{BB962C8B-B14F-4D97-AF65-F5344CB8AC3E}">
        <p14:creationId xmlns:p14="http://schemas.microsoft.com/office/powerpoint/2010/main" val="3688213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 types and internals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Hash</a:t>
            </a:r>
          </a:p>
          <a:p>
            <a:r>
              <a:rPr lang="en-US" dirty="0" smtClean="0"/>
              <a:t>Memory-optimized </a:t>
            </a:r>
            <a:r>
              <a:rPr lang="en-US" dirty="0" err="1" smtClean="0"/>
              <a:t>nonclustered</a:t>
            </a:r>
            <a:endParaRPr lang="en-US" dirty="0" smtClean="0"/>
          </a:p>
          <a:p>
            <a:r>
              <a:rPr lang="en-US" dirty="0" smtClean="0"/>
              <a:t>Clustered</a:t>
            </a:r>
          </a:p>
          <a:p>
            <a:r>
              <a:rPr lang="en-US" dirty="0" err="1" smtClean="0"/>
              <a:t>Nonclustered</a:t>
            </a:r>
            <a:endParaRPr lang="en-US" dirty="0"/>
          </a:p>
          <a:p>
            <a:r>
              <a:rPr lang="en-US" dirty="0" err="1" smtClean="0"/>
              <a:t>Columnstore</a:t>
            </a:r>
            <a:endParaRPr lang="en-US" dirty="0" smtClean="0"/>
          </a:p>
          <a:p>
            <a:r>
              <a:rPr lang="en-US" dirty="0" smtClean="0"/>
              <a:t>Filtered</a:t>
            </a:r>
          </a:p>
          <a:p>
            <a:r>
              <a:rPr lang="en-US" dirty="0" smtClean="0"/>
              <a:t>Spatial</a:t>
            </a:r>
          </a:p>
          <a:p>
            <a:r>
              <a:rPr lang="en-US" dirty="0" smtClean="0"/>
              <a:t>XML</a:t>
            </a:r>
          </a:p>
          <a:p>
            <a:r>
              <a:rPr lang="en-US" dirty="0" smtClean="0"/>
              <a:t>Full-Text</a:t>
            </a:r>
          </a:p>
          <a:p>
            <a:r>
              <a:rPr lang="en-US" dirty="0" smtClean="0"/>
              <a:t>Heap (table without clustered index)</a:t>
            </a:r>
          </a:p>
        </p:txBody>
      </p:sp>
    </p:spTree>
    <p:extLst>
      <p:ext uri="{BB962C8B-B14F-4D97-AF65-F5344CB8AC3E}">
        <p14:creationId xmlns:p14="http://schemas.microsoft.com/office/powerpoint/2010/main" val="4103815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 types and internals	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Heaps</a:t>
            </a:r>
          </a:p>
          <a:p>
            <a:r>
              <a:rPr lang="en-US" dirty="0" smtClean="0"/>
              <a:t>A Heap is a table without a clustered index</a:t>
            </a:r>
          </a:p>
          <a:p>
            <a:r>
              <a:rPr lang="en-US" dirty="0" smtClean="0"/>
              <a:t>Inside a heap row data is not stored in any order</a:t>
            </a:r>
          </a:p>
          <a:p>
            <a:r>
              <a:rPr lang="en-US" dirty="0" smtClean="0"/>
              <a:t>When querying against a Heap, the whole table must be read by SQL Server (Table Scan)</a:t>
            </a:r>
          </a:p>
        </p:txBody>
      </p:sp>
    </p:spTree>
    <p:extLst>
      <p:ext uri="{BB962C8B-B14F-4D97-AF65-F5344CB8AC3E}">
        <p14:creationId xmlns:p14="http://schemas.microsoft.com/office/powerpoint/2010/main" val="3972326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 types and internals	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250825" y="1282467"/>
            <a:ext cx="8640000" cy="6006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Heaps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8766" y="1883121"/>
            <a:ext cx="4864117" cy="36059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237022" y="5178581"/>
            <a:ext cx="1077363" cy="199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Row </a:t>
            </a:r>
            <a:r>
              <a:rPr lang="en-US" sz="1400" i="1" dirty="0" smtClean="0"/>
              <a:t>x</a:t>
            </a:r>
            <a:endParaRPr lang="en-US" sz="1400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2202140" y="5642181"/>
            <a:ext cx="2034882" cy="9053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5314385" y="5637655"/>
            <a:ext cx="2034882" cy="9053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638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 types and internals	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 smtClean="0"/>
              <a:t>Nonclustered</a:t>
            </a:r>
            <a:r>
              <a:rPr lang="en-US" b="1" dirty="0" smtClean="0"/>
              <a:t> Index</a:t>
            </a:r>
          </a:p>
          <a:p>
            <a:r>
              <a:rPr lang="en-US" dirty="0" err="1" smtClean="0"/>
              <a:t>Nonclustered</a:t>
            </a:r>
            <a:r>
              <a:rPr lang="en-US" dirty="0" smtClean="0"/>
              <a:t> Indexes can be created on a Heap</a:t>
            </a:r>
          </a:p>
          <a:p>
            <a:r>
              <a:rPr lang="en-US" dirty="0" err="1" smtClean="0"/>
              <a:t>Nonclustered</a:t>
            </a:r>
            <a:r>
              <a:rPr lang="en-US" dirty="0" smtClean="0"/>
              <a:t> Indexes have their own index structure next to the data pages</a:t>
            </a:r>
          </a:p>
          <a:p>
            <a:r>
              <a:rPr lang="en-US" dirty="0" smtClean="0"/>
              <a:t>If a Heap is just a pile of data pages, a </a:t>
            </a:r>
            <a:r>
              <a:rPr lang="en-US" dirty="0" err="1" smtClean="0"/>
              <a:t>Nonclustered</a:t>
            </a:r>
            <a:r>
              <a:rPr lang="en-US" dirty="0" smtClean="0"/>
              <a:t> Index acts like a book index, pointing to the data page</a:t>
            </a:r>
          </a:p>
        </p:txBody>
      </p:sp>
    </p:spTree>
    <p:extLst>
      <p:ext uri="{BB962C8B-B14F-4D97-AF65-F5344CB8AC3E}">
        <p14:creationId xmlns:p14="http://schemas.microsoft.com/office/powerpoint/2010/main" val="4286070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 types and internals	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250825" y="1282467"/>
            <a:ext cx="8640000" cy="6006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 smtClean="0"/>
              <a:t>Nonclustered</a:t>
            </a:r>
            <a:r>
              <a:rPr lang="en-US" b="1" dirty="0" smtClean="0"/>
              <a:t> Index</a:t>
            </a:r>
          </a:p>
        </p:txBody>
      </p:sp>
      <p:sp>
        <p:nvSpPr>
          <p:cNvPr id="3" name="Rectangle 2"/>
          <p:cNvSpPr/>
          <p:nvPr/>
        </p:nvSpPr>
        <p:spPr>
          <a:xfrm>
            <a:off x="461728" y="1883121"/>
            <a:ext cx="7423842" cy="8691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461728" y="2832226"/>
            <a:ext cx="7423842" cy="8691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461727" y="3781331"/>
            <a:ext cx="7423842" cy="8691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461726" y="4730436"/>
            <a:ext cx="7423842" cy="8691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305" y="1971774"/>
            <a:ext cx="548683" cy="691826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304" y="2912199"/>
            <a:ext cx="548683" cy="69182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494" y="2912199"/>
            <a:ext cx="548683" cy="691826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742" y="2912199"/>
            <a:ext cx="548683" cy="69182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3341" y="3843207"/>
            <a:ext cx="548683" cy="691826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6424" y="3843207"/>
            <a:ext cx="548683" cy="69182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224" y="3852634"/>
            <a:ext cx="548683" cy="691826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384" y="3843207"/>
            <a:ext cx="548683" cy="691826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015" y="3843207"/>
            <a:ext cx="548683" cy="691826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145" y="3852634"/>
            <a:ext cx="548683" cy="691826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049383" y="4819089"/>
            <a:ext cx="548683" cy="691826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968304" y="4819089"/>
            <a:ext cx="548683" cy="691826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883933" y="4819089"/>
            <a:ext cx="548683" cy="691826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830303" y="4810409"/>
            <a:ext cx="548683" cy="69182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809252" y="4810409"/>
            <a:ext cx="548683" cy="6918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 rot="5400000">
            <a:off x="7871892" y="2176339"/>
            <a:ext cx="4491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root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 rot="5400000">
            <a:off x="7582551" y="3128292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intermediate</a:t>
            </a:r>
            <a:endParaRPr lang="en-US" sz="1400" dirty="0"/>
          </a:p>
        </p:txBody>
      </p:sp>
      <p:sp>
        <p:nvSpPr>
          <p:cNvPr id="38" name="TextBox 37"/>
          <p:cNvSpPr txBox="1"/>
          <p:nvPr/>
        </p:nvSpPr>
        <p:spPr>
          <a:xfrm rot="5400000">
            <a:off x="7875227" y="4077398"/>
            <a:ext cx="4315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leaf</a:t>
            </a:r>
            <a:endParaRPr lang="en-US" sz="1200" dirty="0"/>
          </a:p>
        </p:txBody>
      </p:sp>
      <p:sp>
        <p:nvSpPr>
          <p:cNvPr id="39" name="TextBox 38"/>
          <p:cNvSpPr txBox="1"/>
          <p:nvPr/>
        </p:nvSpPr>
        <p:spPr>
          <a:xfrm rot="5400000">
            <a:off x="7619548" y="5017823"/>
            <a:ext cx="9428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data pages</a:t>
            </a:r>
            <a:endParaRPr lang="en-US" sz="1200" dirty="0"/>
          </a:p>
        </p:txBody>
      </p:sp>
      <p:sp>
        <p:nvSpPr>
          <p:cNvPr id="9" name="Rectangle 8"/>
          <p:cNvSpPr/>
          <p:nvPr/>
        </p:nvSpPr>
        <p:spPr>
          <a:xfrm>
            <a:off x="3749430" y="2467826"/>
            <a:ext cx="817687" cy="199176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0 - 100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440238" y="3444836"/>
            <a:ext cx="817687" cy="199176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0 - 33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749430" y="3453516"/>
            <a:ext cx="817687" cy="199176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34 - 67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036411" y="3451261"/>
            <a:ext cx="817687" cy="199176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68 - 100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934988" y="4345284"/>
            <a:ext cx="817687" cy="199176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0 - 16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902647" y="4351703"/>
            <a:ext cx="817687" cy="199176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17 - 33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325216" y="4359243"/>
            <a:ext cx="817687" cy="199176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34 - 50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297779" y="4356608"/>
            <a:ext cx="817687" cy="199176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51 - 67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627567" y="4356608"/>
            <a:ext cx="817687" cy="199176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68 - 84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566911" y="4354719"/>
            <a:ext cx="817687" cy="199176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85 - 100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94" name="Oval 93"/>
          <p:cNvSpPr/>
          <p:nvPr/>
        </p:nvSpPr>
        <p:spPr>
          <a:xfrm>
            <a:off x="4846010" y="5186389"/>
            <a:ext cx="502028" cy="257195"/>
          </a:xfrm>
          <a:prstGeom prst="ellipse">
            <a:avLst/>
          </a:prstGeom>
          <a:solidFill>
            <a:schemeClr val="accent3">
              <a:lumMod val="50000"/>
              <a:lumOff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74</a:t>
            </a:r>
            <a:endParaRPr lang="en-US" sz="1200" dirty="0"/>
          </a:p>
        </p:txBody>
      </p:sp>
      <p:cxnSp>
        <p:nvCxnSpPr>
          <p:cNvPr id="96" name="Elbow Connector 95"/>
          <p:cNvCxnSpPr>
            <a:stCxn id="7" idx="3"/>
            <a:endCxn id="23" idx="0"/>
          </p:cNvCxnSpPr>
          <p:nvPr/>
        </p:nvCxnSpPr>
        <p:spPr>
          <a:xfrm>
            <a:off x="4447988" y="2317687"/>
            <a:ext cx="1991848" cy="594512"/>
          </a:xfrm>
          <a:prstGeom prst="bentConnector2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Elbow Connector 97"/>
          <p:cNvCxnSpPr>
            <a:stCxn id="23" idx="1"/>
          </p:cNvCxnSpPr>
          <p:nvPr/>
        </p:nvCxnSpPr>
        <p:spPr>
          <a:xfrm rot="10800000" flipV="1">
            <a:off x="5809252" y="3258112"/>
            <a:ext cx="356242" cy="594522"/>
          </a:xfrm>
          <a:prstGeom prst="bentConnector2">
            <a:avLst/>
          </a:prstGeom>
          <a:ln>
            <a:solidFill>
              <a:srgbClr val="FF000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Elbow Connector 99"/>
          <p:cNvCxnSpPr>
            <a:stCxn id="28" idx="1"/>
            <a:endCxn id="94" idx="6"/>
          </p:cNvCxnSpPr>
          <p:nvPr/>
        </p:nvCxnSpPr>
        <p:spPr>
          <a:xfrm rot="10800000" flipV="1">
            <a:off x="5348038" y="4198547"/>
            <a:ext cx="401186" cy="1116440"/>
          </a:xfrm>
          <a:prstGeom prst="bentConnector3">
            <a:avLst/>
          </a:prstGeom>
          <a:ln>
            <a:solidFill>
              <a:srgbClr val="FF000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7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9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animBg="1"/>
      <p:bldP spid="94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 types and internals	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Clustered Index</a:t>
            </a:r>
          </a:p>
          <a:p>
            <a:r>
              <a:rPr lang="en-US" dirty="0" smtClean="0"/>
              <a:t>Creating a Clustered Index removes the Heap structure</a:t>
            </a:r>
          </a:p>
          <a:p>
            <a:r>
              <a:rPr lang="en-US" dirty="0" smtClean="0"/>
              <a:t>Clustered Indexes stores the row data, ordered, inside the index structure based on the index key</a:t>
            </a:r>
          </a:p>
          <a:p>
            <a:r>
              <a:rPr lang="en-US" dirty="0" smtClean="0"/>
              <a:t>A Clustered Index can be compared to a phonebook</a:t>
            </a:r>
          </a:p>
        </p:txBody>
      </p:sp>
    </p:spTree>
    <p:extLst>
      <p:ext uri="{BB962C8B-B14F-4D97-AF65-F5344CB8AC3E}">
        <p14:creationId xmlns:p14="http://schemas.microsoft.com/office/powerpoint/2010/main" val="17665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 types and internals	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250825" y="1282467"/>
            <a:ext cx="8640000" cy="6006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Clustered Index</a:t>
            </a:r>
          </a:p>
        </p:txBody>
      </p:sp>
      <p:sp>
        <p:nvSpPr>
          <p:cNvPr id="3" name="Rectangle 2"/>
          <p:cNvSpPr/>
          <p:nvPr/>
        </p:nvSpPr>
        <p:spPr>
          <a:xfrm>
            <a:off x="461728" y="1883121"/>
            <a:ext cx="7423842" cy="8691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461728" y="2832226"/>
            <a:ext cx="7423842" cy="8691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461727" y="3781331"/>
            <a:ext cx="7423842" cy="8691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305" y="1971774"/>
            <a:ext cx="548683" cy="691826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304" y="2912199"/>
            <a:ext cx="548683" cy="69182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494" y="2912199"/>
            <a:ext cx="548683" cy="691826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742" y="2912199"/>
            <a:ext cx="548683" cy="69182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53341" y="3843207"/>
            <a:ext cx="548683" cy="691826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396424" y="3843207"/>
            <a:ext cx="548683" cy="69182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49224" y="3852634"/>
            <a:ext cx="548683" cy="691826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049384" y="3843207"/>
            <a:ext cx="548683" cy="691826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03015" y="3843207"/>
            <a:ext cx="548683" cy="691826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668145" y="3852634"/>
            <a:ext cx="548683" cy="6918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 rot="5400000">
            <a:off x="7871892" y="2176339"/>
            <a:ext cx="4491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root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 rot="5400000">
            <a:off x="7582551" y="3128292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intermediate</a:t>
            </a:r>
            <a:endParaRPr lang="en-US" sz="1400" dirty="0"/>
          </a:p>
        </p:txBody>
      </p:sp>
      <p:sp>
        <p:nvSpPr>
          <p:cNvPr id="38" name="TextBox 37"/>
          <p:cNvSpPr txBox="1"/>
          <p:nvPr/>
        </p:nvSpPr>
        <p:spPr>
          <a:xfrm rot="5400000">
            <a:off x="7875227" y="4077398"/>
            <a:ext cx="4315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leaf</a:t>
            </a:r>
            <a:endParaRPr lang="en-US" sz="1200" dirty="0"/>
          </a:p>
        </p:txBody>
      </p:sp>
      <p:sp>
        <p:nvSpPr>
          <p:cNvPr id="9" name="Rectangle 8"/>
          <p:cNvSpPr/>
          <p:nvPr/>
        </p:nvSpPr>
        <p:spPr>
          <a:xfrm>
            <a:off x="3749430" y="2467826"/>
            <a:ext cx="817687" cy="199176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0 - 100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440238" y="3444836"/>
            <a:ext cx="817687" cy="199176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0 - 33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749430" y="3453516"/>
            <a:ext cx="817687" cy="199176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34 - 67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036411" y="3451261"/>
            <a:ext cx="817687" cy="199176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68 - 100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934988" y="4345284"/>
            <a:ext cx="817687" cy="199176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0 - 16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902647" y="4351703"/>
            <a:ext cx="817687" cy="199176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17 - 33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325216" y="4359243"/>
            <a:ext cx="817687" cy="199176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34 - 50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297779" y="4356608"/>
            <a:ext cx="817687" cy="199176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51 - 67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627567" y="4356608"/>
            <a:ext cx="817687" cy="199176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68 - 84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566911" y="4354719"/>
            <a:ext cx="817687" cy="199176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85 - 100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94" name="Oval 93"/>
          <p:cNvSpPr/>
          <p:nvPr/>
        </p:nvSpPr>
        <p:spPr>
          <a:xfrm>
            <a:off x="5749224" y="4069949"/>
            <a:ext cx="502028" cy="257195"/>
          </a:xfrm>
          <a:prstGeom prst="ellipse">
            <a:avLst/>
          </a:prstGeom>
          <a:solidFill>
            <a:schemeClr val="accent3">
              <a:lumMod val="50000"/>
              <a:lumOff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74</a:t>
            </a:r>
            <a:endParaRPr lang="en-US" sz="1200" dirty="0"/>
          </a:p>
        </p:txBody>
      </p:sp>
      <p:cxnSp>
        <p:nvCxnSpPr>
          <p:cNvPr id="96" name="Elbow Connector 95"/>
          <p:cNvCxnSpPr>
            <a:stCxn id="7" idx="3"/>
            <a:endCxn id="23" idx="0"/>
          </p:cNvCxnSpPr>
          <p:nvPr/>
        </p:nvCxnSpPr>
        <p:spPr>
          <a:xfrm>
            <a:off x="4447988" y="2317687"/>
            <a:ext cx="1991848" cy="594512"/>
          </a:xfrm>
          <a:prstGeom prst="bentConnector2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Elbow Connector 97"/>
          <p:cNvCxnSpPr>
            <a:stCxn id="23" idx="1"/>
          </p:cNvCxnSpPr>
          <p:nvPr/>
        </p:nvCxnSpPr>
        <p:spPr>
          <a:xfrm rot="10800000" flipV="1">
            <a:off x="5809252" y="3258112"/>
            <a:ext cx="356242" cy="594522"/>
          </a:xfrm>
          <a:prstGeom prst="bentConnector2">
            <a:avLst/>
          </a:prstGeom>
          <a:ln>
            <a:solidFill>
              <a:srgbClr val="FF000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586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9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animBg="1"/>
      <p:bldP spid="94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 types and internals	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Clustered Index</a:t>
            </a:r>
          </a:p>
          <a:p>
            <a:r>
              <a:rPr lang="en-US" dirty="0" smtClean="0"/>
              <a:t>Because Clustered Indexes also hold the row data inside the index structure, modifying and inserting row data is potentially more expensive</a:t>
            </a:r>
          </a:p>
        </p:txBody>
      </p:sp>
      <p:sp>
        <p:nvSpPr>
          <p:cNvPr id="2" name="Rectangle 1"/>
          <p:cNvSpPr/>
          <p:nvPr/>
        </p:nvSpPr>
        <p:spPr>
          <a:xfrm>
            <a:off x="4884420" y="4053840"/>
            <a:ext cx="3390900" cy="243840"/>
          </a:xfrm>
          <a:prstGeom prst="rect">
            <a:avLst/>
          </a:prstGeom>
          <a:solidFill>
            <a:schemeClr val="accent3">
              <a:lumMod val="25000"/>
              <a:lumOff val="75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Anna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884420" y="4328160"/>
            <a:ext cx="3390900" cy="243840"/>
          </a:xfrm>
          <a:prstGeom prst="rect">
            <a:avLst/>
          </a:prstGeom>
          <a:solidFill>
            <a:schemeClr val="accent3">
              <a:lumMod val="25000"/>
              <a:lumOff val="75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Emma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884420" y="4602480"/>
            <a:ext cx="3390900" cy="243840"/>
          </a:xfrm>
          <a:prstGeom prst="rect">
            <a:avLst/>
          </a:prstGeom>
          <a:solidFill>
            <a:schemeClr val="accent3">
              <a:lumMod val="25000"/>
              <a:lumOff val="75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Kim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884420" y="4884420"/>
            <a:ext cx="3390900" cy="243840"/>
          </a:xfrm>
          <a:prstGeom prst="rect">
            <a:avLst/>
          </a:prstGeom>
          <a:solidFill>
            <a:schemeClr val="accent3">
              <a:lumMod val="25000"/>
              <a:lumOff val="75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Mary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6240" y="4450080"/>
            <a:ext cx="3390900" cy="2438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Lily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3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3.7037E-6 L -0.00018 -0.0407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-203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2.59259E-6 L -3.61111E-6 -0.04004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-192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1.11111E-6 L 4.72222E-6 -0.0400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-2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3.33333E-6 L 0.49079 0.02222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531" y="1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245860" y="2572113"/>
            <a:ext cx="8640000" cy="720000"/>
          </a:xfrm>
        </p:spPr>
        <p:txBody>
          <a:bodyPr/>
          <a:lstStyle/>
          <a:p>
            <a:pPr algn="ctr"/>
            <a:r>
              <a:rPr lang="en-US" dirty="0"/>
              <a:t>Designing efficient and effective indexes	</a:t>
            </a:r>
          </a:p>
        </p:txBody>
      </p:sp>
    </p:spTree>
    <p:extLst>
      <p:ext uri="{BB962C8B-B14F-4D97-AF65-F5344CB8AC3E}">
        <p14:creationId xmlns:p14="http://schemas.microsoft.com/office/powerpoint/2010/main" val="888668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Designing efficient and effective indexes	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Since indexes play a large part in the performance of your database you will have to spend time designing them!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Thankfully there are some guidelines and best practices that can help you design your indexing strategy</a:t>
            </a:r>
          </a:p>
        </p:txBody>
      </p:sp>
    </p:spTree>
    <p:extLst>
      <p:ext uri="{BB962C8B-B14F-4D97-AF65-F5344CB8AC3E}">
        <p14:creationId xmlns:p14="http://schemas.microsoft.com/office/powerpoint/2010/main" val="3668025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Designing efficient and effective indexes	</a:t>
            </a:r>
            <a:endParaRPr lang="en-US" dirty="0"/>
          </a:p>
        </p:txBody>
      </p:sp>
      <p:sp>
        <p:nvSpPr>
          <p:cNvPr id="5" name="Content Placeholder 18"/>
          <p:cNvSpPr>
            <a:spLocks noGrp="1"/>
          </p:cNvSpPr>
          <p:nvPr>
            <p:ph idx="1"/>
          </p:nvPr>
        </p:nvSpPr>
        <p:spPr>
          <a:xfrm>
            <a:off x="250825" y="1282467"/>
            <a:ext cx="8640000" cy="4860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Global Guidelines</a:t>
            </a:r>
          </a:p>
          <a:p>
            <a:r>
              <a:rPr lang="en-US" dirty="0" smtClean="0"/>
              <a:t>Ideally Indexes should be </a:t>
            </a:r>
            <a:r>
              <a:rPr lang="en-US" b="1" dirty="0" smtClean="0"/>
              <a:t>narrow</a:t>
            </a:r>
            <a:r>
              <a:rPr lang="en-US" dirty="0" smtClean="0"/>
              <a:t>, </a:t>
            </a:r>
            <a:r>
              <a:rPr lang="en-US" b="1" dirty="0" smtClean="0"/>
              <a:t>unique</a:t>
            </a:r>
            <a:r>
              <a:rPr lang="en-US" dirty="0" smtClean="0"/>
              <a:t> and </a:t>
            </a:r>
            <a:r>
              <a:rPr lang="en-US" b="1" dirty="0" smtClean="0"/>
              <a:t>ever-increasing</a:t>
            </a:r>
          </a:p>
          <a:p>
            <a:r>
              <a:rPr lang="en-US" dirty="0" smtClean="0"/>
              <a:t>Indexes should be created on columns that are queried often, by different queries</a:t>
            </a:r>
          </a:p>
          <a:p>
            <a:r>
              <a:rPr lang="en-US" dirty="0" smtClean="0"/>
              <a:t>Multiple indexes should not be created on the same columns, instead combine/include</a:t>
            </a:r>
          </a:p>
          <a:p>
            <a:r>
              <a:rPr lang="en-US" dirty="0" smtClean="0"/>
              <a:t>Don’t “over-index”</a:t>
            </a:r>
          </a:p>
          <a:p>
            <a:r>
              <a:rPr lang="en-US" dirty="0" smtClean="0"/>
              <a:t>Think about the order of the index</a:t>
            </a:r>
          </a:p>
        </p:txBody>
      </p:sp>
    </p:spTree>
    <p:extLst>
      <p:ext uri="{BB962C8B-B14F-4D97-AF65-F5344CB8AC3E}">
        <p14:creationId xmlns:p14="http://schemas.microsoft.com/office/powerpoint/2010/main" val="2511401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Designing efficient and effective indexes	</a:t>
            </a:r>
            <a:endParaRPr lang="en-US" dirty="0"/>
          </a:p>
        </p:txBody>
      </p:sp>
      <p:sp>
        <p:nvSpPr>
          <p:cNvPr id="5" name="Content Placeholder 18"/>
          <p:cNvSpPr>
            <a:spLocks noGrp="1"/>
          </p:cNvSpPr>
          <p:nvPr>
            <p:ph idx="1"/>
          </p:nvPr>
        </p:nvSpPr>
        <p:spPr>
          <a:xfrm>
            <a:off x="250825" y="1282467"/>
            <a:ext cx="8640000" cy="4860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Global Guidelines</a:t>
            </a:r>
          </a:p>
          <a:p>
            <a:r>
              <a:rPr lang="en-US" dirty="0" smtClean="0"/>
              <a:t>Some recommendations are to create a Clustered Index on every table, but it depends on your workload</a:t>
            </a:r>
          </a:p>
          <a:p>
            <a:r>
              <a:rPr lang="en-US" dirty="0" smtClean="0"/>
              <a:t>Create indexes on “selective” columns</a:t>
            </a:r>
          </a:p>
          <a:p>
            <a:r>
              <a:rPr lang="en-US" dirty="0" smtClean="0"/>
              <a:t>Enough talk, let’s look at some of these guidelines!</a:t>
            </a:r>
          </a:p>
        </p:txBody>
      </p:sp>
    </p:spTree>
    <p:extLst>
      <p:ext uri="{BB962C8B-B14F-4D97-AF65-F5344CB8AC3E}">
        <p14:creationId xmlns:p14="http://schemas.microsoft.com/office/powerpoint/2010/main" val="2786291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245860" y="2572113"/>
            <a:ext cx="8640000" cy="720000"/>
          </a:xfrm>
        </p:spPr>
        <p:txBody>
          <a:bodyPr/>
          <a:lstStyle/>
          <a:p>
            <a:pPr algn="ctr"/>
            <a:r>
              <a:rPr lang="en-US" dirty="0"/>
              <a:t>Index analysis</a:t>
            </a:r>
          </a:p>
        </p:txBody>
      </p:sp>
    </p:spTree>
    <p:extLst>
      <p:ext uri="{BB962C8B-B14F-4D97-AF65-F5344CB8AC3E}">
        <p14:creationId xmlns:p14="http://schemas.microsoft.com/office/powerpoint/2010/main" val="1866902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 analysis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Analyzing your index strategy should be a recurring task</a:t>
            </a:r>
          </a:p>
          <a:p>
            <a:r>
              <a:rPr lang="en-US" dirty="0" smtClean="0"/>
              <a:t>Database usage pattern changes impact your indexes as well</a:t>
            </a:r>
          </a:p>
          <a:p>
            <a:r>
              <a:rPr lang="en-US" dirty="0" smtClean="0"/>
              <a:t>Regularly ask yourself:</a:t>
            </a:r>
            <a:br>
              <a:rPr lang="en-US" dirty="0" smtClean="0"/>
            </a:br>
            <a:r>
              <a:rPr lang="en-US" i="1" dirty="0" smtClean="0"/>
              <a:t>- Do I need to add or drop indexes</a:t>
            </a:r>
            <a:r>
              <a:rPr lang="en-US" dirty="0" smtClean="0"/>
              <a:t>?</a:t>
            </a:r>
            <a:br>
              <a:rPr lang="en-US" dirty="0" smtClean="0"/>
            </a:br>
            <a:r>
              <a:rPr lang="en-US" dirty="0" smtClean="0"/>
              <a:t>- </a:t>
            </a:r>
            <a:r>
              <a:rPr lang="en-US" i="1" dirty="0" smtClean="0"/>
              <a:t>Are my indexes being used?</a:t>
            </a:r>
            <a:br>
              <a:rPr lang="en-US" i="1" dirty="0" smtClean="0"/>
            </a:br>
            <a:r>
              <a:rPr lang="en-US" dirty="0" smtClean="0"/>
              <a:t>- </a:t>
            </a:r>
            <a:r>
              <a:rPr lang="en-US" i="1" dirty="0" smtClean="0"/>
              <a:t>Can I combine indexes?</a:t>
            </a:r>
          </a:p>
        </p:txBody>
      </p:sp>
    </p:spTree>
    <p:extLst>
      <p:ext uri="{BB962C8B-B14F-4D97-AF65-F5344CB8AC3E}">
        <p14:creationId xmlns:p14="http://schemas.microsoft.com/office/powerpoint/2010/main" val="2418719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 analysis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Adding indexes</a:t>
            </a:r>
          </a:p>
          <a:p>
            <a:r>
              <a:rPr lang="en-US" dirty="0" smtClean="0"/>
              <a:t>There are some options available to learn if adding indexes might be useful</a:t>
            </a:r>
            <a:br>
              <a:rPr lang="en-US" dirty="0" smtClean="0"/>
            </a:br>
            <a:r>
              <a:rPr lang="en-US" i="1" dirty="0" smtClean="0"/>
              <a:t>- </a:t>
            </a:r>
            <a:r>
              <a:rPr lang="en-US" i="1" dirty="0"/>
              <a:t>Missing Indexes </a:t>
            </a:r>
            <a:r>
              <a:rPr lang="en-US" i="1" dirty="0" smtClean="0"/>
              <a:t>Hints </a:t>
            </a:r>
            <a:r>
              <a:rPr lang="en-US" i="1" dirty="0" smtClean="0"/>
              <a:t>(query)</a:t>
            </a:r>
            <a:br>
              <a:rPr lang="en-US" i="1" dirty="0" smtClean="0"/>
            </a:br>
            <a:r>
              <a:rPr lang="en-US" i="1" dirty="0" smtClean="0"/>
              <a:t>- Database Engine Tuning Advisor (workload)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20042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 analysis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Index usage</a:t>
            </a:r>
          </a:p>
          <a:p>
            <a:r>
              <a:rPr lang="en-US" dirty="0" smtClean="0"/>
              <a:t>You will want to check regularly if your indexes are actually being used</a:t>
            </a:r>
          </a:p>
        </p:txBody>
      </p:sp>
    </p:spTree>
    <p:extLst>
      <p:ext uri="{BB962C8B-B14F-4D97-AF65-F5344CB8AC3E}">
        <p14:creationId xmlns:p14="http://schemas.microsoft.com/office/powerpoint/2010/main" val="866685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 analysis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Duplicate or overlapping indexes</a:t>
            </a:r>
          </a:p>
          <a:p>
            <a:r>
              <a:rPr lang="en-US" dirty="0" smtClean="0"/>
              <a:t>Having duplicate or overlapping indexes will impact performance and storage usage</a:t>
            </a:r>
          </a:p>
        </p:txBody>
      </p:sp>
    </p:spTree>
    <p:extLst>
      <p:ext uri="{BB962C8B-B14F-4D97-AF65-F5344CB8AC3E}">
        <p14:creationId xmlns:p14="http://schemas.microsoft.com/office/powerpoint/2010/main" val="2828322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245860" y="2572113"/>
            <a:ext cx="8640000" cy="720000"/>
          </a:xfrm>
        </p:spPr>
        <p:txBody>
          <a:bodyPr/>
          <a:lstStyle/>
          <a:p>
            <a:pPr algn="ctr"/>
            <a:r>
              <a:rPr lang="en-US" dirty="0"/>
              <a:t>Index m</a:t>
            </a:r>
            <a:r>
              <a:rPr lang="en-US" dirty="0" smtClean="0"/>
              <a:t>aintenance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386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 maintenance	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Indexes require maintenance to keep performance as best as possible</a:t>
            </a:r>
          </a:p>
          <a:p>
            <a:r>
              <a:rPr lang="en-US" dirty="0" smtClean="0"/>
              <a:t>The main maintenance action we need to perform is defragging the indexes</a:t>
            </a:r>
          </a:p>
          <a:p>
            <a:r>
              <a:rPr lang="en-US" dirty="0"/>
              <a:t>Over time, depending on the data modification rate of the index, indexes will get fragmented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56068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 maintenance	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Two types of index fragmentation</a:t>
            </a:r>
            <a:br>
              <a:rPr lang="en-US" dirty="0" smtClean="0"/>
            </a:br>
            <a:r>
              <a:rPr lang="en-US" i="1" dirty="0" smtClean="0"/>
              <a:t>- Internal</a:t>
            </a:r>
            <a:br>
              <a:rPr lang="en-US" i="1" dirty="0" smtClean="0"/>
            </a:br>
            <a:r>
              <a:rPr lang="en-US" i="1" dirty="0" smtClean="0"/>
              <a:t>- External</a:t>
            </a:r>
            <a:br>
              <a:rPr lang="en-US" i="1" dirty="0" smtClean="0"/>
            </a:br>
            <a:endParaRPr lang="en-US" i="1" dirty="0" smtClean="0"/>
          </a:p>
          <a:p>
            <a:r>
              <a:rPr lang="en-US" dirty="0" smtClean="0"/>
              <a:t>Internal fragmentation</a:t>
            </a:r>
            <a:r>
              <a:rPr lang="en-US" dirty="0" smtClean="0"/>
              <a:t>	</a:t>
            </a:r>
            <a:r>
              <a:rPr lang="en-US" dirty="0" smtClean="0"/>
              <a:t>indicate that index pages are not 100% fully used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External fragmentation means that the index pages are not in order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643513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 maintenance	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Thankfully we can “easily” fix index fragmentation</a:t>
            </a:r>
          </a:p>
          <a:p>
            <a:r>
              <a:rPr lang="en-US" dirty="0" smtClean="0"/>
              <a:t>For instance, Ola </a:t>
            </a:r>
            <a:r>
              <a:rPr lang="en-US" dirty="0" err="1" smtClean="0"/>
              <a:t>Hallengren’s</a:t>
            </a:r>
            <a:r>
              <a:rPr lang="en-US" dirty="0"/>
              <a:t> </a:t>
            </a:r>
            <a:r>
              <a:rPr lang="en-US" b="1" dirty="0" smtClean="0"/>
              <a:t>free</a:t>
            </a:r>
            <a:r>
              <a:rPr lang="en-US" dirty="0" smtClean="0"/>
              <a:t> scripts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ola.hallengren.com/sql-server-index-and-statistics-maintenance.html</a:t>
            </a:r>
            <a:endParaRPr lang="en-US" dirty="0" smtClean="0"/>
          </a:p>
          <a:p>
            <a:r>
              <a:rPr lang="en-US" dirty="0" smtClean="0"/>
              <a:t>The main choice you have to make is to either Rebuild or Reorganize the index</a:t>
            </a:r>
          </a:p>
          <a:p>
            <a:r>
              <a:rPr lang="en-US" dirty="0" smtClean="0"/>
              <a:t>Performance increase can be huge!</a:t>
            </a:r>
          </a:p>
        </p:txBody>
      </p:sp>
    </p:spTree>
    <p:extLst>
      <p:ext uri="{BB962C8B-B14F-4D97-AF65-F5344CB8AC3E}">
        <p14:creationId xmlns:p14="http://schemas.microsoft.com/office/powerpoint/2010/main" val="3483998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999" y="1989000"/>
            <a:ext cx="2880000" cy="2880000"/>
          </a:xfrm>
        </p:spPr>
      </p:pic>
      <p:sp>
        <p:nvSpPr>
          <p:cNvPr id="7" name="TextBox 6"/>
          <p:cNvSpPr txBox="1"/>
          <p:nvPr/>
        </p:nvSpPr>
        <p:spPr>
          <a:xfrm>
            <a:off x="250825" y="619799"/>
            <a:ext cx="864234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173962"/>
                </a:solidFill>
              </a:rPr>
              <a:t>Your feedback is important!</a:t>
            </a:r>
          </a:p>
          <a:p>
            <a:pPr algn="ctr"/>
            <a:r>
              <a:rPr lang="en-US" sz="2000" dirty="0" smtClean="0">
                <a:solidFill>
                  <a:srgbClr val="173962"/>
                </a:solidFill>
              </a:rPr>
              <a:t>Please let us know what you thought of this session </a:t>
            </a:r>
            <a:r>
              <a:rPr lang="en-US" sz="2000" dirty="0" smtClean="0">
                <a:solidFill>
                  <a:srgbClr val="173962"/>
                </a:solidFill>
                <a:sym typeface="Wingdings" panose="05000000000000000000" pitchFamily="2" charset="2"/>
              </a:rPr>
              <a:t></a:t>
            </a:r>
            <a:endParaRPr lang="nb-NO" sz="1400" dirty="0">
              <a:solidFill>
                <a:srgbClr val="17396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0826" y="5330260"/>
            <a:ext cx="864234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8EAF3E"/>
                </a:solidFill>
              </a:rPr>
              <a:t>http://sqlsaturday.com/414/sessions/sessionevaluation.aspx</a:t>
            </a:r>
            <a:endParaRPr lang="nb-NO" sz="1400" dirty="0">
              <a:solidFill>
                <a:srgbClr val="8EAF3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5650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Thank you to our sponsors!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127" y="1179313"/>
            <a:ext cx="3493698" cy="98636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967" y="1362466"/>
            <a:ext cx="1760146" cy="9123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0725" y="2897355"/>
            <a:ext cx="1713407" cy="3045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5084" y="2799274"/>
            <a:ext cx="2418350" cy="50069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937" y="3415999"/>
            <a:ext cx="1932553" cy="63368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102" y="3543904"/>
            <a:ext cx="1457276" cy="45682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2" t="24855" r="9762" b="24488"/>
          <a:stretch/>
        </p:blipFill>
        <p:spPr>
          <a:xfrm>
            <a:off x="1000122" y="2762828"/>
            <a:ext cx="2477211" cy="57358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25" y="5398569"/>
            <a:ext cx="1440000" cy="49040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825" y="5358545"/>
            <a:ext cx="1440000" cy="475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6825" y="5563190"/>
            <a:ext cx="1440000" cy="21831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9" t="10768" r="5405" b="12896"/>
          <a:stretch/>
        </p:blipFill>
        <p:spPr>
          <a:xfrm>
            <a:off x="5434825" y="5527493"/>
            <a:ext cx="1080000" cy="23255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1" t="19022" b="17292"/>
          <a:stretch/>
        </p:blipFill>
        <p:spPr>
          <a:xfrm>
            <a:off x="7810825" y="5551974"/>
            <a:ext cx="1080000" cy="2216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2825" y="5283770"/>
            <a:ext cx="720000" cy="7200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084" y="4359042"/>
            <a:ext cx="2160000" cy="69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53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74947"/>
      </a:dk2>
      <a:lt2>
        <a:srgbClr val="EEECE1"/>
      </a:lt2>
      <a:accent1>
        <a:srgbClr val="163764"/>
      </a:accent1>
      <a:accent2>
        <a:srgbClr val="75982F"/>
      </a:accent2>
      <a:accent3>
        <a:srgbClr val="16223C"/>
      </a:accent3>
      <a:accent4>
        <a:srgbClr val="B18126"/>
      </a:accent4>
      <a:accent5>
        <a:srgbClr val="00517C"/>
      </a:accent5>
      <a:accent6>
        <a:srgbClr val="F79646"/>
      </a:accent6>
      <a:hlink>
        <a:srgbClr val="75982F"/>
      </a:hlink>
      <a:folHlink>
        <a:srgbClr val="75982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1943</TotalTime>
  <Words>1129</Words>
  <Application>Microsoft Office PowerPoint</Application>
  <PresentationFormat>On-screen Show (4:3)</PresentationFormat>
  <Paragraphs>231</Paragraphs>
  <Slides>35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Wingdings</vt:lpstr>
      <vt:lpstr>Office Theme</vt:lpstr>
      <vt:lpstr>Efficient Indexing Strategies</vt:lpstr>
      <vt:lpstr>Thank you to our sponsors!</vt:lpstr>
      <vt:lpstr>About me</vt:lpstr>
      <vt:lpstr>Agenda </vt:lpstr>
      <vt:lpstr>What are indexes and why use them? </vt:lpstr>
      <vt:lpstr>What are indexes and why use them? </vt:lpstr>
      <vt:lpstr>What are indexes and why use them?</vt:lpstr>
      <vt:lpstr>The double-edged sword called indexing</vt:lpstr>
      <vt:lpstr>The double-edged sword called indexing</vt:lpstr>
      <vt:lpstr>The double-edged sword called indexing</vt:lpstr>
      <vt:lpstr>The double-edged sword called indexing</vt:lpstr>
      <vt:lpstr>Index types and internals </vt:lpstr>
      <vt:lpstr>Index types and internals </vt:lpstr>
      <vt:lpstr>Index types and internals  </vt:lpstr>
      <vt:lpstr>Index types and internals  </vt:lpstr>
      <vt:lpstr>Index types and internals  </vt:lpstr>
      <vt:lpstr>Index types and internals  </vt:lpstr>
      <vt:lpstr>Index types and internals  </vt:lpstr>
      <vt:lpstr>Index types and internals  </vt:lpstr>
      <vt:lpstr>Index types and internals  </vt:lpstr>
      <vt:lpstr>Designing efficient and effective indexes </vt:lpstr>
      <vt:lpstr>Designing efficient and effective indexes </vt:lpstr>
      <vt:lpstr>Designing efficient and effective indexes </vt:lpstr>
      <vt:lpstr>Designing efficient and effective indexes </vt:lpstr>
      <vt:lpstr>Index analysis</vt:lpstr>
      <vt:lpstr>Index analysis </vt:lpstr>
      <vt:lpstr>Index analysis </vt:lpstr>
      <vt:lpstr>Index analysis </vt:lpstr>
      <vt:lpstr>Index analysis </vt:lpstr>
      <vt:lpstr>Index maintenance</vt:lpstr>
      <vt:lpstr>Index maintenance </vt:lpstr>
      <vt:lpstr>Index maintenance </vt:lpstr>
      <vt:lpstr>Index maintenance </vt:lpstr>
      <vt:lpstr>PowerPoint Presentation</vt:lpstr>
      <vt:lpstr>Thank you to our sponsors!</vt:lpstr>
    </vt:vector>
  </TitlesOfParts>
  <Company>Revealed Design, LLC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Carla Hamilton</dc:creator>
  <cp:lastModifiedBy>Enrico van de Laar</cp:lastModifiedBy>
  <cp:revision>68</cp:revision>
  <dcterms:created xsi:type="dcterms:W3CDTF">2011-08-19T20:30:49Z</dcterms:created>
  <dcterms:modified xsi:type="dcterms:W3CDTF">2015-08-26T09:57:38Z</dcterms:modified>
</cp:coreProperties>
</file>