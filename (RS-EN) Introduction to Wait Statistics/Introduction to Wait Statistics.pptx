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1" r:id="rId5"/>
    <p:sldId id="262" r:id="rId6"/>
    <p:sldId id="263" r:id="rId7"/>
    <p:sldId id="264" r:id="rId8"/>
    <p:sldId id="265" r:id="rId9"/>
    <p:sldId id="266" r:id="rId10"/>
    <p:sldId id="269" r:id="rId11"/>
    <p:sldId id="270" r:id="rId12"/>
    <p:sldId id="271" r:id="rId13"/>
    <p:sldId id="267" r:id="rId14"/>
    <p:sldId id="268" r:id="rId15"/>
    <p:sldId id="273" r:id="rId16"/>
    <p:sldId id="274" r:id="rId17"/>
    <p:sldId id="275" r:id="rId18"/>
    <p:sldId id="276" r:id="rId19"/>
    <p:sldId id="272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60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0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547"/>
            <a:ext cx="9143999" cy="67586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408" y="516685"/>
            <a:ext cx="8203153" cy="1470025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8408" y="1907341"/>
            <a:ext cx="7925349" cy="1752600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197614"/>
            <a:ext cx="773079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50847" y="6197614"/>
            <a:ext cx="2895600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2050" name="Picture 2" descr="http://www.sqlsaturday.com/images/sqlsat376_web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099" y="5770779"/>
            <a:ext cx="2247900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73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charset="2"/>
              <a:buChar char="§"/>
              <a:defRPr>
                <a:solidFill>
                  <a:schemeClr val="tx2"/>
                </a:solidFill>
              </a:defRPr>
            </a:lvl1pPr>
            <a:lvl2pPr marL="742950" indent="-285750">
              <a:buFont typeface="Wingdings" charset="2"/>
              <a:buChar char="§"/>
              <a:defRPr>
                <a:solidFill>
                  <a:srgbClr val="474947"/>
                </a:solidFill>
              </a:defRPr>
            </a:lvl2pPr>
            <a:lvl3pPr marL="11430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3pPr>
            <a:lvl4pPr marL="16002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4pPr>
            <a:lvl5pPr marL="20574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140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i="0" cap="all">
                <a:latin typeface="Arial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9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98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226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53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98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9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24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B21B-2ADA-A040-A652-A7305E1B99FE}" type="datetimeFigureOut">
              <a:rPr lang="en-US" smtClean="0"/>
              <a:t>04/16/2015</a:t>
            </a:fld>
            <a:endParaRPr lang="en-US"/>
          </a:p>
        </p:txBody>
      </p: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smtClean="0"/>
              <a:t>  |</a:t>
            </a: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73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5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728" y="6072791"/>
            <a:ext cx="9143995" cy="79513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04/16/2015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60044" y="122030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http://www.sqlsaturday.com/images/sqlsat376_web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367" y="5772545"/>
            <a:ext cx="2247900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76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charset="2"/>
        <a:buChar char="§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2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Wingdings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gif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evdlaar" TargetMode="External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hyperlink" Target="http://www.dotnine.nl/" TargetMode="Externa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1Dj4yoR" TargetMode="External"/><Relationship Id="rId2" Type="http://schemas.openxmlformats.org/officeDocument/2006/relationships/hyperlink" Target="http://bit.ly/1o2NFo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it.ly/1le9dx0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gif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408" y="597500"/>
            <a:ext cx="8203153" cy="1470025"/>
          </a:xfrm>
        </p:spPr>
        <p:txBody>
          <a:bodyPr/>
          <a:lstStyle/>
          <a:p>
            <a:r>
              <a:rPr lang="en-US" dirty="0"/>
              <a:t>No more waiting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8408" y="2067525"/>
            <a:ext cx="7925349" cy="1752600"/>
          </a:xfrm>
        </p:spPr>
        <p:txBody>
          <a:bodyPr/>
          <a:lstStyle/>
          <a:p>
            <a:r>
              <a:rPr lang="en-US" dirty="0"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An introduction to wait statistics</a:t>
            </a:r>
          </a:p>
        </p:txBody>
      </p:sp>
    </p:spTree>
    <p:extLst>
      <p:ext uri="{BB962C8B-B14F-4D97-AF65-F5344CB8AC3E}">
        <p14:creationId xmlns:p14="http://schemas.microsoft.com/office/powerpoint/2010/main" val="326067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Sponsors</a:t>
            </a:r>
            <a:endParaRPr lang="hu-HU" dirty="0"/>
          </a:p>
        </p:txBody>
      </p:sp>
      <p:pic>
        <p:nvPicPr>
          <p:cNvPr id="3074" name="Picture 2" descr="Microsoft Corpo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63" y="1615122"/>
            <a:ext cx="2519772" cy="88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rofis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633" y="1635392"/>
            <a:ext cx="2519772" cy="88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AS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223" y="3950792"/>
            <a:ext cx="1274707" cy="99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ATA Consultancy Servic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603" y="2783014"/>
            <a:ext cx="3103670" cy="101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ORIANA Kft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51" y="3008219"/>
            <a:ext cx="2356726" cy="54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Bi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63" y="4349360"/>
            <a:ext cx="2947209" cy="42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ApexSQL LLC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42" y="4054545"/>
            <a:ext cx="2519772" cy="88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szamalkcsoport.hu/images/logo_1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302" y="1661300"/>
            <a:ext cx="2653172" cy="84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16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Technology Specialist</a:t>
            </a:r>
          </a:p>
          <a:p>
            <a:r>
              <a:rPr lang="en-US" dirty="0"/>
              <a:t>MVP</a:t>
            </a:r>
          </a:p>
          <a:p>
            <a:r>
              <a:rPr lang="en-US" dirty="0"/>
              <a:t>Speaker</a:t>
            </a:r>
          </a:p>
          <a:p>
            <a:r>
              <a:rPr lang="en-US" dirty="0" smtClean="0"/>
              <a:t>Blogger</a:t>
            </a:r>
          </a:p>
          <a:p>
            <a:r>
              <a:rPr lang="en-US" dirty="0" smtClean="0"/>
              <a:t>Author</a:t>
            </a:r>
            <a:endParaRPr lang="en-US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3</a:t>
            </a:fld>
            <a:r>
              <a:rPr lang="en-US" smtClean="0"/>
              <a:t>  |  </a:t>
            </a:r>
            <a:endParaRPr lang="en-US" dirty="0"/>
          </a:p>
        </p:txBody>
      </p:sp>
      <p:pic>
        <p:nvPicPr>
          <p:cNvPr id="7" name="Picture 4" descr="http://dublincore.org/images/twit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702728"/>
            <a:ext cx="576470" cy="57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33670" y="4797287"/>
            <a:ext cx="2199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hlinkClick r:id="rId3"/>
              </a:rPr>
              <a:t>@evdlaar</a:t>
            </a:r>
            <a:endParaRPr lang="nl-NL" sz="2000" dirty="0"/>
          </a:p>
        </p:txBody>
      </p:sp>
      <p:pic>
        <p:nvPicPr>
          <p:cNvPr id="9" name="Picture 6" descr="http://upload.wikimedia.org/wikipedia/commons/thumb/7/70/Applications-internet.svg/250px-Applications-internet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11" y="5279198"/>
            <a:ext cx="439048" cy="43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29495" y="5279198"/>
            <a:ext cx="2561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hlinkClick r:id="rId5"/>
              </a:rPr>
              <a:t>http://www.dotnine.nl</a:t>
            </a:r>
            <a:endParaRPr lang="nl-NL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109" y="2164267"/>
            <a:ext cx="2001691" cy="30331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522" y="1440365"/>
            <a:ext cx="914402" cy="144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1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What are wait statistics?</a:t>
            </a:r>
          </a:p>
          <a:p>
            <a:r>
              <a:rPr lang="en-US" sz="3200" dirty="0"/>
              <a:t>How wait statistics are generated</a:t>
            </a:r>
          </a:p>
          <a:p>
            <a:r>
              <a:rPr lang="en-US" sz="3200" dirty="0"/>
              <a:t>Querying &amp; analyzing wait statistics</a:t>
            </a:r>
          </a:p>
          <a:p>
            <a:r>
              <a:rPr lang="en-US" sz="3200" dirty="0"/>
              <a:t>Common wait </a:t>
            </a:r>
            <a:r>
              <a:rPr lang="en-US" sz="3200" dirty="0" smtClean="0"/>
              <a:t>statistics</a:t>
            </a:r>
            <a:endParaRPr lang="en-US" sz="3200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4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738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BR" sz="3200" dirty="0"/>
          </a:p>
          <a:p>
            <a:pPr marL="0" indent="0" algn="ctr">
              <a:buNone/>
            </a:pPr>
            <a:endParaRPr lang="pt-BR" sz="3200" dirty="0"/>
          </a:p>
          <a:p>
            <a:pPr marL="0" indent="0" algn="ctr">
              <a:buNone/>
            </a:pPr>
            <a:r>
              <a:rPr lang="pt-BR" sz="4400" dirty="0"/>
              <a:t>What are wait statistics?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5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20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wait statistics?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When SQL Server executes a request but the resources are not available to complete the request a </a:t>
            </a:r>
            <a:r>
              <a:rPr lang="pt-BR" b="1" dirty="0"/>
              <a:t>wait</a:t>
            </a:r>
            <a:r>
              <a:rPr lang="pt-BR" dirty="0"/>
              <a:t> occurs</a:t>
            </a:r>
            <a:br>
              <a:rPr lang="pt-BR" dirty="0"/>
            </a:br>
            <a:endParaRPr lang="pt-BR" dirty="0"/>
          </a:p>
          <a:p>
            <a:r>
              <a:rPr lang="pt-BR" dirty="0"/>
              <a:t>SQL Server records the time it has been </a:t>
            </a:r>
            <a:r>
              <a:rPr lang="pt-BR" dirty="0" smtClean="0"/>
              <a:t>waiting as </a:t>
            </a:r>
            <a:r>
              <a:rPr lang="pt-BR" b="1" dirty="0" smtClean="0"/>
              <a:t>wait time </a:t>
            </a:r>
            <a:r>
              <a:rPr lang="pt-BR" dirty="0"/>
              <a:t>and what it has been waiting on as the </a:t>
            </a:r>
            <a:r>
              <a:rPr lang="pt-BR" b="1" dirty="0"/>
              <a:t>wait type</a:t>
            </a:r>
            <a:endParaRPr lang="pt-BR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6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18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wait statistics?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The </a:t>
            </a:r>
            <a:r>
              <a:rPr lang="pt-BR" b="1" dirty="0"/>
              <a:t>wait time</a:t>
            </a:r>
            <a:r>
              <a:rPr lang="pt-BR" dirty="0"/>
              <a:t> and </a:t>
            </a:r>
            <a:r>
              <a:rPr lang="pt-BR" b="1" dirty="0"/>
              <a:t>wait type</a:t>
            </a:r>
            <a:r>
              <a:rPr lang="pt-BR" dirty="0"/>
              <a:t> are logged at the instance level and are cumulative since last SQL Server start</a:t>
            </a:r>
            <a:br>
              <a:rPr lang="pt-BR" dirty="0"/>
            </a:br>
            <a:endParaRPr lang="pt-BR" dirty="0"/>
          </a:p>
          <a:p>
            <a:r>
              <a:rPr lang="pt-BR" dirty="0"/>
              <a:t>The </a:t>
            </a:r>
            <a:r>
              <a:rPr lang="pt-BR" b="1" dirty="0"/>
              <a:t>wait statistics</a:t>
            </a:r>
            <a:r>
              <a:rPr lang="pt-BR" dirty="0"/>
              <a:t> will show you what your SQL Server instance is spending most of it’s time waiting on</a:t>
            </a:r>
            <a:r>
              <a:rPr lang="pt-BR" dirty="0" smtClean="0"/>
              <a:t>!</a:t>
            </a:r>
            <a:endParaRPr lang="pt-BR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7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81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BR" sz="3200" dirty="0"/>
          </a:p>
          <a:p>
            <a:pPr marL="0" indent="0" algn="ctr">
              <a:buNone/>
            </a:pPr>
            <a:endParaRPr lang="pt-BR" sz="3200" dirty="0"/>
          </a:p>
          <a:p>
            <a:pPr marL="0" indent="0" algn="ctr">
              <a:buNone/>
            </a:pPr>
            <a:r>
              <a:rPr lang="pt-BR" sz="4000" dirty="0"/>
              <a:t>How wait statistics are generated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8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04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wait statistics are generated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SQL Server uses </a:t>
            </a:r>
            <a:r>
              <a:rPr lang="pt-BR" b="1" dirty="0"/>
              <a:t>schedulers</a:t>
            </a:r>
            <a:r>
              <a:rPr lang="pt-BR" dirty="0"/>
              <a:t> to manage CPU time for threads</a:t>
            </a:r>
            <a:br>
              <a:rPr lang="pt-BR" dirty="0"/>
            </a:br>
            <a:endParaRPr lang="pt-BR" dirty="0"/>
          </a:p>
          <a:p>
            <a:r>
              <a:rPr lang="pt-BR" dirty="0"/>
              <a:t>The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number</a:t>
            </a:r>
            <a:r>
              <a:rPr lang="pt-BR" dirty="0"/>
              <a:t> of schedulers = number of logical processors + 1 (DAC)</a:t>
            </a:r>
            <a:br>
              <a:rPr lang="pt-BR" dirty="0"/>
            </a:br>
            <a:endParaRPr lang="pt-BR" dirty="0"/>
          </a:p>
          <a:p>
            <a:r>
              <a:rPr lang="pt-BR" dirty="0"/>
              <a:t>View schedulers using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sys.dm_os_schedulers</a:t>
            </a:r>
          </a:p>
          <a:p>
            <a:endParaRPr lang="en-US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9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16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wait statistics are generated</a:t>
            </a: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10</a:t>
            </a:fld>
            <a:r>
              <a:rPr lang="en-US" smtClean="0"/>
              <a:t>  | 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1627" y="1417638"/>
            <a:ext cx="6200746" cy="399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6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wait statistics are generated</a:t>
            </a: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11</a:t>
            </a:fld>
            <a:r>
              <a:rPr lang="en-US" smtClean="0"/>
              <a:t>  |  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3060" y="1417638"/>
            <a:ext cx="6877879" cy="4017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59607" y="5102377"/>
            <a:ext cx="1255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Waiter list</a:t>
            </a:r>
            <a:endParaRPr lang="nl-NL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1738669" y="5133599"/>
            <a:ext cx="17196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Runnable queue</a:t>
            </a:r>
            <a:endParaRPr lang="nl-NL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6626999" y="3286470"/>
            <a:ext cx="2149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C00000"/>
                </a:solidFill>
              </a:rPr>
              <a:t>Resource wait time</a:t>
            </a:r>
            <a:endParaRPr lang="nl-NL" sz="1600" b="1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0864" y="3344439"/>
            <a:ext cx="2149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</a:rPr>
              <a:t>Signal wait time</a:t>
            </a:r>
            <a:endParaRPr lang="nl-NL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4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wait statistics are generated</a:t>
            </a: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12</a:t>
            </a:fld>
            <a:r>
              <a:rPr lang="en-US" smtClean="0"/>
              <a:t>  | 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7310" y="3202424"/>
            <a:ext cx="8509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CPU time </a:t>
            </a:r>
            <a:r>
              <a:rPr lang="en-US" sz="2800" b="1" dirty="0" smtClean="0"/>
              <a:t>+ 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Signal wait time </a:t>
            </a:r>
            <a:r>
              <a:rPr lang="en-US" sz="2800" b="1" dirty="0" smtClean="0"/>
              <a:t>+ </a:t>
            </a:r>
            <a:r>
              <a:rPr lang="en-US" sz="2800" b="1" dirty="0" smtClean="0">
                <a:solidFill>
                  <a:srgbClr val="C00000"/>
                </a:solidFill>
              </a:rPr>
              <a:t>Resource wait time</a:t>
            </a:r>
            <a:endParaRPr lang="nl-NL" sz="2800" b="1" dirty="0">
              <a:solidFill>
                <a:srgbClr val="C00000"/>
              </a:solidFill>
            </a:endParaRPr>
          </a:p>
        </p:txBody>
      </p:sp>
      <p:cxnSp>
        <p:nvCxnSpPr>
          <p:cNvPr id="8" name="Straight Connector 7"/>
          <p:cNvCxnSpPr>
            <a:stCxn id="6" idx="1"/>
          </p:cNvCxnSpPr>
          <p:nvPr/>
        </p:nvCxnSpPr>
        <p:spPr>
          <a:xfrm>
            <a:off x="317310" y="3464034"/>
            <a:ext cx="0" cy="4071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17310" y="3871162"/>
            <a:ext cx="8509379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826689" y="2984057"/>
            <a:ext cx="0" cy="887105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361063" y="2984057"/>
            <a:ext cx="6465626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361063" y="2984057"/>
            <a:ext cx="0" cy="443552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74508" y="2511188"/>
            <a:ext cx="2838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Wait time</a:t>
            </a:r>
            <a:endParaRPr lang="nl-NL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55140" y="3991008"/>
            <a:ext cx="2838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Total execution time</a:t>
            </a:r>
            <a:endParaRPr lang="nl-NL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96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BR" sz="3200" dirty="0"/>
          </a:p>
          <a:p>
            <a:pPr marL="0" indent="0" algn="ctr">
              <a:buNone/>
            </a:pPr>
            <a:endParaRPr lang="pt-BR" sz="3200" dirty="0"/>
          </a:p>
          <a:p>
            <a:pPr marL="0" indent="0" algn="ctr">
              <a:buNone/>
            </a:pPr>
            <a:r>
              <a:rPr lang="pt-BR" sz="4000" dirty="0"/>
              <a:t>Querying &amp; analyzing wait statistics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13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24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&amp; analyzing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DMV’s for wait statistics:</a:t>
            </a:r>
            <a:r>
              <a:rPr lang="nl-NL" dirty="0"/>
              <a:t/>
            </a:r>
            <a:br>
              <a:rPr lang="nl-NL" dirty="0"/>
            </a:br>
            <a:r>
              <a:rPr lang="nl-NL" dirty="0"/>
              <a:t>-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sys.dm_os_wait_stats</a:t>
            </a:r>
            <a:r>
              <a:rPr lang="nl-NL" dirty="0"/>
              <a:t/>
            </a:r>
            <a:br>
              <a:rPr lang="nl-NL" dirty="0"/>
            </a:br>
            <a:r>
              <a:rPr lang="nl-NL" dirty="0"/>
              <a:t>- </a:t>
            </a:r>
            <a:r>
              <a:rPr lang="nl-NL" dirty="0" err="1">
                <a:solidFill>
                  <a:schemeClr val="accent2">
                    <a:lumMod val="75000"/>
                  </a:schemeClr>
                </a:solidFill>
              </a:rPr>
              <a:t>sys.dm_os_waiting_tasks</a:t>
            </a:r>
            <a:r>
              <a:rPr lang="nl-NL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nl-NL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nl-NL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sys.dm_os_wait_stats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cumulative wait times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sys.dm_os_waiting_tasks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find out what is waiting right now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14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87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&amp; analyzing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wait types will log additional information in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sys.dm_os_waiting_tasks</a:t>
            </a:r>
            <a:r>
              <a:rPr lang="en-US" dirty="0"/>
              <a:t> that will help you troubleshoot!</a:t>
            </a:r>
            <a:br>
              <a:rPr lang="en-US" dirty="0"/>
            </a:br>
            <a:endParaRPr lang="en-US" dirty="0"/>
          </a:p>
          <a:p>
            <a:r>
              <a:rPr lang="en-US" dirty="0"/>
              <a:t>Others you can safely ignore like </a:t>
            </a:r>
            <a:r>
              <a:rPr lang="en-US" i="1" dirty="0"/>
              <a:t>LAZYWRITER_SLEEP</a:t>
            </a:r>
            <a:r>
              <a:rPr lang="en-US" dirty="0"/>
              <a:t/>
            </a:r>
            <a:br>
              <a:rPr lang="en-US" dirty="0"/>
            </a:br>
            <a:r>
              <a:rPr lang="en-US" sz="2800" i="1" dirty="0">
                <a:solidFill>
                  <a:schemeClr val="bg1">
                    <a:lumMod val="65000"/>
                  </a:schemeClr>
                </a:solidFill>
              </a:rPr>
              <a:t>(your mileage may vary)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15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669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&amp; analyzing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Sys.dm_os_wait_stats</a:t>
            </a:r>
            <a:r>
              <a:rPr lang="en-US" dirty="0"/>
              <a:t> perfect way to capture wait statistics baselines!</a:t>
            </a:r>
            <a:br>
              <a:rPr lang="en-US" dirty="0"/>
            </a:br>
            <a:endParaRPr lang="en-US" dirty="0"/>
          </a:p>
          <a:p>
            <a:r>
              <a:rPr lang="en-US" dirty="0"/>
              <a:t>Without a baseline there is no way of saying a specific wait time is too </a:t>
            </a:r>
            <a:r>
              <a:rPr lang="en-US" dirty="0" smtClean="0"/>
              <a:t>long!</a:t>
            </a:r>
            <a:r>
              <a:rPr lang="en-US" dirty="0"/>
              <a:t/>
            </a:r>
            <a:br>
              <a:rPr lang="en-US" dirty="0"/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16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88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&amp; analyzing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Wait statistics baseline </a:t>
            </a:r>
            <a:r>
              <a:rPr lang="en-US" sz="2800" dirty="0" smtClean="0"/>
              <a:t>methodology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17</a:t>
            </a:fld>
            <a:r>
              <a:rPr lang="en-US" smtClean="0"/>
              <a:t>  | 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860" y="2345865"/>
            <a:ext cx="6242279" cy="341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4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&amp; analyzing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Use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sys.dm_os_waiting_tasks</a:t>
            </a:r>
            <a:r>
              <a:rPr lang="en-US" sz="2400" dirty="0"/>
              <a:t> to find out what is slowing you down right now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Compare the wait times to your baseline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Focus on </a:t>
            </a:r>
            <a:r>
              <a:rPr lang="en-US" sz="2400" b="1" dirty="0"/>
              <a:t>large</a:t>
            </a:r>
            <a:r>
              <a:rPr lang="en-US" sz="2400" dirty="0"/>
              <a:t> increases or decreases for the top </a:t>
            </a:r>
            <a:r>
              <a:rPr lang="en-US" sz="2400" i="1" dirty="0"/>
              <a:t>n</a:t>
            </a:r>
            <a:r>
              <a:rPr lang="en-US" sz="2400" dirty="0"/>
              <a:t> wait types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Don’t freak out</a:t>
            </a:r>
            <a:r>
              <a:rPr lang="en-US" sz="2400" b="1" dirty="0" smtClean="0"/>
              <a:t>!</a:t>
            </a:r>
            <a:endParaRPr lang="en-US" sz="2400" b="1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18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5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BR" sz="3200" dirty="0"/>
          </a:p>
          <a:p>
            <a:pPr marL="0" indent="0" algn="ctr">
              <a:buNone/>
            </a:pPr>
            <a:endParaRPr lang="pt-BR" sz="3200" dirty="0"/>
          </a:p>
          <a:p>
            <a:pPr marL="0" indent="0" algn="ctr">
              <a:buNone/>
            </a:pPr>
            <a:r>
              <a:rPr lang="pt-BR" sz="4800" dirty="0"/>
              <a:t>Common wait statistics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19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33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CXPACKET</a:t>
            </a:r>
          </a:p>
          <a:p>
            <a:r>
              <a:rPr lang="pt-BR" dirty="0"/>
              <a:t>LCK_M_</a:t>
            </a:r>
            <a:r>
              <a:rPr lang="pt-BR" i="1" dirty="0"/>
              <a:t>xx</a:t>
            </a:r>
          </a:p>
          <a:p>
            <a:r>
              <a:rPr lang="pt-BR" dirty="0"/>
              <a:t>PAGEIOLATCH_</a:t>
            </a:r>
            <a:r>
              <a:rPr lang="pt-BR" i="1" dirty="0"/>
              <a:t>xx</a:t>
            </a:r>
          </a:p>
          <a:p>
            <a:r>
              <a:rPr lang="pt-BR" dirty="0"/>
              <a:t>OLEDB</a:t>
            </a:r>
          </a:p>
          <a:p>
            <a:r>
              <a:rPr lang="pt-BR" dirty="0"/>
              <a:t>THREADPOOL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20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46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CXPACKET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b="1" dirty="0"/>
              <a:t>CXPACKET</a:t>
            </a:r>
            <a:r>
              <a:rPr lang="pt-BR" dirty="0"/>
              <a:t> waits </a:t>
            </a:r>
            <a:r>
              <a:rPr lang="pt-BR" b="1" dirty="0"/>
              <a:t>always</a:t>
            </a:r>
            <a:r>
              <a:rPr lang="pt-BR" dirty="0"/>
              <a:t> occur when you use parallelism (MDOP)</a:t>
            </a:r>
            <a:br>
              <a:rPr lang="pt-BR" dirty="0"/>
            </a:br>
            <a:endParaRPr lang="pt-BR" dirty="0"/>
          </a:p>
          <a:p>
            <a:r>
              <a:rPr lang="pt-BR" dirty="0"/>
              <a:t>Investigate execution plans, tune MDOP cost threshold, check statistics</a:t>
            </a:r>
            <a:br>
              <a:rPr lang="pt-BR" dirty="0"/>
            </a:br>
            <a:endParaRPr lang="pt-BR" dirty="0"/>
          </a:p>
          <a:p>
            <a:r>
              <a:rPr lang="pt-BR" dirty="0"/>
              <a:t>Don’t freak out and turn of parallelism!</a:t>
            </a:r>
            <a:br>
              <a:rPr lang="pt-BR" dirty="0"/>
            </a:br>
            <a:endParaRPr lang="pt-BR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21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02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LCK_M_</a:t>
            </a:r>
            <a:r>
              <a:rPr lang="pt-BR" b="1" i="1" dirty="0"/>
              <a:t>xx</a:t>
            </a:r>
          </a:p>
          <a:p>
            <a:pPr marL="0" indent="0">
              <a:buNone/>
            </a:pPr>
            <a:endParaRPr lang="pt-BR" b="1" i="1" dirty="0"/>
          </a:p>
          <a:p>
            <a:r>
              <a:rPr lang="pt-BR" b="1" dirty="0"/>
              <a:t>LCK_M_</a:t>
            </a:r>
            <a:r>
              <a:rPr lang="pt-BR" b="1" i="1" dirty="0"/>
              <a:t>xx</a:t>
            </a:r>
            <a:r>
              <a:rPr lang="pt-BR" dirty="0"/>
              <a:t> waits occur when blocking is occuring</a:t>
            </a:r>
            <a:br>
              <a:rPr lang="pt-BR" dirty="0"/>
            </a:br>
            <a:endParaRPr lang="pt-BR" dirty="0"/>
          </a:p>
          <a:p>
            <a:r>
              <a:rPr lang="pt-BR" dirty="0"/>
              <a:t>Check if there is a blocking bottleneck, break up large updates, change isolation level</a:t>
            </a: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22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79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PAGEIOLATCH_</a:t>
            </a:r>
            <a:r>
              <a:rPr lang="pt-BR" b="1" i="1" dirty="0"/>
              <a:t>xx</a:t>
            </a:r>
          </a:p>
          <a:p>
            <a:pPr marL="0" indent="0">
              <a:buNone/>
            </a:pPr>
            <a:endParaRPr lang="pt-BR" b="1" i="1" dirty="0"/>
          </a:p>
          <a:p>
            <a:r>
              <a:rPr lang="pt-BR" dirty="0"/>
              <a:t>Latches are synchronization objects for buffer pages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PAGEIOLATCH_</a:t>
            </a:r>
            <a:r>
              <a:rPr lang="pt-BR" b="1" i="1" dirty="0"/>
              <a:t>xx</a:t>
            </a:r>
            <a:r>
              <a:rPr lang="pt-BR" dirty="0"/>
              <a:t> occurs when data is moved from disk to the buffer cache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Can</a:t>
            </a:r>
            <a:r>
              <a:rPr lang="pt-BR" dirty="0"/>
              <a:t> indicate IO subsystem or memory issues, check indexes, statistics</a:t>
            </a: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23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97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OLEDB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b="1" dirty="0"/>
              <a:t>OLEDB</a:t>
            </a:r>
            <a:r>
              <a:rPr lang="pt-BR" dirty="0"/>
              <a:t> occurs when SQL Server calls the Microsoft SQL Native Client OLE DB provider</a:t>
            </a:r>
            <a:br>
              <a:rPr lang="pt-BR" dirty="0"/>
            </a:br>
            <a:endParaRPr lang="pt-BR" dirty="0"/>
          </a:p>
          <a:p>
            <a:r>
              <a:rPr lang="pt-BR" dirty="0"/>
              <a:t>Will also occur when you are using linked servers</a:t>
            </a:r>
            <a:br>
              <a:rPr lang="pt-BR" dirty="0"/>
            </a:br>
            <a:endParaRPr lang="pt-BR" dirty="0"/>
          </a:p>
          <a:p>
            <a:r>
              <a:rPr lang="pt-BR" dirty="0"/>
              <a:t>DBCC commands will also generate </a:t>
            </a:r>
            <a:r>
              <a:rPr lang="pt-BR" b="1" dirty="0"/>
              <a:t>OLEDB</a:t>
            </a:r>
            <a:r>
              <a:rPr lang="pt-BR" dirty="0"/>
              <a:t> waits!</a:t>
            </a: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24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5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THREADP        L</a:t>
            </a:r>
          </a:p>
          <a:p>
            <a:pPr marL="0" indent="0">
              <a:buNone/>
            </a:pPr>
            <a:endParaRPr lang="pt-BR" b="1" dirty="0"/>
          </a:p>
          <a:p>
            <a:r>
              <a:rPr lang="pt-BR" b="1" dirty="0"/>
              <a:t>THREADPOOL</a:t>
            </a:r>
            <a:r>
              <a:rPr lang="pt-BR" dirty="0"/>
              <a:t> waits occur when there are no free worker threads available</a:t>
            </a:r>
            <a:br>
              <a:rPr lang="pt-BR" dirty="0"/>
            </a:br>
            <a:endParaRPr lang="pt-BR" dirty="0"/>
          </a:p>
          <a:p>
            <a:r>
              <a:rPr lang="pt-BR" dirty="0"/>
              <a:t>Max nr. of worker threads (64bit):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&lt;= 4 CPU’s = </a:t>
            </a:r>
            <a:r>
              <a:rPr lang="pt-BR" i="1" dirty="0"/>
              <a:t>512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&gt;   4 CPU’s = </a:t>
            </a:r>
            <a:r>
              <a:rPr lang="pt-BR" i="1" dirty="0"/>
              <a:t>512 + ((CPU’s – 4) * 16)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25</a:t>
            </a:fld>
            <a:r>
              <a:rPr lang="en-US" smtClean="0"/>
              <a:t>  |  </a:t>
            </a:r>
            <a:endParaRPr lang="en-US" dirty="0"/>
          </a:p>
        </p:txBody>
      </p:sp>
      <p:pic>
        <p:nvPicPr>
          <p:cNvPr id="5" name="Picture 2" descr="http://www.clipartbest.com/cliparts/ncE/9A4/ncE9A4Rc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663" y="1676402"/>
            <a:ext cx="326458" cy="27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www.clipartbest.com/cliparts/ncE/9A4/ncE9A4Rc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594" y="1676402"/>
            <a:ext cx="326458" cy="27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45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wait statistics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b="1" dirty="0"/>
              <a:t>THREADP        L</a:t>
            </a:r>
          </a:p>
          <a:p>
            <a:pPr marL="0" indent="0">
              <a:buNone/>
            </a:pPr>
            <a:endParaRPr lang="pt-BR" sz="2800" b="1" dirty="0"/>
          </a:p>
          <a:p>
            <a:r>
              <a:rPr lang="pt-BR" sz="2800" dirty="0"/>
              <a:t>Can be caused by blocking, large query batches, increased number of user connections or large number of concurrent parallel plans</a:t>
            </a:r>
            <a:br>
              <a:rPr lang="pt-BR" sz="2800" dirty="0"/>
            </a:br>
            <a:endParaRPr lang="pt-BR" sz="2800" dirty="0"/>
          </a:p>
          <a:p>
            <a:r>
              <a:rPr lang="pt-BR" sz="2800" dirty="0"/>
              <a:t>Check causes above before changing </a:t>
            </a:r>
            <a:r>
              <a:rPr lang="pt-BR" sz="2800" b="1" dirty="0"/>
              <a:t>max worker threads</a:t>
            </a:r>
            <a:r>
              <a:rPr lang="pt-BR" sz="2800" dirty="0"/>
              <a:t>!!!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26</a:t>
            </a:fld>
            <a:r>
              <a:rPr lang="en-US" smtClean="0"/>
              <a:t>  |  </a:t>
            </a:r>
            <a:endParaRPr lang="en-US" dirty="0"/>
          </a:p>
        </p:txBody>
      </p:sp>
      <p:pic>
        <p:nvPicPr>
          <p:cNvPr id="5" name="Picture 2" descr="http://www.clipartbest.com/cliparts/ncE/9A4/ncE9A4Rc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663" y="1730720"/>
            <a:ext cx="326458" cy="27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www.clipartbest.com/cliparts/ncE/9A4/ncE9A4Rc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594" y="1730720"/>
            <a:ext cx="326458" cy="27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238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27</a:t>
            </a:fld>
            <a:r>
              <a:rPr lang="en-US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29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reading</a:t>
            </a:r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FD5303-69AD-2E4D-B18B-E5EED0F0A60B}" type="slidenum">
              <a:rPr lang="en-US" smtClean="0"/>
              <a:pPr/>
              <a:t>28</a:t>
            </a:fld>
            <a:r>
              <a:rPr lang="en-US" smtClean="0"/>
              <a:t>  |  </a:t>
            </a:r>
            <a:endParaRPr lang="en-US" dirty="0"/>
          </a:p>
        </p:txBody>
      </p:sp>
      <p:sp>
        <p:nvSpPr>
          <p:cNvPr id="4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229600" cy="4118020"/>
          </a:xfrm>
        </p:spPr>
        <p:txBody>
          <a:bodyPr>
            <a:normAutofit/>
          </a:bodyPr>
          <a:lstStyle/>
          <a:p>
            <a:r>
              <a:rPr lang="pt-BR" dirty="0" smtClean="0"/>
              <a:t>SQL Server 2005 Waits and Queues</a:t>
            </a:r>
            <a:br>
              <a:rPr lang="pt-BR" dirty="0" smtClean="0"/>
            </a:br>
            <a:r>
              <a:rPr lang="pt-BR" sz="2000" i="1" dirty="0"/>
              <a:t>Tom Davidson - </a:t>
            </a:r>
            <a:r>
              <a:rPr lang="pt-BR" sz="2000" dirty="0">
                <a:hlinkClick r:id="rId2"/>
              </a:rPr>
              <a:t>http://</a:t>
            </a:r>
            <a:r>
              <a:rPr lang="pt-BR" sz="2000" dirty="0" smtClean="0">
                <a:hlinkClick r:id="rId2"/>
              </a:rPr>
              <a:t>bit.ly/1o2NFoF</a:t>
            </a:r>
            <a:r>
              <a:rPr lang="pt-BR" sz="2000" i="1" dirty="0" smtClean="0"/>
              <a:t/>
            </a:r>
            <a:br>
              <a:rPr lang="pt-BR" sz="2000" i="1" dirty="0" smtClean="0"/>
            </a:br>
            <a:endParaRPr lang="pt-BR" sz="2000" i="1" dirty="0" smtClean="0"/>
          </a:p>
          <a:p>
            <a:r>
              <a:rPr lang="pt-BR" dirty="0"/>
              <a:t>Paul Randal SQLskills.com blog</a:t>
            </a: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>
                <a:hlinkClick r:id="rId3"/>
              </a:rPr>
              <a:t>http://</a:t>
            </a:r>
            <a:r>
              <a:rPr lang="pt-BR" sz="2000" dirty="0" smtClean="0">
                <a:hlinkClick r:id="rId3"/>
              </a:rPr>
              <a:t>bit.ly/1Dj4yoR</a:t>
            </a:r>
            <a:endParaRPr lang="pt-BR" sz="2000" dirty="0" smtClean="0"/>
          </a:p>
          <a:p>
            <a:endParaRPr lang="pt-BR" sz="2000" dirty="0" smtClean="0"/>
          </a:p>
          <a:p>
            <a:r>
              <a:rPr lang="pt-BR" dirty="0" smtClean="0"/>
              <a:t>Microsoft MSDN sys.dm_os_wait_stats</a:t>
            </a:r>
            <a:r>
              <a:rPr lang="pt-BR" sz="2000" dirty="0"/>
              <a:t/>
            </a:r>
            <a:br>
              <a:rPr lang="pt-BR" sz="2000" dirty="0"/>
            </a:br>
            <a:r>
              <a:rPr lang="pt-BR" sz="2000" dirty="0">
                <a:hlinkClick r:id="rId4"/>
              </a:rPr>
              <a:t>http://bit.ly/1le9dx0</a:t>
            </a:r>
            <a:endParaRPr lang="pt-BR" sz="2000" dirty="0" smtClean="0"/>
          </a:p>
          <a:p>
            <a:endParaRPr lang="pt-BR" sz="2000" i="1" dirty="0"/>
          </a:p>
          <a:p>
            <a:endParaRPr lang="pt-BR" i="1" dirty="0" smtClean="0"/>
          </a:p>
        </p:txBody>
      </p:sp>
    </p:spTree>
    <p:extLst>
      <p:ext uri="{BB962C8B-B14F-4D97-AF65-F5344CB8AC3E}">
        <p14:creationId xmlns:p14="http://schemas.microsoft.com/office/powerpoint/2010/main" val="428988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Sponsors</a:t>
            </a:r>
            <a:endParaRPr lang="hu-HU" dirty="0"/>
          </a:p>
        </p:txBody>
      </p:sp>
      <p:pic>
        <p:nvPicPr>
          <p:cNvPr id="3074" name="Picture 2" descr="Microsoft Corpo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63" y="1615122"/>
            <a:ext cx="2519772" cy="88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rofis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633" y="1635392"/>
            <a:ext cx="2519772" cy="88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AS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223" y="3950792"/>
            <a:ext cx="1274707" cy="99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ATA Consultancy Servic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603" y="2783014"/>
            <a:ext cx="3103670" cy="101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ORIANA Kft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51" y="3008219"/>
            <a:ext cx="2356726" cy="54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Bi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63" y="4349360"/>
            <a:ext cx="2947209" cy="42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ApexSQL LLC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42" y="4054545"/>
            <a:ext cx="2519772" cy="88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szamalkcsoport.hu/images/logo_1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302" y="1661300"/>
            <a:ext cx="2653172" cy="84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53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74947"/>
      </a:dk2>
      <a:lt2>
        <a:srgbClr val="EEECE1"/>
      </a:lt2>
      <a:accent1>
        <a:srgbClr val="163764"/>
      </a:accent1>
      <a:accent2>
        <a:srgbClr val="75982F"/>
      </a:accent2>
      <a:accent3>
        <a:srgbClr val="16223C"/>
      </a:accent3>
      <a:accent4>
        <a:srgbClr val="B18126"/>
      </a:accent4>
      <a:accent5>
        <a:srgbClr val="00517C"/>
      </a:accent5>
      <a:accent6>
        <a:srgbClr val="F79646"/>
      </a:accent6>
      <a:hlink>
        <a:srgbClr val="75982F"/>
      </a:hlink>
      <a:folHlink>
        <a:srgbClr val="75982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404</Words>
  <Application>Microsoft Office PowerPoint</Application>
  <PresentationFormat>On-screen Show (4:3)</PresentationFormat>
  <Paragraphs>137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Consolas</vt:lpstr>
      <vt:lpstr>Wingdings</vt:lpstr>
      <vt:lpstr>Office Theme</vt:lpstr>
      <vt:lpstr>No more waiting</vt:lpstr>
      <vt:lpstr>Sponsors</vt:lpstr>
      <vt:lpstr>About me</vt:lpstr>
      <vt:lpstr>Agenda</vt:lpstr>
      <vt:lpstr>PowerPoint Presentation</vt:lpstr>
      <vt:lpstr>What are wait statistics?</vt:lpstr>
      <vt:lpstr>What are wait statistics?</vt:lpstr>
      <vt:lpstr>PowerPoint Presentation</vt:lpstr>
      <vt:lpstr>How wait statistics are generated</vt:lpstr>
      <vt:lpstr>How wait statistics are generated</vt:lpstr>
      <vt:lpstr>How wait statistics are generated</vt:lpstr>
      <vt:lpstr>How wait statistics are generated</vt:lpstr>
      <vt:lpstr>PowerPoint Presentation</vt:lpstr>
      <vt:lpstr>Querying &amp; analyzing wait statistics</vt:lpstr>
      <vt:lpstr>Querying &amp; analyzing wait statistics</vt:lpstr>
      <vt:lpstr>Querying &amp; analyzing wait statistics</vt:lpstr>
      <vt:lpstr>Querying &amp; analyzing wait statistics</vt:lpstr>
      <vt:lpstr>Querying &amp; analyzing wait statistics</vt:lpstr>
      <vt:lpstr>PowerPoint Presentation</vt:lpstr>
      <vt:lpstr>Common wait statistics</vt:lpstr>
      <vt:lpstr>Common wait statistics</vt:lpstr>
      <vt:lpstr>Common wait statistics</vt:lpstr>
      <vt:lpstr>Common wait statistics</vt:lpstr>
      <vt:lpstr>Common wait statistics</vt:lpstr>
      <vt:lpstr>Common wait statistics</vt:lpstr>
      <vt:lpstr>Common wait statistics</vt:lpstr>
      <vt:lpstr>Questions?</vt:lpstr>
      <vt:lpstr>Additional reading</vt:lpstr>
      <vt:lpstr>Sponsors</vt:lpstr>
    </vt:vector>
  </TitlesOfParts>
  <Company>Revealed Design, LLC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Carla Hamilton</dc:creator>
  <cp:lastModifiedBy>enrico</cp:lastModifiedBy>
  <cp:revision>28</cp:revision>
  <dcterms:created xsi:type="dcterms:W3CDTF">2011-08-19T20:30:49Z</dcterms:created>
  <dcterms:modified xsi:type="dcterms:W3CDTF">2015-04-16T10:08:31Z</dcterms:modified>
</cp:coreProperties>
</file>