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4" r:id="rId6"/>
    <p:sldId id="263" r:id="rId7"/>
    <p:sldId id="262" r:id="rId8"/>
    <p:sldId id="267" r:id="rId9"/>
    <p:sldId id="266" r:id="rId10"/>
    <p:sldId id="265" r:id="rId11"/>
    <p:sldId id="261" r:id="rId1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2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48DA11-93AD-42B9-92DE-3B729A793557}" type="datetimeFigureOut">
              <a:rPr lang="nl-NL" smtClean="0"/>
              <a:t>12-1-2017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8758D-2E6B-471D-A8D6-605A6E3776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7677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Before we can get started analyzing query store data</a:t>
            </a:r>
            <a:r>
              <a:rPr lang="en-US" baseline="0" dirty="0" smtClean="0"/>
              <a:t> you must understand the intervals in which the query store records metrics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8758D-2E6B-471D-A8D6-605A6E37764E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78153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Demo: Query store runtime intervals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8758D-2E6B-471D-A8D6-605A6E37764E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3902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Built-in reports are limited since you cannot customize</a:t>
            </a:r>
            <a:r>
              <a:rPr lang="en-US" baseline="0" dirty="0" smtClean="0"/>
              <a:t> them and they do not show everything</a:t>
            </a:r>
            <a:br>
              <a:rPr lang="en-US" baseline="0" dirty="0" smtClean="0"/>
            </a:br>
            <a:r>
              <a:rPr lang="en-US" baseline="0" dirty="0" smtClean="0"/>
              <a:t>DMVs can be complex to use</a:t>
            </a:r>
          </a:p>
          <a:p>
            <a:r>
              <a:rPr lang="en-US" baseline="0" dirty="0" smtClean="0"/>
              <a:t>Demo: Built-in reports &amp; DMVs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8758D-2E6B-471D-A8D6-605A6E37764E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0541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Custom demo’s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8758D-2E6B-471D-A8D6-605A6E37764E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45954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7A6C-3798-4DC2-A8FC-A775C8691E8C}" type="datetimeFigureOut">
              <a:rPr lang="nl-NL" smtClean="0"/>
              <a:t>12-1-2017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4E15-C77A-4DEE-B4C2-AA9B5C825C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3642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7A6C-3798-4DC2-A8FC-A775C8691E8C}" type="datetimeFigureOut">
              <a:rPr lang="nl-NL" smtClean="0"/>
              <a:t>12-1-2017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4E15-C77A-4DEE-B4C2-AA9B5C825C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24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7A6C-3798-4DC2-A8FC-A775C8691E8C}" type="datetimeFigureOut">
              <a:rPr lang="nl-NL" smtClean="0"/>
              <a:t>12-1-2017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4E15-C77A-4DEE-B4C2-AA9B5C825C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680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7A6C-3798-4DC2-A8FC-A775C8691E8C}" type="datetimeFigureOut">
              <a:rPr lang="nl-NL" smtClean="0"/>
              <a:t>12-1-2017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4E15-C77A-4DEE-B4C2-AA9B5C825C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0694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7A6C-3798-4DC2-A8FC-A775C8691E8C}" type="datetimeFigureOut">
              <a:rPr lang="nl-NL" smtClean="0"/>
              <a:t>12-1-2017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4E15-C77A-4DEE-B4C2-AA9B5C825C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391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7A6C-3798-4DC2-A8FC-A775C8691E8C}" type="datetimeFigureOut">
              <a:rPr lang="nl-NL" smtClean="0"/>
              <a:t>12-1-2017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4E15-C77A-4DEE-B4C2-AA9B5C825C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96430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7A6C-3798-4DC2-A8FC-A775C8691E8C}" type="datetimeFigureOut">
              <a:rPr lang="nl-NL" smtClean="0"/>
              <a:t>12-1-2017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4E15-C77A-4DEE-B4C2-AA9B5C825C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1441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7A6C-3798-4DC2-A8FC-A775C8691E8C}" type="datetimeFigureOut">
              <a:rPr lang="nl-NL" smtClean="0"/>
              <a:t>12-1-2017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4E15-C77A-4DEE-B4C2-AA9B5C825C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4197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7A6C-3798-4DC2-A8FC-A775C8691E8C}" type="datetimeFigureOut">
              <a:rPr lang="nl-NL" smtClean="0"/>
              <a:t>12-1-2017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4E15-C77A-4DEE-B4C2-AA9B5C825C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2748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7A6C-3798-4DC2-A8FC-A775C8691E8C}" type="datetimeFigureOut">
              <a:rPr lang="nl-NL" smtClean="0"/>
              <a:t>12-1-2017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4E15-C77A-4DEE-B4C2-AA9B5C825C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326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87A6C-3798-4DC2-A8FC-A775C8691E8C}" type="datetimeFigureOut">
              <a:rPr lang="nl-NL" smtClean="0"/>
              <a:t>12-1-2017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64E15-C77A-4DEE-B4C2-AA9B5C825C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1182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F87A6C-3798-4DC2-A8FC-A775C8691E8C}" type="datetimeFigureOut">
              <a:rPr lang="nl-NL" smtClean="0"/>
              <a:t>12-1-2017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64E15-C77A-4DEE-B4C2-AA9B5C825C3C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346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jpg"/><Relationship Id="rId7" Type="http://schemas.openxmlformats.org/officeDocument/2006/relationships/hyperlink" Target="https://twitter.com/evdlaa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hyperlink" Target="mailto:enrico@dotnine.net" TargetMode="External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jpeg"/><Relationship Id="rId9" Type="http://schemas.openxmlformats.org/officeDocument/2006/relationships/hyperlink" Target="http://www.dotnine.net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uerystoretools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uerystoretools.com/" TargetMode="External"/><Relationship Id="rId2" Type="http://schemas.openxmlformats.org/officeDocument/2006/relationships/hyperlink" Target="https://www.simple-talk.com/author/enrico-van-de-laar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9532" y="1740678"/>
            <a:ext cx="9892937" cy="2387600"/>
          </a:xfrm>
        </p:spPr>
        <p:txBody>
          <a:bodyPr>
            <a:normAutofit fontScale="90000"/>
          </a:bodyPr>
          <a:lstStyle/>
          <a:p>
            <a:r>
              <a:rPr lang="en-US" sz="6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Analyzing SQL Server performance through the </a:t>
            </a:r>
            <a:br>
              <a:rPr lang="en-US" sz="6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sz="6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Query Store</a:t>
            </a:r>
            <a:endParaRPr lang="nl-NL" sz="66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80754" y="5797463"/>
            <a:ext cx="3126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Enrico van de Laar</a:t>
            </a:r>
            <a:endParaRPr lang="nl-NL" dirty="0"/>
          </a:p>
        </p:txBody>
      </p:sp>
      <p:sp>
        <p:nvSpPr>
          <p:cNvPr id="8" name="TextBox 7"/>
          <p:cNvSpPr txBox="1"/>
          <p:nvPr/>
        </p:nvSpPr>
        <p:spPr>
          <a:xfrm>
            <a:off x="7232468" y="5797463"/>
            <a:ext cx="3435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http://www.querystoretools.com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1739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435"/>
            <a:ext cx="10515600" cy="871492"/>
          </a:xfrm>
        </p:spPr>
        <p:txBody>
          <a:bodyPr/>
          <a:lstStyle/>
          <a:p>
            <a:r>
              <a:rPr 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About me</a:t>
            </a:r>
            <a:endParaRPr lang="nl-NL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9097"/>
            <a:ext cx="10515600" cy="4147866"/>
          </a:xfrm>
        </p:spPr>
        <p:txBody>
          <a:bodyPr/>
          <a:lstStyle/>
          <a:p>
            <a:r>
              <a:rPr lang="en-US" dirty="0" smtClean="0"/>
              <a:t>Chief Consultant </a:t>
            </a:r>
            <a:r>
              <a:rPr lang="en-US" dirty="0" err="1" smtClean="0"/>
              <a:t>DotNine</a:t>
            </a:r>
            <a:endParaRPr lang="en-US" dirty="0" smtClean="0"/>
          </a:p>
          <a:p>
            <a:r>
              <a:rPr lang="en-US" dirty="0" smtClean="0"/>
              <a:t>Product Manager </a:t>
            </a:r>
            <a:r>
              <a:rPr lang="en-US" dirty="0" err="1" smtClean="0"/>
              <a:t>PinkRoccade</a:t>
            </a:r>
            <a:r>
              <a:rPr lang="en-US" dirty="0" smtClean="0"/>
              <a:t> Hosting Services</a:t>
            </a:r>
          </a:p>
          <a:p>
            <a:r>
              <a:rPr lang="en-US" dirty="0" smtClean="0"/>
              <a:t>MVP Data Platform</a:t>
            </a:r>
          </a:p>
          <a:p>
            <a:r>
              <a:rPr lang="en-US" dirty="0" smtClean="0"/>
              <a:t>Blogger</a:t>
            </a:r>
          </a:p>
          <a:p>
            <a:r>
              <a:rPr lang="en-US" dirty="0" smtClean="0"/>
              <a:t>Author</a:t>
            </a:r>
            <a:endParaRPr lang="nl-NL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315" y="149590"/>
            <a:ext cx="659674" cy="659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69269" y="248595"/>
            <a:ext cx="302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2">
                    <a:lumMod val="50000"/>
                  </a:schemeClr>
                </a:solidFill>
              </a:rPr>
              <a:t>QueryStoreTools.com</a:t>
            </a:r>
            <a:endParaRPr lang="nl-NL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7350" y="3035573"/>
            <a:ext cx="2001691" cy="3033130"/>
          </a:xfrm>
          <a:prstGeom prst="rect">
            <a:avLst/>
          </a:prstGeom>
        </p:spPr>
      </p:pic>
      <p:pic>
        <p:nvPicPr>
          <p:cNvPr id="1026" name="Picture 2" descr="https://pbs.twimg.com/profile_images/748779297674915842/Vgdd5UMj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2768" y="2308233"/>
            <a:ext cx="1238159" cy="123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867" y="4969694"/>
            <a:ext cx="914402" cy="1447803"/>
          </a:xfrm>
          <a:prstGeom prst="rect">
            <a:avLst/>
          </a:prstGeom>
        </p:spPr>
      </p:pic>
      <p:pic>
        <p:nvPicPr>
          <p:cNvPr id="9" name="Picture 8" descr="http://dublincore.org/images/twitter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712" y="4879299"/>
            <a:ext cx="576470" cy="57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254182" y="4973858"/>
            <a:ext cx="21998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7"/>
              </a:rPr>
              <a:t>@evdlaar</a:t>
            </a:r>
            <a:endParaRPr lang="nl-NL" sz="2000" dirty="0"/>
          </a:p>
        </p:txBody>
      </p:sp>
      <p:pic>
        <p:nvPicPr>
          <p:cNvPr id="11" name="Picture 10" descr="http://upload.wikimedia.org/wikipedia/commons/thumb/7/70/Applications-internet.svg/250px-Applications-internet.svg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23" y="5455769"/>
            <a:ext cx="439048" cy="43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250006" y="5455769"/>
            <a:ext cx="2930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9"/>
              </a:rPr>
              <a:t>http://www.dotnine.net</a:t>
            </a:r>
            <a:endParaRPr lang="nl-NL" sz="2000" dirty="0"/>
          </a:p>
        </p:txBody>
      </p:sp>
      <p:pic>
        <p:nvPicPr>
          <p:cNvPr id="13" name="Picture 2" descr="https://cdn0.iconfinder.com/data/icons/social-15/200/mail-icon-128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23" y="5970265"/>
            <a:ext cx="439048" cy="439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1250006" y="5976908"/>
            <a:ext cx="2490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11"/>
              </a:rPr>
              <a:t>enrico@dotnine.net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197453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435"/>
            <a:ext cx="10515600" cy="871492"/>
          </a:xfrm>
        </p:spPr>
        <p:txBody>
          <a:bodyPr/>
          <a:lstStyle/>
          <a:p>
            <a:r>
              <a:rPr lang="en-US" b="1" dirty="0" smtClean="0"/>
              <a:t>Agenda for tonight</a:t>
            </a:r>
            <a:endParaRPr lang="nl-NL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9097"/>
            <a:ext cx="10515600" cy="4147866"/>
          </a:xfrm>
        </p:spPr>
        <p:txBody>
          <a:bodyPr/>
          <a:lstStyle/>
          <a:p>
            <a:r>
              <a:rPr lang="en-US" dirty="0" smtClean="0"/>
              <a:t>Query Store feature recap</a:t>
            </a:r>
          </a:p>
          <a:p>
            <a:r>
              <a:rPr lang="en-US" dirty="0" smtClean="0"/>
              <a:t>Runtime intervals and query statistics</a:t>
            </a:r>
          </a:p>
          <a:p>
            <a:r>
              <a:rPr lang="en-US" dirty="0" smtClean="0"/>
              <a:t>Built-</a:t>
            </a:r>
            <a:r>
              <a:rPr lang="en-US" dirty="0" smtClean="0"/>
              <a:t>in </a:t>
            </a:r>
            <a:r>
              <a:rPr lang="en-US" dirty="0" smtClean="0"/>
              <a:t>Query Store access</a:t>
            </a:r>
            <a:br>
              <a:rPr lang="en-US" dirty="0" smtClean="0"/>
            </a:br>
            <a:r>
              <a:rPr lang="en-US" dirty="0" smtClean="0"/>
              <a:t>- Reports</a:t>
            </a:r>
            <a:br>
              <a:rPr lang="en-US" dirty="0" smtClean="0"/>
            </a:br>
            <a:r>
              <a:rPr lang="en-US" dirty="0" smtClean="0"/>
              <a:t>- DMVs</a:t>
            </a:r>
          </a:p>
          <a:p>
            <a:r>
              <a:rPr lang="en-US" dirty="0" smtClean="0"/>
              <a:t>Custom Query Store solutions</a:t>
            </a:r>
            <a:br>
              <a:rPr lang="en-US" dirty="0" smtClean="0"/>
            </a:br>
            <a:r>
              <a:rPr lang="en-US" dirty="0" smtClean="0"/>
              <a:t>- Performance Dashboards</a:t>
            </a:r>
            <a:br>
              <a:rPr lang="en-US" dirty="0" smtClean="0"/>
            </a:br>
            <a:r>
              <a:rPr lang="en-US" dirty="0" smtClean="0"/>
              <a:t>- </a:t>
            </a:r>
            <a:r>
              <a:rPr lang="en-US" dirty="0" err="1" smtClean="0"/>
              <a:t>sp_WhatsupQueryStore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 Query Store Replay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315" y="149590"/>
            <a:ext cx="659674" cy="659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69269" y="248595"/>
            <a:ext cx="302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QueryStoreTools.com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20623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435"/>
            <a:ext cx="10515600" cy="871492"/>
          </a:xfrm>
        </p:spPr>
        <p:txBody>
          <a:bodyPr/>
          <a:lstStyle/>
          <a:p>
            <a:r>
              <a:rPr lang="en-US" b="1" dirty="0" smtClean="0"/>
              <a:t>Query Store feature recap</a:t>
            </a:r>
            <a:endParaRPr lang="nl-NL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9097"/>
            <a:ext cx="10515600" cy="4147866"/>
          </a:xfrm>
        </p:spPr>
        <p:txBody>
          <a:bodyPr/>
          <a:lstStyle/>
          <a:p>
            <a:r>
              <a:rPr lang="en-US" dirty="0" smtClean="0"/>
              <a:t>Query Store is the “flight recorder” of query performance</a:t>
            </a:r>
          </a:p>
          <a:p>
            <a:r>
              <a:rPr lang="en-US" dirty="0" smtClean="0"/>
              <a:t>Enabled on a </a:t>
            </a:r>
            <a:r>
              <a:rPr lang="en-US" b="1" dirty="0" smtClean="0"/>
              <a:t>per-database</a:t>
            </a:r>
            <a:r>
              <a:rPr lang="en-US" dirty="0" smtClean="0"/>
              <a:t> level</a:t>
            </a:r>
          </a:p>
          <a:p>
            <a:r>
              <a:rPr lang="en-US" dirty="0" smtClean="0"/>
              <a:t>Execution Plans and query runtime statistics are captured and persisted </a:t>
            </a:r>
            <a:r>
              <a:rPr lang="en-US" b="1" dirty="0" smtClean="0"/>
              <a:t>on-disk</a:t>
            </a:r>
            <a:r>
              <a:rPr lang="en-US" dirty="0" smtClean="0"/>
              <a:t> per-database</a:t>
            </a:r>
            <a:endParaRPr lang="en-US" b="1" dirty="0" smtClean="0"/>
          </a:p>
          <a:p>
            <a:r>
              <a:rPr lang="en-US" dirty="0" smtClean="0"/>
              <a:t>Available in </a:t>
            </a:r>
            <a:r>
              <a:rPr lang="en-US" b="1" dirty="0" smtClean="0"/>
              <a:t>all</a:t>
            </a:r>
            <a:r>
              <a:rPr lang="en-US" dirty="0" smtClean="0"/>
              <a:t> editions of SQL Server 2016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315" y="149590"/>
            <a:ext cx="659674" cy="659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69269" y="248595"/>
            <a:ext cx="302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QueryStoreTools.com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5874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435"/>
            <a:ext cx="10515600" cy="871492"/>
          </a:xfrm>
        </p:spPr>
        <p:txBody>
          <a:bodyPr/>
          <a:lstStyle/>
          <a:p>
            <a:r>
              <a:rPr lang="en-US" b="1" dirty="0" smtClean="0"/>
              <a:t>Query Store feature recap</a:t>
            </a:r>
            <a:endParaRPr lang="nl-NL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315" y="149590"/>
            <a:ext cx="659674" cy="659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69269" y="248595"/>
            <a:ext cx="302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QueryStoreTools.com</a:t>
            </a:r>
            <a:endParaRPr lang="nl-NL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6026034" y="5665409"/>
            <a:ext cx="4334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Source: https://msdn.microsoft.com/en-us/library/mt631173.aspx</a:t>
            </a:r>
            <a:endParaRPr lang="nl-NL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074" name="Picture 2" descr="query-store-process-3pla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907" y="2128102"/>
            <a:ext cx="8296185" cy="3537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633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435"/>
            <a:ext cx="10515600" cy="871492"/>
          </a:xfrm>
        </p:spPr>
        <p:txBody>
          <a:bodyPr/>
          <a:lstStyle/>
          <a:p>
            <a:r>
              <a:rPr lang="en-US" b="1" dirty="0" smtClean="0"/>
              <a:t>Query Store feature recap</a:t>
            </a:r>
            <a:endParaRPr lang="nl-NL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315" y="149590"/>
            <a:ext cx="659674" cy="659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69269" y="248595"/>
            <a:ext cx="302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QueryStoreTools.com</a:t>
            </a:r>
            <a:endParaRPr lang="nl-NL" sz="2400" dirty="0"/>
          </a:p>
        </p:txBody>
      </p:sp>
      <p:pic>
        <p:nvPicPr>
          <p:cNvPr id="2050" name="Picture 2" descr="https://i-msdn.sec.s-msft.com/dynimg/IC839943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876" y="2128102"/>
            <a:ext cx="6734247" cy="413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129051" y="6261463"/>
            <a:ext cx="4334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Source: https://msdn.microsoft.com/en-us/library/mt631173.aspx</a:t>
            </a:r>
            <a:endParaRPr lang="nl-NL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08617" y="3152503"/>
            <a:ext cx="3823063" cy="2978331"/>
          </a:xfrm>
          <a:prstGeom prst="rect">
            <a:avLst/>
          </a:prstGeom>
          <a:solidFill>
            <a:schemeClr val="accent2">
              <a:lumMod val="40000"/>
              <a:lumOff val="60000"/>
              <a:alpha val="47059"/>
            </a:schemeClr>
          </a:solidFill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826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435"/>
            <a:ext cx="10515600" cy="871492"/>
          </a:xfrm>
        </p:spPr>
        <p:txBody>
          <a:bodyPr/>
          <a:lstStyle/>
          <a:p>
            <a:r>
              <a:rPr lang="en-US" b="1" dirty="0" smtClean="0"/>
              <a:t>Runtime intervals and query statistics</a:t>
            </a:r>
            <a:endParaRPr lang="nl-NL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9097"/>
            <a:ext cx="10515600" cy="4147866"/>
          </a:xfrm>
        </p:spPr>
        <p:txBody>
          <a:bodyPr/>
          <a:lstStyle/>
          <a:p>
            <a:r>
              <a:rPr lang="en-US" dirty="0" smtClean="0"/>
              <a:t>Query Store records and aggregates query runtime statistics by time intervals</a:t>
            </a:r>
          </a:p>
          <a:p>
            <a:r>
              <a:rPr lang="en-US" dirty="0" smtClean="0"/>
              <a:t>The time interval depends on the “</a:t>
            </a:r>
            <a:r>
              <a:rPr lang="en-US" b="1" dirty="0" smtClean="0"/>
              <a:t>Statistics Collection Interval</a:t>
            </a:r>
            <a:r>
              <a:rPr lang="en-US" dirty="0" smtClean="0"/>
              <a:t>” setting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315" y="149590"/>
            <a:ext cx="659674" cy="659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69269" y="248595"/>
            <a:ext cx="302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QueryStoreTools.com</a:t>
            </a:r>
            <a:endParaRPr lang="nl-NL" sz="2400" dirty="0"/>
          </a:p>
        </p:txBody>
      </p:sp>
      <p:grpSp>
        <p:nvGrpSpPr>
          <p:cNvPr id="8" name="Group 7"/>
          <p:cNvGrpSpPr/>
          <p:nvPr/>
        </p:nvGrpSpPr>
        <p:grpSpPr>
          <a:xfrm>
            <a:off x="3124200" y="3975463"/>
            <a:ext cx="5943600" cy="1676400"/>
            <a:chOff x="3124200" y="3975463"/>
            <a:chExt cx="5943600" cy="167640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24200" y="3975463"/>
              <a:ext cx="5943600" cy="167640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3265714" y="4728754"/>
              <a:ext cx="3300549" cy="174172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287228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435"/>
            <a:ext cx="10515600" cy="871492"/>
          </a:xfrm>
        </p:spPr>
        <p:txBody>
          <a:bodyPr/>
          <a:lstStyle/>
          <a:p>
            <a:r>
              <a:rPr lang="en-US" b="1" dirty="0" smtClean="0"/>
              <a:t>Runtime intervals and query statistics</a:t>
            </a:r>
            <a:endParaRPr lang="nl-NL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315" y="149590"/>
            <a:ext cx="659674" cy="659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69269" y="248595"/>
            <a:ext cx="302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QueryStoreTools.com</a:t>
            </a:r>
            <a:endParaRPr lang="nl-NL" sz="24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3084542" y="3744685"/>
            <a:ext cx="6022916" cy="491252"/>
            <a:chOff x="2196108" y="3779520"/>
            <a:chExt cx="6022916" cy="491252"/>
          </a:xfrm>
        </p:grpSpPr>
        <p:sp>
          <p:nvSpPr>
            <p:cNvPr id="12" name="Rectangle 11"/>
            <p:cNvSpPr/>
            <p:nvPr/>
          </p:nvSpPr>
          <p:spPr>
            <a:xfrm>
              <a:off x="2344783" y="3779520"/>
              <a:ext cx="2847703" cy="12192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257800" y="3779520"/>
              <a:ext cx="2847703" cy="12192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196108" y="390144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0</a:t>
              </a:r>
              <a:endParaRPr lang="nl-NL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985658" y="390144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nl-NL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201815" y="390144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  <a:endParaRPr lang="nl-NL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917338" y="390144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2</a:t>
              </a:r>
              <a:endParaRPr lang="nl-NL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285977" y="3916829"/>
              <a:ext cx="9855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smtClean="0">
                  <a:solidFill>
                    <a:schemeClr val="bg1">
                      <a:lumMod val="65000"/>
                    </a:schemeClr>
                  </a:solidFill>
                </a:rPr>
                <a:t>Interval A</a:t>
              </a:r>
              <a:endParaRPr lang="nl-NL" sz="1600" i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344981" y="3916829"/>
              <a:ext cx="98552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 smtClean="0">
                  <a:solidFill>
                    <a:schemeClr val="bg1">
                      <a:lumMod val="65000"/>
                    </a:schemeClr>
                  </a:solidFill>
                </a:rPr>
                <a:t>Interval B</a:t>
              </a:r>
              <a:endParaRPr lang="nl-NL" sz="1600" i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4209160" y="2983468"/>
            <a:ext cx="788183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Query</a:t>
            </a:r>
            <a:endParaRPr lang="nl-NL" sz="1600" dirty="0"/>
          </a:p>
        </p:txBody>
      </p:sp>
      <p:sp>
        <p:nvSpPr>
          <p:cNvPr id="23" name="Rectangle 22"/>
          <p:cNvSpPr/>
          <p:nvPr/>
        </p:nvSpPr>
        <p:spPr>
          <a:xfrm>
            <a:off x="7631991" y="3012469"/>
            <a:ext cx="1217024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Query</a:t>
            </a:r>
            <a:endParaRPr lang="nl-NL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4198332" y="331260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100ms</a:t>
            </a:r>
            <a:endParaRPr lang="nl-NL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35584" y="3333291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00ms</a:t>
            </a:r>
            <a:endParaRPr lang="nl-NL" i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6117621" y="2268974"/>
            <a:ext cx="0" cy="316517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6469888" y="3012469"/>
            <a:ext cx="788183" cy="391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Query</a:t>
            </a:r>
            <a:endParaRPr lang="nl-NL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6459060" y="334160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chemeClr val="bg1">
                    <a:lumMod val="50000"/>
                  </a:schemeClr>
                </a:solidFill>
              </a:rPr>
              <a:t>100ms</a:t>
            </a:r>
            <a:endParaRPr lang="nl-NL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" name="Left Brace 31"/>
          <p:cNvSpPr/>
          <p:nvPr/>
        </p:nvSpPr>
        <p:spPr>
          <a:xfrm rot="16200000">
            <a:off x="4444016" y="3604566"/>
            <a:ext cx="322217" cy="1584960"/>
          </a:xfrm>
          <a:prstGeom prst="leftBrac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3" name="TextBox 32"/>
          <p:cNvSpPr txBox="1"/>
          <p:nvPr/>
        </p:nvSpPr>
        <p:spPr>
          <a:xfrm>
            <a:off x="3497530" y="4710892"/>
            <a:ext cx="2211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exec_count</a:t>
            </a:r>
            <a:r>
              <a:rPr lang="en-US" dirty="0" smtClean="0"/>
              <a:t> : 1</a:t>
            </a:r>
            <a:br>
              <a:rPr lang="en-US" dirty="0" smtClean="0"/>
            </a:br>
            <a:r>
              <a:rPr lang="en-US" dirty="0" err="1" smtClean="0"/>
              <a:t>avg_duration</a:t>
            </a:r>
            <a:r>
              <a:rPr lang="en-US" dirty="0" smtClean="0"/>
              <a:t> : 100ms</a:t>
            </a:r>
            <a:endParaRPr lang="nl-NL" dirty="0"/>
          </a:p>
        </p:txBody>
      </p:sp>
      <p:sp>
        <p:nvSpPr>
          <p:cNvPr id="34" name="Left Brace 33"/>
          <p:cNvSpPr/>
          <p:nvPr/>
        </p:nvSpPr>
        <p:spPr>
          <a:xfrm rot="16200000">
            <a:off x="7521105" y="3596193"/>
            <a:ext cx="322217" cy="1584960"/>
          </a:xfrm>
          <a:prstGeom prst="leftBrace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5" name="TextBox 34"/>
          <p:cNvSpPr txBox="1"/>
          <p:nvPr/>
        </p:nvSpPr>
        <p:spPr>
          <a:xfrm>
            <a:off x="6526274" y="4710002"/>
            <a:ext cx="2211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exec_count</a:t>
            </a:r>
            <a:r>
              <a:rPr lang="en-US" dirty="0" smtClean="0"/>
              <a:t>: 2</a:t>
            </a:r>
            <a:br>
              <a:rPr lang="en-US" dirty="0" smtClean="0"/>
            </a:br>
            <a:r>
              <a:rPr lang="en-US" dirty="0" err="1" smtClean="0"/>
              <a:t>avg_duration</a:t>
            </a:r>
            <a:r>
              <a:rPr lang="en-US" dirty="0" smtClean="0"/>
              <a:t> : 150ms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71277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5" grpId="0"/>
      <p:bldP spid="26" grpId="0"/>
      <p:bldP spid="30" grpId="0" animBg="1"/>
      <p:bldP spid="31" grpId="0"/>
      <p:bldP spid="32" grpId="0" animBg="1"/>
      <p:bldP spid="33" grpId="0"/>
      <p:bldP spid="34" grpId="0" animBg="1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435"/>
            <a:ext cx="10515600" cy="871492"/>
          </a:xfrm>
        </p:spPr>
        <p:txBody>
          <a:bodyPr/>
          <a:lstStyle/>
          <a:p>
            <a:r>
              <a:rPr lang="en-US" b="1" dirty="0" smtClean="0"/>
              <a:t>Built-in Query Store access</a:t>
            </a:r>
            <a:endParaRPr lang="nl-NL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9097"/>
            <a:ext cx="10515600" cy="4147866"/>
          </a:xfrm>
        </p:spPr>
        <p:txBody>
          <a:bodyPr/>
          <a:lstStyle/>
          <a:p>
            <a:r>
              <a:rPr lang="en-US" dirty="0" smtClean="0"/>
              <a:t>Two methods available to access data in the Query Store</a:t>
            </a:r>
            <a:br>
              <a:rPr lang="en-US" dirty="0" smtClean="0"/>
            </a:br>
            <a:r>
              <a:rPr lang="en-US" dirty="0" smtClean="0"/>
              <a:t>- </a:t>
            </a:r>
            <a:r>
              <a:rPr lang="en-US" b="1" dirty="0" smtClean="0"/>
              <a:t>Built-in reports</a:t>
            </a:r>
            <a:br>
              <a:rPr lang="en-US" b="1" dirty="0" smtClean="0"/>
            </a:br>
            <a:r>
              <a:rPr lang="en-US" dirty="0" smtClean="0"/>
              <a:t>- </a:t>
            </a:r>
            <a:r>
              <a:rPr lang="en-US" b="1" dirty="0" smtClean="0"/>
              <a:t>DMVs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 smtClean="0"/>
              <a:t>Built-in reports </a:t>
            </a:r>
            <a:r>
              <a:rPr lang="en-US" dirty="0" smtClean="0"/>
              <a:t>are a quick and easy method to access the Query Store</a:t>
            </a:r>
            <a:br>
              <a:rPr lang="en-US" dirty="0" smtClean="0"/>
            </a:br>
            <a:endParaRPr lang="en-US" dirty="0" smtClean="0"/>
          </a:p>
          <a:p>
            <a:r>
              <a:rPr lang="en-US" b="1" dirty="0" smtClean="0"/>
              <a:t>DMVs</a:t>
            </a:r>
            <a:r>
              <a:rPr lang="en-US" dirty="0" smtClean="0"/>
              <a:t> are great for programmatically accessing the Query Store data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315" y="149590"/>
            <a:ext cx="659674" cy="659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69269" y="248595"/>
            <a:ext cx="302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QueryStoreTools.com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1978066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435"/>
            <a:ext cx="10515600" cy="871492"/>
          </a:xfrm>
        </p:spPr>
        <p:txBody>
          <a:bodyPr/>
          <a:lstStyle/>
          <a:p>
            <a:r>
              <a:rPr lang="en-US" b="1" dirty="0" smtClean="0"/>
              <a:t>Custom Query Store solutions</a:t>
            </a:r>
            <a:endParaRPr lang="nl-NL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9097"/>
            <a:ext cx="10515600" cy="4147866"/>
          </a:xfrm>
        </p:spPr>
        <p:txBody>
          <a:bodyPr/>
          <a:lstStyle/>
          <a:p>
            <a:r>
              <a:rPr lang="en-US" b="1" dirty="0" smtClean="0"/>
              <a:t>Query Store Dashboards</a:t>
            </a:r>
          </a:p>
          <a:p>
            <a:r>
              <a:rPr lang="en-US" b="1" dirty="0" err="1" smtClean="0"/>
              <a:t>Sp_WhatsupQueryStore</a:t>
            </a:r>
            <a:endParaRPr lang="en-US" b="1" dirty="0" smtClean="0"/>
          </a:p>
          <a:p>
            <a:r>
              <a:rPr lang="en-US" b="1" dirty="0" smtClean="0"/>
              <a:t>Query Store Replay</a:t>
            </a:r>
          </a:p>
          <a:p>
            <a:endParaRPr lang="en-US" b="1" dirty="0"/>
          </a:p>
          <a:p>
            <a:pPr marL="0" indent="0" algn="ctr">
              <a:buNone/>
            </a:pPr>
            <a:r>
              <a:rPr lang="en-US" dirty="0" smtClean="0"/>
              <a:t>All of thes</a:t>
            </a:r>
            <a:r>
              <a:rPr lang="en-US" dirty="0" smtClean="0"/>
              <a:t>e solutions are available, 100% free, at</a:t>
            </a:r>
            <a:br>
              <a:rPr lang="en-US" dirty="0" smtClean="0"/>
            </a:br>
            <a:r>
              <a:rPr lang="en-US" dirty="0" smtClean="0">
                <a:hlinkClick r:id="rId3"/>
              </a:rPr>
              <a:t>http://www.querystoretools.com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315" y="149590"/>
            <a:ext cx="659674" cy="659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69269" y="248595"/>
            <a:ext cx="302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QueryStoreTools.com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218021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3435"/>
            <a:ext cx="10515600" cy="871492"/>
          </a:xfrm>
        </p:spPr>
        <p:txBody>
          <a:bodyPr/>
          <a:lstStyle/>
          <a:p>
            <a:r>
              <a:rPr lang="en-US" b="1" dirty="0" smtClean="0"/>
              <a:t>Additional information</a:t>
            </a:r>
            <a:endParaRPr lang="nl-NL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29097"/>
            <a:ext cx="10515600" cy="4147866"/>
          </a:xfrm>
        </p:spPr>
        <p:txBody>
          <a:bodyPr/>
          <a:lstStyle/>
          <a:p>
            <a:r>
              <a:rPr lang="en-US" dirty="0" smtClean="0"/>
              <a:t>Simple talk Query Store article series</a:t>
            </a:r>
            <a:br>
              <a:rPr lang="en-US" dirty="0" smtClean="0"/>
            </a:br>
            <a:r>
              <a:rPr lang="en-US" dirty="0">
                <a:hlinkClick r:id="rId2"/>
              </a:rPr>
              <a:t>https://www.simple-talk.com/author/enrico-van-de-laar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Query Store Custom solutions</a:t>
            </a:r>
            <a:br>
              <a:rPr lang="en-US" dirty="0" smtClean="0"/>
            </a:br>
            <a:r>
              <a:rPr lang="en-US" dirty="0" smtClean="0">
                <a:hlinkClick r:id="rId3"/>
              </a:rPr>
              <a:t>http://www.querystoretools.com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4315" y="149590"/>
            <a:ext cx="659674" cy="6596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69269" y="248595"/>
            <a:ext cx="302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QueryStoreTools.com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401858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264</Words>
  <Application>Microsoft Office PowerPoint</Application>
  <PresentationFormat>Widescreen</PresentationFormat>
  <Paragraphs>76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Analyzing SQL Server performance through the  Query Store</vt:lpstr>
      <vt:lpstr>About me</vt:lpstr>
      <vt:lpstr>Agenda for tonight</vt:lpstr>
      <vt:lpstr>Query Store feature recap</vt:lpstr>
      <vt:lpstr>Query Store feature recap</vt:lpstr>
      <vt:lpstr>Query Store feature recap</vt:lpstr>
      <vt:lpstr>Runtime intervals and query statistics</vt:lpstr>
      <vt:lpstr>Runtime intervals and query statistics</vt:lpstr>
      <vt:lpstr>Built-in Query Store access</vt:lpstr>
      <vt:lpstr>Custom Query Store solutions</vt:lpstr>
      <vt:lpstr>Additional information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Replaying Query Workload</dc:title>
  <dc:creator>Laar, van de Enrico</dc:creator>
  <cp:lastModifiedBy>Laar, van de Enrico</cp:lastModifiedBy>
  <cp:revision>40</cp:revision>
  <dcterms:created xsi:type="dcterms:W3CDTF">2016-12-23T14:49:11Z</dcterms:created>
  <dcterms:modified xsi:type="dcterms:W3CDTF">2017-01-12T15:14:59Z</dcterms:modified>
</cp:coreProperties>
</file>